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8.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embeddedFontLst>
    <p:embeddedFont>
      <p:font typeface="Quattrocento Sans" panose="020B0502050000020003" pitchFamily="34" charset="0"/>
      <p:regular r:id="rId17"/>
    </p:embeddedFont>
    <p:embeddedFont>
      <p:font typeface="Quattrocento Sans" panose="020B0502050000020003" pitchFamily="34" charset="-122"/>
      <p:regular r:id="rId18"/>
    </p:embeddedFont>
    <p:embeddedFont>
      <p:font typeface="Quattrocento Sans" panose="020B0502050000020003" pitchFamily="34" charset="-120"/>
      <p:regular r:id="rId19"/>
    </p:embeddedFont>
    <p:embeddedFont>
      <p:font typeface="Liter" panose="02000503030000020004" pitchFamily="34" charset="0"/>
      <p:regular r:id="rId20"/>
    </p:embeddedFont>
    <p:embeddedFont>
      <p:font typeface="Liter" panose="02000503030000020004" pitchFamily="34" charset="-122"/>
      <p:regular r:id="rId21"/>
    </p:embeddedFont>
    <p:embeddedFont>
      <p:font typeface="Liter" panose="02000503030000020004" pitchFamily="34" charset="-12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8.web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pic>
        <p:nvPicPr>
          <p:cNvPr id="2" name="Image 0" descr="https://kimi-web-img.moonshot.cn/img/thumbs.dreamstime.com/5c77a5a08216fc9251c506989e0eda29b69021b3.jpg"/>
          <p:cNvPicPr>
            <a:picLocks noChangeAspect="1"/>
          </p:cNvPicPr>
          <p:nvPr/>
        </p:nvPicPr>
        <p:blipFill>
          <a:blip r:embed="rId1">
            <a:alphaModFix amt="30000"/>
          </a:blip>
          <a:srcRect t="7865" b="7865"/>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4">
                  <a:alpha val="95000"/>
                </a:srgbClr>
              </a:gs>
              <a:gs pos="50000">
                <a:srgbClr val="1A1D24">
                  <a:alpha val="90000"/>
                </a:srgbClr>
              </a:gs>
              <a:gs pos="100000">
                <a:srgbClr val="4A5C6A">
                  <a:alpha val="80000"/>
                </a:srgbClr>
              </a:gs>
            </a:gsLst>
            <a:lin ang="2700000" scaled="1"/>
          </a:gradFill>
        </p:spPr>
      </p:sp>
      <p:sp>
        <p:nvSpPr>
          <p:cNvPr id="4" name="Shape 1"/>
          <p:cNvSpPr/>
          <p:nvPr/>
        </p:nvSpPr>
        <p:spPr>
          <a:xfrm>
            <a:off x="381000" y="381000"/>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B89A6A"/>
          </a:solidFill>
        </p:spPr>
      </p:sp>
      <p:sp>
        <p:nvSpPr>
          <p:cNvPr id="5" name="Shape 2"/>
          <p:cNvSpPr/>
          <p:nvPr/>
        </p:nvSpPr>
        <p:spPr>
          <a:xfrm>
            <a:off x="545306" y="542925"/>
            <a:ext cx="285750" cy="285750"/>
          </a:xfrm>
          <a:custGeom>
            <a:avLst/>
            <a:gdLst/>
            <a:ahLst/>
            <a:cxnLst/>
            <a:rect l="l" t="t" r="r" b="b"/>
            <a:pathLst>
              <a:path w="285750" h="285750">
                <a:moveTo>
                  <a:pt x="125183" y="-1395"/>
                </a:moveTo>
                <a:cubicBezTo>
                  <a:pt x="136234" y="-7758"/>
                  <a:pt x="149851" y="-7758"/>
                  <a:pt x="160902" y="-1395"/>
                </a:cubicBezTo>
                <a:lnTo>
                  <a:pt x="259073" y="55252"/>
                </a:lnTo>
                <a:cubicBezTo>
                  <a:pt x="270123" y="61615"/>
                  <a:pt x="276932" y="73447"/>
                  <a:pt x="276932" y="86171"/>
                </a:cubicBezTo>
                <a:lnTo>
                  <a:pt x="276932" y="199467"/>
                </a:lnTo>
                <a:cubicBezTo>
                  <a:pt x="276932" y="212248"/>
                  <a:pt x="270123" y="224024"/>
                  <a:pt x="259073" y="230386"/>
                </a:cubicBezTo>
                <a:lnTo>
                  <a:pt x="160902" y="287145"/>
                </a:lnTo>
                <a:cubicBezTo>
                  <a:pt x="149851" y="293508"/>
                  <a:pt x="136234" y="293508"/>
                  <a:pt x="125183" y="287145"/>
                </a:cubicBezTo>
                <a:lnTo>
                  <a:pt x="27068" y="230498"/>
                </a:lnTo>
                <a:cubicBezTo>
                  <a:pt x="16018" y="224135"/>
                  <a:pt x="9209" y="212303"/>
                  <a:pt x="9209" y="199579"/>
                </a:cubicBezTo>
                <a:lnTo>
                  <a:pt x="9209" y="86283"/>
                </a:lnTo>
                <a:cubicBezTo>
                  <a:pt x="9209" y="73502"/>
                  <a:pt x="16018" y="61726"/>
                  <a:pt x="27068" y="55364"/>
                </a:cubicBezTo>
                <a:lnTo>
                  <a:pt x="125183" y="-1395"/>
                </a:lnTo>
                <a:close/>
                <a:moveTo>
                  <a:pt x="241157" y="199523"/>
                </a:moveTo>
                <a:lnTo>
                  <a:pt x="241157" y="106821"/>
                </a:lnTo>
                <a:lnTo>
                  <a:pt x="160902" y="153144"/>
                </a:lnTo>
                <a:lnTo>
                  <a:pt x="160902" y="245845"/>
                </a:lnTo>
                <a:lnTo>
                  <a:pt x="241157" y="199523"/>
                </a:lnTo>
                <a:close/>
              </a:path>
            </a:pathLst>
          </a:custGeom>
          <a:solidFill>
            <a:srgbClr val="1A1D24"/>
          </a:solidFill>
        </p:spPr>
      </p:sp>
      <p:sp>
        <p:nvSpPr>
          <p:cNvPr id="6" name="Text 3"/>
          <p:cNvSpPr/>
          <p:nvPr/>
        </p:nvSpPr>
        <p:spPr>
          <a:xfrm>
            <a:off x="1143000" y="381000"/>
            <a:ext cx="1752600" cy="342900"/>
          </a:xfrm>
          <a:prstGeom prst="rect">
            <a:avLst/>
          </a:prstGeom>
          <a:noFill/>
        </p:spPr>
        <p:txBody>
          <a:bodyPr wrap="square" lIns="0" tIns="0" rIns="0" bIns="0" rtlCol="0" anchor="ctr"/>
          <a:lstStyle/>
          <a:p>
            <a:pPr>
              <a:lnSpc>
                <a:spcPct val="100000"/>
              </a:lnSpc>
            </a:pPr>
            <a:r>
              <a:rPr lang="en-US" sz="2250" b="1" kern="0" spc="56"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AxiomShift</a:t>
            </a:r>
            <a:endParaRPr lang="en-US" sz="1600" dirty="0"/>
          </a:p>
        </p:txBody>
      </p:sp>
      <p:sp>
        <p:nvSpPr>
          <p:cNvPr id="7" name="Text 4"/>
          <p:cNvSpPr/>
          <p:nvPr/>
        </p:nvSpPr>
        <p:spPr>
          <a:xfrm>
            <a:off x="1143000" y="723900"/>
            <a:ext cx="1695450" cy="266700"/>
          </a:xfrm>
          <a:prstGeom prst="rect">
            <a:avLst/>
          </a:prstGeom>
          <a:noFill/>
        </p:spPr>
        <p:txBody>
          <a:bodyPr wrap="square" lIns="0" tIns="0" rIns="0" bIns="0" rtlCol="0" anchor="ctr"/>
          <a:lstStyle/>
          <a:p>
            <a:pPr>
              <a:lnSpc>
                <a:spcPct val="130000"/>
              </a:lnSpc>
            </a:pPr>
            <a:r>
              <a:rPr lang="en-US" sz="1350" dirty="0">
                <a:solidFill>
                  <a:srgbClr val="78828A"/>
                </a:solidFill>
                <a:latin typeface="Liter" panose="02000503030000020004" pitchFamily="34" charset="0"/>
                <a:ea typeface="Liter" panose="02000503030000020004" pitchFamily="34" charset="-122"/>
                <a:cs typeface="Liter" panose="02000503030000020004" pitchFamily="34" charset="-120"/>
              </a:rPr>
              <a:t>B2B AI SaaS Platform</a:t>
            </a:r>
            <a:endParaRPr lang="en-US" sz="1600" dirty="0"/>
          </a:p>
        </p:txBody>
      </p:sp>
      <p:sp>
        <p:nvSpPr>
          <p:cNvPr id="8" name="Text 5"/>
          <p:cNvSpPr/>
          <p:nvPr/>
        </p:nvSpPr>
        <p:spPr>
          <a:xfrm>
            <a:off x="10655126" y="457200"/>
            <a:ext cx="1152525" cy="228600"/>
          </a:xfrm>
          <a:prstGeom prst="rect">
            <a:avLst/>
          </a:prstGeom>
          <a:noFill/>
        </p:spPr>
        <p:txBody>
          <a:bodyPr wrap="square" lIns="0" tIns="0" rIns="0" bIns="0" rtlCol="0" anchor="ctr"/>
          <a:lstStyle/>
          <a:p>
            <a:pPr algn="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Q1 2026</a:t>
            </a:r>
            <a:endParaRPr lang="en-US" sz="1600" dirty="0"/>
          </a:p>
        </p:txBody>
      </p:sp>
      <p:sp>
        <p:nvSpPr>
          <p:cNvPr id="9" name="Text 6"/>
          <p:cNvSpPr/>
          <p:nvPr/>
        </p:nvSpPr>
        <p:spPr>
          <a:xfrm>
            <a:off x="10655126" y="685800"/>
            <a:ext cx="1152525" cy="228600"/>
          </a:xfrm>
          <a:prstGeom prst="rect">
            <a:avLst/>
          </a:prstGeom>
          <a:noFill/>
        </p:spPr>
        <p:txBody>
          <a:bodyPr wrap="square" lIns="0" tIns="0" rIns="0" bIns="0" rtlCol="0" anchor="ctr"/>
          <a:lstStyle/>
          <a:p>
            <a:pPr algn="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CONFIDENTIAL</a:t>
            </a:r>
            <a:endParaRPr lang="en-US" sz="1600" dirty="0"/>
          </a:p>
        </p:txBody>
      </p:sp>
      <p:sp>
        <p:nvSpPr>
          <p:cNvPr id="10" name="Shape 7"/>
          <p:cNvSpPr/>
          <p:nvPr/>
        </p:nvSpPr>
        <p:spPr>
          <a:xfrm>
            <a:off x="385763" y="1800225"/>
            <a:ext cx="3324225" cy="390525"/>
          </a:xfrm>
          <a:custGeom>
            <a:avLst/>
            <a:gdLst/>
            <a:ahLst/>
            <a:cxnLst/>
            <a:rect l="l" t="t" r="r" b="b"/>
            <a:pathLst>
              <a:path w="3324225" h="390525">
                <a:moveTo>
                  <a:pt x="38100" y="0"/>
                </a:moveTo>
                <a:lnTo>
                  <a:pt x="3286125" y="0"/>
                </a:lnTo>
                <a:cubicBezTo>
                  <a:pt x="3307167" y="0"/>
                  <a:pt x="3324225" y="17058"/>
                  <a:pt x="3324225" y="38100"/>
                </a:cubicBezTo>
                <a:lnTo>
                  <a:pt x="3324225" y="352425"/>
                </a:lnTo>
                <a:cubicBezTo>
                  <a:pt x="3324225" y="373467"/>
                  <a:pt x="3307167" y="390525"/>
                  <a:pt x="3286125" y="390525"/>
                </a:cubicBezTo>
                <a:lnTo>
                  <a:pt x="38100" y="390525"/>
                </a:lnTo>
                <a:cubicBezTo>
                  <a:pt x="17058" y="390525"/>
                  <a:pt x="0" y="373467"/>
                  <a:pt x="0" y="352425"/>
                </a:cubicBezTo>
                <a:lnTo>
                  <a:pt x="0" y="38100"/>
                </a:lnTo>
                <a:cubicBezTo>
                  <a:pt x="0" y="17072"/>
                  <a:pt x="17072" y="0"/>
                  <a:pt x="38100" y="0"/>
                </a:cubicBezTo>
                <a:close/>
              </a:path>
            </a:pathLst>
          </a:custGeom>
          <a:solidFill>
            <a:srgbClr val="B89A6A">
              <a:alpha val="20000"/>
            </a:srgbClr>
          </a:solidFill>
          <a:ln w="12700">
            <a:solidFill>
              <a:srgbClr val="B89A6A">
                <a:alpha val="40000"/>
              </a:srgbClr>
            </a:solidFill>
            <a:prstDash val="solid"/>
          </a:ln>
        </p:spPr>
      </p:sp>
      <p:sp>
        <p:nvSpPr>
          <p:cNvPr id="11" name="Text 8"/>
          <p:cNvSpPr/>
          <p:nvPr/>
        </p:nvSpPr>
        <p:spPr>
          <a:xfrm>
            <a:off x="581025" y="1881187"/>
            <a:ext cx="3009900" cy="228600"/>
          </a:xfrm>
          <a:prstGeom prst="rect">
            <a:avLst/>
          </a:prstGeom>
          <a:noFill/>
        </p:spPr>
        <p:txBody>
          <a:bodyPr wrap="square" lIns="0" tIns="0" rIns="0" bIns="0" rtlCol="0" anchor="ctr"/>
          <a:lstStyle/>
          <a:p>
            <a:pPr>
              <a:lnSpc>
                <a:spcPct val="130000"/>
              </a:lnSpc>
            </a:pPr>
            <a:r>
              <a:rPr lang="en-US" sz="1200" b="1" kern="0" spc="120" dirty="0">
                <a:solidFill>
                  <a:srgbClr val="B89A6A"/>
                </a:solidFill>
                <a:latin typeface="Liter" panose="02000503030000020004" pitchFamily="34" charset="0"/>
                <a:ea typeface="Liter" panose="02000503030000020004" pitchFamily="34" charset="-122"/>
                <a:cs typeface="Liter" panose="02000503030000020004" pitchFamily="34" charset="-120"/>
              </a:rPr>
              <a:t>FINANCIAL &amp; OPERATIONS REVIEW</a:t>
            </a:r>
            <a:endParaRPr lang="en-US" sz="1600" dirty="0"/>
          </a:p>
        </p:txBody>
      </p:sp>
      <p:sp>
        <p:nvSpPr>
          <p:cNvPr id="12" name="Text 9"/>
          <p:cNvSpPr/>
          <p:nvPr/>
        </p:nvSpPr>
        <p:spPr>
          <a:xfrm>
            <a:off x="381000" y="2424113"/>
            <a:ext cx="11772900" cy="1714500"/>
          </a:xfrm>
          <a:prstGeom prst="rect">
            <a:avLst/>
          </a:prstGeom>
          <a:noFill/>
        </p:spPr>
        <p:txBody>
          <a:bodyPr wrap="square" lIns="0" tIns="0" rIns="0" bIns="0" rtlCol="0" anchor="ctr"/>
          <a:lstStyle/>
          <a:p>
            <a:pPr>
              <a:lnSpc>
                <a:spcPct val="100000"/>
              </a:lnSpc>
            </a:pPr>
            <a:r>
              <a:rPr lang="en-US" sz="54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Q1 Financial</a:t>
            </a:r>
            <a:endParaRPr lang="en-US" sz="1600" dirty="0"/>
          </a:p>
          <a:p>
            <a:pPr>
              <a:lnSpc>
                <a:spcPct val="100000"/>
              </a:lnSpc>
            </a:pPr>
            <a:r>
              <a:rPr lang="en-US" sz="54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Review</a:t>
            </a:r>
            <a:endParaRPr lang="en-US" sz="1600" dirty="0"/>
          </a:p>
        </p:txBody>
      </p:sp>
      <p:sp>
        <p:nvSpPr>
          <p:cNvPr id="13" name="Text 10"/>
          <p:cNvSpPr/>
          <p:nvPr/>
        </p:nvSpPr>
        <p:spPr>
          <a:xfrm>
            <a:off x="381000" y="4367213"/>
            <a:ext cx="7429500" cy="304800"/>
          </a:xfrm>
          <a:prstGeom prst="rect">
            <a:avLst/>
          </a:prstGeom>
          <a:noFill/>
        </p:spPr>
        <p:txBody>
          <a:bodyPr wrap="square" lIns="0" tIns="0" rIns="0" bIns="0" rtlCol="0" anchor="ctr"/>
          <a:lstStyle/>
          <a:p>
            <a:pPr>
              <a:lnSpc>
                <a:spcPct val="110000"/>
              </a:lnSpc>
            </a:pPr>
            <a:r>
              <a:rPr lang="en-US" sz="1800" dirty="0">
                <a:solidFill>
                  <a:srgbClr val="78828A"/>
                </a:solidFill>
                <a:latin typeface="Liter" panose="02000503030000020004" pitchFamily="34" charset="0"/>
                <a:ea typeface="Liter" panose="02000503030000020004" pitchFamily="34" charset="-122"/>
                <a:cs typeface="Liter" panose="02000503030000020004" pitchFamily="34" charset="-120"/>
              </a:rPr>
              <a:t>Pre-Audit Revenue Recognition &amp; Cost Control Analysis</a:t>
            </a:r>
            <a:endParaRPr lang="en-US" sz="1600" dirty="0"/>
          </a:p>
        </p:txBody>
      </p:sp>
      <p:sp>
        <p:nvSpPr>
          <p:cNvPr id="14" name="Shape 11"/>
          <p:cNvSpPr/>
          <p:nvPr/>
        </p:nvSpPr>
        <p:spPr>
          <a:xfrm>
            <a:off x="381000" y="5786438"/>
            <a:ext cx="11430000" cy="9525"/>
          </a:xfrm>
          <a:custGeom>
            <a:avLst/>
            <a:gdLst/>
            <a:ahLst/>
            <a:cxnLst/>
            <a:rect l="l" t="t" r="r" b="b"/>
            <a:pathLst>
              <a:path w="11430000" h="9525">
                <a:moveTo>
                  <a:pt x="0" y="0"/>
                </a:moveTo>
                <a:lnTo>
                  <a:pt x="11430000" y="0"/>
                </a:lnTo>
                <a:lnTo>
                  <a:pt x="11430000" y="9525"/>
                </a:lnTo>
                <a:lnTo>
                  <a:pt x="0" y="9525"/>
                </a:lnTo>
                <a:lnTo>
                  <a:pt x="0" y="0"/>
                </a:lnTo>
                <a:close/>
              </a:path>
            </a:pathLst>
          </a:custGeom>
          <a:solidFill>
            <a:srgbClr val="4A5C6A">
              <a:alpha val="30196"/>
            </a:srgbClr>
          </a:solidFill>
        </p:spPr>
      </p:sp>
      <p:sp>
        <p:nvSpPr>
          <p:cNvPr id="15" name="Shape 12"/>
          <p:cNvSpPr/>
          <p:nvPr/>
        </p:nvSpPr>
        <p:spPr>
          <a:xfrm>
            <a:off x="381000" y="6153150"/>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B89A6A"/>
          </a:solidFill>
        </p:spPr>
      </p:sp>
      <p:sp>
        <p:nvSpPr>
          <p:cNvPr id="16" name="Text 13"/>
          <p:cNvSpPr/>
          <p:nvPr/>
        </p:nvSpPr>
        <p:spPr>
          <a:xfrm>
            <a:off x="771525" y="6019800"/>
            <a:ext cx="1924050"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Presented by</a:t>
            </a:r>
            <a:endParaRPr lang="en-US" sz="1600" dirty="0"/>
          </a:p>
        </p:txBody>
      </p:sp>
      <p:sp>
        <p:nvSpPr>
          <p:cNvPr id="17" name="Text 14"/>
          <p:cNvSpPr/>
          <p:nvPr/>
        </p:nvSpPr>
        <p:spPr>
          <a:xfrm>
            <a:off x="771525" y="6210300"/>
            <a:ext cx="1943100" cy="266700"/>
          </a:xfrm>
          <a:prstGeom prst="rect">
            <a:avLst/>
          </a:prstGeom>
          <a:noFill/>
        </p:spPr>
        <p:txBody>
          <a:bodyPr wrap="square" lIns="0" tIns="0" rIns="0" bIns="0" rtlCol="0" anchor="ctr"/>
          <a:lstStyle/>
          <a:p>
            <a:pPr>
              <a:lnSpc>
                <a:spcPct val="130000"/>
              </a:lnSpc>
            </a:pPr>
            <a:r>
              <a:rPr lang="en-US" sz="1350" b="1" dirty="0">
                <a:solidFill>
                  <a:srgbClr val="E0E2E5"/>
                </a:solidFill>
                <a:latin typeface="Liter" panose="02000503030000020004" pitchFamily="34" charset="0"/>
                <a:ea typeface="Liter" panose="02000503030000020004" pitchFamily="34" charset="-122"/>
                <a:cs typeface="Liter" panose="02000503030000020004" pitchFamily="34" charset="-120"/>
              </a:rPr>
              <a:t>Corporate Finance Team</a:t>
            </a:r>
            <a:endParaRPr lang="en-US" sz="1600" dirty="0"/>
          </a:p>
        </p:txBody>
      </p:sp>
      <p:sp>
        <p:nvSpPr>
          <p:cNvPr id="18" name="Text 15"/>
          <p:cNvSpPr/>
          <p:nvPr/>
        </p:nvSpPr>
        <p:spPr>
          <a:xfrm>
            <a:off x="10550575" y="6038850"/>
            <a:ext cx="1257300" cy="190500"/>
          </a:xfrm>
          <a:prstGeom prst="rect">
            <a:avLst/>
          </a:prstGeom>
          <a:noFill/>
        </p:spPr>
        <p:txBody>
          <a:bodyPr wrap="square" lIns="0" tIns="0" rIns="0" bIns="0" rtlCol="0" anchor="ctr"/>
          <a:lstStyle/>
          <a:p>
            <a:pPr algn="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March 2026</a:t>
            </a:r>
            <a:endParaRPr lang="en-US" sz="1600" dirty="0"/>
          </a:p>
        </p:txBody>
      </p:sp>
      <p:sp>
        <p:nvSpPr>
          <p:cNvPr id="19" name="Text 16"/>
          <p:cNvSpPr/>
          <p:nvPr/>
        </p:nvSpPr>
        <p:spPr>
          <a:xfrm>
            <a:off x="10541050" y="6229350"/>
            <a:ext cx="1266825" cy="228600"/>
          </a:xfrm>
          <a:prstGeom prst="rect">
            <a:avLst/>
          </a:prstGeom>
          <a:noFill/>
        </p:spPr>
        <p:txBody>
          <a:bodyPr wrap="square" lIns="0" tIns="0" rIns="0" bIns="0" rtlCol="0" anchor="ctr"/>
          <a:lstStyle/>
          <a:p>
            <a:pPr algn="r">
              <a:lnSpc>
                <a:spcPct val="130000"/>
              </a:lnSpc>
            </a:pPr>
            <a:r>
              <a:rPr lang="en-US" sz="1200" b="1" dirty="0">
                <a:solidFill>
                  <a:srgbClr val="B89A6A"/>
                </a:solidFill>
                <a:latin typeface="Liter" panose="02000503030000020004" pitchFamily="34" charset="0"/>
                <a:ea typeface="Liter" panose="02000503030000020004" pitchFamily="34" charset="-122"/>
                <a:cs typeface="Liter" panose="02000503030000020004" pitchFamily="34" charset="-120"/>
              </a:rPr>
              <a:t>Pre-Audit Version</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sp>
        <p:nvSpPr>
          <p:cNvPr id="2" name="Shape 0"/>
          <p:cNvSpPr/>
          <p:nvPr/>
        </p:nvSpPr>
        <p:spPr>
          <a:xfrm>
            <a:off x="377461" y="490700"/>
            <a:ext cx="56619" cy="452954"/>
          </a:xfrm>
          <a:custGeom>
            <a:avLst/>
            <a:gdLst/>
            <a:ahLst/>
            <a:cxnLst/>
            <a:rect l="l" t="t" r="r" b="b"/>
            <a:pathLst>
              <a:path w="56619" h="452954">
                <a:moveTo>
                  <a:pt x="0" y="0"/>
                </a:moveTo>
                <a:lnTo>
                  <a:pt x="56619" y="0"/>
                </a:lnTo>
                <a:lnTo>
                  <a:pt x="56619" y="452954"/>
                </a:lnTo>
                <a:lnTo>
                  <a:pt x="0" y="452954"/>
                </a:lnTo>
                <a:lnTo>
                  <a:pt x="0" y="0"/>
                </a:lnTo>
                <a:close/>
              </a:path>
            </a:pathLst>
          </a:custGeom>
          <a:solidFill>
            <a:srgbClr val="B89A6A"/>
          </a:solidFill>
        </p:spPr>
      </p:sp>
      <p:sp>
        <p:nvSpPr>
          <p:cNvPr id="3" name="Text 1"/>
          <p:cNvSpPr/>
          <p:nvPr/>
        </p:nvSpPr>
        <p:spPr>
          <a:xfrm>
            <a:off x="547319" y="377461"/>
            <a:ext cx="4576718" cy="226477"/>
          </a:xfrm>
          <a:prstGeom prst="rect">
            <a:avLst/>
          </a:prstGeom>
          <a:noFill/>
        </p:spPr>
        <p:txBody>
          <a:bodyPr wrap="square" lIns="0" tIns="0" rIns="0" bIns="0" rtlCol="0" anchor="ctr"/>
          <a:lstStyle/>
          <a:p>
            <a:pPr>
              <a:lnSpc>
                <a:spcPct val="120000"/>
              </a:lnSpc>
            </a:pPr>
            <a:r>
              <a:rPr lang="en-US" sz="1190" b="1" kern="0" spc="59" dirty="0">
                <a:solidFill>
                  <a:srgbClr val="B89A6A"/>
                </a:solidFill>
                <a:latin typeface="Liter" panose="02000503030000020004" pitchFamily="34" charset="0"/>
                <a:ea typeface="Liter" panose="02000503030000020004" pitchFamily="34" charset="-122"/>
                <a:cs typeface="Liter" panose="02000503030000020004" pitchFamily="34" charset="-120"/>
              </a:rPr>
              <a:t>EXECUTIVE OVERVIEW</a:t>
            </a:r>
            <a:endParaRPr lang="en-US" sz="1600" dirty="0"/>
          </a:p>
        </p:txBody>
      </p:sp>
      <p:sp>
        <p:nvSpPr>
          <p:cNvPr id="4" name="Text 2"/>
          <p:cNvSpPr/>
          <p:nvPr/>
        </p:nvSpPr>
        <p:spPr>
          <a:xfrm>
            <a:off x="547319" y="603938"/>
            <a:ext cx="4727703" cy="452954"/>
          </a:xfrm>
          <a:prstGeom prst="rect">
            <a:avLst/>
          </a:prstGeom>
          <a:noFill/>
        </p:spPr>
        <p:txBody>
          <a:bodyPr wrap="square" lIns="0" tIns="0" rIns="0" bIns="0" rtlCol="0" anchor="ctr"/>
          <a:lstStyle/>
          <a:p>
            <a:pPr>
              <a:lnSpc>
                <a:spcPct val="80000"/>
              </a:lnSpc>
            </a:pPr>
            <a:r>
              <a:rPr lang="en-US" sz="356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Q1 Executive Summary</a:t>
            </a:r>
            <a:endParaRPr lang="en-US" sz="1600" dirty="0"/>
          </a:p>
        </p:txBody>
      </p:sp>
      <p:sp>
        <p:nvSpPr>
          <p:cNvPr id="5" name="Shape 3"/>
          <p:cNvSpPr/>
          <p:nvPr/>
        </p:nvSpPr>
        <p:spPr>
          <a:xfrm>
            <a:off x="396334" y="1396607"/>
            <a:ext cx="5586427" cy="2774341"/>
          </a:xfrm>
          <a:custGeom>
            <a:avLst/>
            <a:gdLst/>
            <a:ahLst/>
            <a:cxnLst/>
            <a:rect l="l" t="t" r="r" b="b"/>
            <a:pathLst>
              <a:path w="5586427" h="2774341">
                <a:moveTo>
                  <a:pt x="0" y="0"/>
                </a:moveTo>
                <a:lnTo>
                  <a:pt x="5510937" y="0"/>
                </a:lnTo>
                <a:cubicBezTo>
                  <a:pt x="5552629" y="0"/>
                  <a:pt x="5586427" y="33798"/>
                  <a:pt x="5586427" y="75490"/>
                </a:cubicBezTo>
                <a:lnTo>
                  <a:pt x="5586427" y="2698851"/>
                </a:lnTo>
                <a:cubicBezTo>
                  <a:pt x="5586427" y="2740543"/>
                  <a:pt x="5552629" y="2774341"/>
                  <a:pt x="5510937" y="2774341"/>
                </a:cubicBezTo>
                <a:lnTo>
                  <a:pt x="0" y="2774341"/>
                </a:lnTo>
                <a:lnTo>
                  <a:pt x="0" y="0"/>
                </a:lnTo>
                <a:close/>
              </a:path>
            </a:pathLst>
          </a:custGeom>
          <a:solidFill>
            <a:srgbClr val="4A5C6A">
              <a:alpha val="20000"/>
            </a:srgbClr>
          </a:solidFill>
        </p:spPr>
      </p:sp>
      <p:sp>
        <p:nvSpPr>
          <p:cNvPr id="6" name="Shape 4"/>
          <p:cNvSpPr/>
          <p:nvPr/>
        </p:nvSpPr>
        <p:spPr>
          <a:xfrm>
            <a:off x="396334" y="1396607"/>
            <a:ext cx="37746" cy="2774341"/>
          </a:xfrm>
          <a:custGeom>
            <a:avLst/>
            <a:gdLst/>
            <a:ahLst/>
            <a:cxnLst/>
            <a:rect l="l" t="t" r="r" b="b"/>
            <a:pathLst>
              <a:path w="37746" h="2774341">
                <a:moveTo>
                  <a:pt x="0" y="0"/>
                </a:moveTo>
                <a:lnTo>
                  <a:pt x="37746" y="0"/>
                </a:lnTo>
                <a:lnTo>
                  <a:pt x="37746" y="2774341"/>
                </a:lnTo>
                <a:lnTo>
                  <a:pt x="0" y="2774341"/>
                </a:lnTo>
                <a:lnTo>
                  <a:pt x="0" y="0"/>
                </a:lnTo>
                <a:close/>
              </a:path>
            </a:pathLst>
          </a:custGeom>
          <a:solidFill>
            <a:srgbClr val="B89A6A"/>
          </a:solidFill>
        </p:spPr>
      </p:sp>
      <p:sp>
        <p:nvSpPr>
          <p:cNvPr id="7" name="Shape 5"/>
          <p:cNvSpPr/>
          <p:nvPr/>
        </p:nvSpPr>
        <p:spPr>
          <a:xfrm>
            <a:off x="641684" y="1623084"/>
            <a:ext cx="528446" cy="528446"/>
          </a:xfrm>
          <a:custGeom>
            <a:avLst/>
            <a:gdLst/>
            <a:ahLst/>
            <a:cxnLst/>
            <a:rect l="l" t="t" r="r" b="b"/>
            <a:pathLst>
              <a:path w="528446" h="528446">
                <a:moveTo>
                  <a:pt x="75494" y="0"/>
                </a:moveTo>
                <a:lnTo>
                  <a:pt x="452952" y="0"/>
                </a:lnTo>
                <a:cubicBezTo>
                  <a:pt x="494618" y="0"/>
                  <a:pt x="528446" y="33828"/>
                  <a:pt x="528446" y="75494"/>
                </a:cubicBezTo>
                <a:lnTo>
                  <a:pt x="528446" y="452952"/>
                </a:lnTo>
                <a:cubicBezTo>
                  <a:pt x="528446" y="494646"/>
                  <a:pt x="494646" y="528446"/>
                  <a:pt x="452952" y="528446"/>
                </a:cubicBezTo>
                <a:lnTo>
                  <a:pt x="75494" y="528446"/>
                </a:lnTo>
                <a:cubicBezTo>
                  <a:pt x="33828" y="528446"/>
                  <a:pt x="0" y="494618"/>
                  <a:pt x="0" y="452952"/>
                </a:cubicBezTo>
                <a:lnTo>
                  <a:pt x="0" y="75494"/>
                </a:lnTo>
                <a:cubicBezTo>
                  <a:pt x="0" y="33828"/>
                  <a:pt x="33828" y="0"/>
                  <a:pt x="75494" y="0"/>
                </a:cubicBezTo>
                <a:close/>
              </a:path>
            </a:pathLst>
          </a:custGeom>
          <a:solidFill>
            <a:srgbClr val="B89A6A">
              <a:alpha val="20000"/>
            </a:srgbClr>
          </a:solidFill>
        </p:spPr>
      </p:sp>
      <p:sp>
        <p:nvSpPr>
          <p:cNvPr id="8" name="Shape 6"/>
          <p:cNvSpPr/>
          <p:nvPr/>
        </p:nvSpPr>
        <p:spPr>
          <a:xfrm>
            <a:off x="792669" y="1774068"/>
            <a:ext cx="226477" cy="226477"/>
          </a:xfrm>
          <a:custGeom>
            <a:avLst/>
            <a:gdLst/>
            <a:ahLst/>
            <a:cxnLst/>
            <a:rect l="l" t="t" r="r" b="b"/>
            <a:pathLst>
              <a:path w="226477" h="226477">
                <a:moveTo>
                  <a:pt x="28310" y="28310"/>
                </a:moveTo>
                <a:cubicBezTo>
                  <a:pt x="28310" y="20480"/>
                  <a:pt x="21984" y="14155"/>
                  <a:pt x="14155" y="14155"/>
                </a:cubicBezTo>
                <a:cubicBezTo>
                  <a:pt x="6325" y="14155"/>
                  <a:pt x="0" y="20480"/>
                  <a:pt x="0" y="28310"/>
                </a:cubicBezTo>
                <a:lnTo>
                  <a:pt x="0" y="176935"/>
                </a:lnTo>
                <a:cubicBezTo>
                  <a:pt x="0" y="196486"/>
                  <a:pt x="15836" y="212322"/>
                  <a:pt x="35387" y="212322"/>
                </a:cubicBezTo>
                <a:lnTo>
                  <a:pt x="212322" y="212322"/>
                </a:lnTo>
                <a:cubicBezTo>
                  <a:pt x="220151" y="212322"/>
                  <a:pt x="226477" y="205997"/>
                  <a:pt x="226477" y="198167"/>
                </a:cubicBezTo>
                <a:cubicBezTo>
                  <a:pt x="226477" y="190338"/>
                  <a:pt x="220151" y="184012"/>
                  <a:pt x="212322" y="184012"/>
                </a:cubicBezTo>
                <a:lnTo>
                  <a:pt x="35387" y="184012"/>
                </a:lnTo>
                <a:cubicBezTo>
                  <a:pt x="31494" y="184012"/>
                  <a:pt x="28310" y="180828"/>
                  <a:pt x="28310" y="176935"/>
                </a:cubicBezTo>
                <a:lnTo>
                  <a:pt x="28310" y="28310"/>
                </a:lnTo>
                <a:close/>
                <a:moveTo>
                  <a:pt x="208164" y="66616"/>
                </a:moveTo>
                <a:cubicBezTo>
                  <a:pt x="213693" y="61087"/>
                  <a:pt x="213693" y="52107"/>
                  <a:pt x="208164" y="46578"/>
                </a:cubicBezTo>
                <a:cubicBezTo>
                  <a:pt x="202635" y="41049"/>
                  <a:pt x="193655" y="41049"/>
                  <a:pt x="188126" y="46578"/>
                </a:cubicBezTo>
                <a:lnTo>
                  <a:pt x="141548" y="93201"/>
                </a:lnTo>
                <a:lnTo>
                  <a:pt x="116158" y="67855"/>
                </a:lnTo>
                <a:cubicBezTo>
                  <a:pt x="110629" y="62325"/>
                  <a:pt x="101649" y="62325"/>
                  <a:pt x="96120" y="67855"/>
                </a:cubicBezTo>
                <a:lnTo>
                  <a:pt x="53656" y="110319"/>
                </a:lnTo>
                <a:cubicBezTo>
                  <a:pt x="48126" y="115848"/>
                  <a:pt x="48126" y="124828"/>
                  <a:pt x="53656" y="130357"/>
                </a:cubicBezTo>
                <a:cubicBezTo>
                  <a:pt x="59185" y="135886"/>
                  <a:pt x="68164" y="135886"/>
                  <a:pt x="73693" y="130357"/>
                </a:cubicBezTo>
                <a:lnTo>
                  <a:pt x="106161" y="97889"/>
                </a:lnTo>
                <a:lnTo>
                  <a:pt x="131551" y="123279"/>
                </a:lnTo>
                <a:cubicBezTo>
                  <a:pt x="137080" y="128809"/>
                  <a:pt x="146060" y="128809"/>
                  <a:pt x="151589" y="123279"/>
                </a:cubicBezTo>
                <a:lnTo>
                  <a:pt x="208208" y="66660"/>
                </a:lnTo>
                <a:close/>
              </a:path>
            </a:pathLst>
          </a:custGeom>
          <a:solidFill>
            <a:srgbClr val="B89A6A"/>
          </a:solidFill>
        </p:spPr>
      </p:sp>
      <p:sp>
        <p:nvSpPr>
          <p:cNvPr id="9" name="Text 7"/>
          <p:cNvSpPr/>
          <p:nvPr/>
        </p:nvSpPr>
        <p:spPr>
          <a:xfrm>
            <a:off x="1321115" y="1623084"/>
            <a:ext cx="2944198" cy="301969"/>
          </a:xfrm>
          <a:prstGeom prst="rect">
            <a:avLst/>
          </a:prstGeom>
          <a:noFill/>
        </p:spPr>
        <p:txBody>
          <a:bodyPr wrap="square" lIns="0" tIns="0" rIns="0" bIns="0" rtlCol="0" anchor="ctr"/>
          <a:lstStyle/>
          <a:p>
            <a:pPr>
              <a:lnSpc>
                <a:spcPct val="110000"/>
              </a:lnSpc>
            </a:pPr>
            <a:r>
              <a:rPr lang="en-US" sz="178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Operating Cash Flow</a:t>
            </a:r>
            <a:endParaRPr lang="en-US" sz="1600" dirty="0"/>
          </a:p>
        </p:txBody>
      </p:sp>
      <p:sp>
        <p:nvSpPr>
          <p:cNvPr id="10" name="Shape 8"/>
          <p:cNvSpPr/>
          <p:nvPr/>
        </p:nvSpPr>
        <p:spPr>
          <a:xfrm>
            <a:off x="1321115" y="2000545"/>
            <a:ext cx="2830960" cy="301969"/>
          </a:xfrm>
          <a:custGeom>
            <a:avLst/>
            <a:gdLst/>
            <a:ahLst/>
            <a:cxnLst/>
            <a:rect l="l" t="t" r="r" b="b"/>
            <a:pathLst>
              <a:path w="2830960" h="301969">
                <a:moveTo>
                  <a:pt x="37746" y="0"/>
                </a:moveTo>
                <a:lnTo>
                  <a:pt x="2793214" y="0"/>
                </a:lnTo>
                <a:cubicBezTo>
                  <a:pt x="2814060" y="0"/>
                  <a:pt x="2830960" y="16900"/>
                  <a:pt x="2830960" y="37746"/>
                </a:cubicBezTo>
                <a:lnTo>
                  <a:pt x="2830960" y="264223"/>
                </a:lnTo>
                <a:cubicBezTo>
                  <a:pt x="2830960" y="285070"/>
                  <a:pt x="2814060" y="301969"/>
                  <a:pt x="2793214" y="301969"/>
                </a:cubicBezTo>
                <a:lnTo>
                  <a:pt x="37746" y="301969"/>
                </a:lnTo>
                <a:cubicBezTo>
                  <a:pt x="16913" y="301969"/>
                  <a:pt x="0" y="285056"/>
                  <a:pt x="0" y="264223"/>
                </a:cubicBezTo>
                <a:lnTo>
                  <a:pt x="0" y="37746"/>
                </a:lnTo>
                <a:cubicBezTo>
                  <a:pt x="0" y="16913"/>
                  <a:pt x="16913" y="0"/>
                  <a:pt x="37746" y="0"/>
                </a:cubicBezTo>
                <a:close/>
              </a:path>
            </a:pathLst>
          </a:custGeom>
          <a:solidFill>
            <a:srgbClr val="B89A6A">
              <a:alpha val="20000"/>
            </a:srgbClr>
          </a:solidFill>
        </p:spPr>
      </p:sp>
      <p:sp>
        <p:nvSpPr>
          <p:cNvPr id="11" name="Shape 9"/>
          <p:cNvSpPr/>
          <p:nvPr/>
        </p:nvSpPr>
        <p:spPr>
          <a:xfrm>
            <a:off x="1443789" y="2076037"/>
            <a:ext cx="169858" cy="150985"/>
          </a:xfrm>
          <a:custGeom>
            <a:avLst/>
            <a:gdLst/>
            <a:ahLst/>
            <a:cxnLst/>
            <a:rect l="l" t="t" r="r" b="b"/>
            <a:pathLst>
              <a:path w="169858" h="150985">
                <a:moveTo>
                  <a:pt x="113238" y="47183"/>
                </a:moveTo>
                <a:cubicBezTo>
                  <a:pt x="108019" y="47183"/>
                  <a:pt x="103802" y="42966"/>
                  <a:pt x="103802" y="37746"/>
                </a:cubicBezTo>
                <a:cubicBezTo>
                  <a:pt x="103802" y="32527"/>
                  <a:pt x="108019" y="28310"/>
                  <a:pt x="113238" y="28310"/>
                </a:cubicBezTo>
                <a:lnTo>
                  <a:pt x="160421" y="28310"/>
                </a:lnTo>
                <a:cubicBezTo>
                  <a:pt x="165641" y="28310"/>
                  <a:pt x="169858" y="32527"/>
                  <a:pt x="169858" y="37746"/>
                </a:cubicBezTo>
                <a:lnTo>
                  <a:pt x="169858" y="84929"/>
                </a:lnTo>
                <a:cubicBezTo>
                  <a:pt x="169858" y="90148"/>
                  <a:pt x="165641" y="94365"/>
                  <a:pt x="160421" y="94365"/>
                </a:cubicBezTo>
                <a:cubicBezTo>
                  <a:pt x="155201" y="94365"/>
                  <a:pt x="150985" y="90148"/>
                  <a:pt x="150985" y="84929"/>
                </a:cubicBezTo>
                <a:lnTo>
                  <a:pt x="150985" y="60541"/>
                </a:lnTo>
                <a:lnTo>
                  <a:pt x="101030" y="110496"/>
                </a:lnTo>
                <a:cubicBezTo>
                  <a:pt x="97344" y="114182"/>
                  <a:pt x="91357" y="114182"/>
                  <a:pt x="87671" y="110496"/>
                </a:cubicBezTo>
                <a:lnTo>
                  <a:pt x="56619" y="79414"/>
                </a:lnTo>
                <a:lnTo>
                  <a:pt x="16101" y="119903"/>
                </a:lnTo>
                <a:cubicBezTo>
                  <a:pt x="12415" y="123589"/>
                  <a:pt x="6429" y="123589"/>
                  <a:pt x="2742" y="119903"/>
                </a:cubicBezTo>
                <a:cubicBezTo>
                  <a:pt x="-944" y="116217"/>
                  <a:pt x="-944" y="110230"/>
                  <a:pt x="2742" y="106544"/>
                </a:cubicBezTo>
                <a:lnTo>
                  <a:pt x="49925" y="59362"/>
                </a:lnTo>
                <a:cubicBezTo>
                  <a:pt x="53611" y="55676"/>
                  <a:pt x="59598" y="55676"/>
                  <a:pt x="63284" y="59362"/>
                </a:cubicBezTo>
                <a:lnTo>
                  <a:pt x="94365" y="90443"/>
                </a:lnTo>
                <a:lnTo>
                  <a:pt x="137626" y="47183"/>
                </a:lnTo>
                <a:lnTo>
                  <a:pt x="113238" y="47183"/>
                </a:lnTo>
                <a:close/>
              </a:path>
            </a:pathLst>
          </a:custGeom>
          <a:solidFill>
            <a:srgbClr val="B89A6A"/>
          </a:solidFill>
        </p:spPr>
      </p:sp>
      <p:sp>
        <p:nvSpPr>
          <p:cNvPr id="12" name="Text 10"/>
          <p:cNvSpPr/>
          <p:nvPr/>
        </p:nvSpPr>
        <p:spPr>
          <a:xfrm>
            <a:off x="1698576" y="2038291"/>
            <a:ext cx="2415752" cy="226477"/>
          </a:xfrm>
          <a:prstGeom prst="rect">
            <a:avLst/>
          </a:prstGeom>
          <a:noFill/>
        </p:spPr>
        <p:txBody>
          <a:bodyPr wrap="square" lIns="0" tIns="0" rIns="0" bIns="0" rtlCol="0" anchor="ctr"/>
          <a:lstStyle/>
          <a:p>
            <a:pPr>
              <a:lnSpc>
                <a:spcPct val="120000"/>
              </a:lnSpc>
            </a:pPr>
            <a:r>
              <a:rPr lang="en-US" sz="1190" b="1" dirty="0">
                <a:solidFill>
                  <a:srgbClr val="B89A6A"/>
                </a:solidFill>
                <a:latin typeface="Liter" panose="02000503030000020004" pitchFamily="34" charset="0"/>
                <a:ea typeface="Liter" panose="02000503030000020004" pitchFamily="34" charset="-122"/>
                <a:cs typeface="Liter" panose="02000503030000020004" pitchFamily="34" charset="-120"/>
              </a:rPr>
              <a:t>Positive for 2 Consecutive Quarters</a:t>
            </a:r>
            <a:endParaRPr lang="en-US" sz="1600" dirty="0"/>
          </a:p>
        </p:txBody>
      </p:sp>
      <p:sp>
        <p:nvSpPr>
          <p:cNvPr id="13" name="Text 11"/>
          <p:cNvSpPr/>
          <p:nvPr/>
        </p:nvSpPr>
        <p:spPr>
          <a:xfrm>
            <a:off x="641684" y="2566737"/>
            <a:ext cx="5199529" cy="1377734"/>
          </a:xfrm>
          <a:prstGeom prst="rect">
            <a:avLst/>
          </a:prstGeom>
          <a:noFill/>
        </p:spPr>
        <p:txBody>
          <a:bodyPr wrap="square" lIns="0" tIns="0" rIns="0" bIns="0" rtlCol="0" anchor="ctr"/>
          <a:lstStyle/>
          <a:p>
            <a:pPr>
              <a:lnSpc>
                <a:spcPct val="140000"/>
              </a:lnSpc>
            </a:pPr>
            <a:r>
              <a:rPr lang="en-US" sz="1335" dirty="0">
                <a:solidFill>
                  <a:srgbClr val="78828A"/>
                </a:solidFill>
                <a:latin typeface="Liter" panose="02000503030000020004" pitchFamily="34" charset="0"/>
                <a:ea typeface="Liter" panose="02000503030000020004" pitchFamily="34" charset="-122"/>
                <a:cs typeface="Liter" panose="02000503030000020004" pitchFamily="34" charset="-120"/>
              </a:rPr>
              <a:t>Operating cash flow has achieved sustained positivity for two consecutive quarters, demonstrating improved operational efficiency and disciplined working capital management. This milestone reflects successful cost optimization initiatives and enhanced revenue quality.</a:t>
            </a:r>
            <a:endParaRPr lang="en-US" sz="1600" dirty="0"/>
          </a:p>
        </p:txBody>
      </p:sp>
      <p:sp>
        <p:nvSpPr>
          <p:cNvPr id="14" name="Shape 12"/>
          <p:cNvSpPr/>
          <p:nvPr/>
        </p:nvSpPr>
        <p:spPr>
          <a:xfrm>
            <a:off x="396334" y="4362037"/>
            <a:ext cx="5586427" cy="2500681"/>
          </a:xfrm>
          <a:custGeom>
            <a:avLst/>
            <a:gdLst/>
            <a:ahLst/>
            <a:cxnLst/>
            <a:rect l="l" t="t" r="r" b="b"/>
            <a:pathLst>
              <a:path w="5586427" h="2500681">
                <a:moveTo>
                  <a:pt x="0" y="0"/>
                </a:moveTo>
                <a:lnTo>
                  <a:pt x="5510932" y="0"/>
                </a:lnTo>
                <a:cubicBezTo>
                  <a:pt x="5552627" y="0"/>
                  <a:pt x="5586427" y="33801"/>
                  <a:pt x="5586427" y="75496"/>
                </a:cubicBezTo>
                <a:lnTo>
                  <a:pt x="5586427" y="2425186"/>
                </a:lnTo>
                <a:cubicBezTo>
                  <a:pt x="5586427" y="2466881"/>
                  <a:pt x="5552627" y="2500681"/>
                  <a:pt x="5510932" y="2500681"/>
                </a:cubicBezTo>
                <a:lnTo>
                  <a:pt x="0" y="2500681"/>
                </a:lnTo>
                <a:lnTo>
                  <a:pt x="0" y="0"/>
                </a:lnTo>
                <a:close/>
              </a:path>
            </a:pathLst>
          </a:custGeom>
          <a:solidFill>
            <a:srgbClr val="4A5C6A">
              <a:alpha val="20000"/>
            </a:srgbClr>
          </a:solidFill>
        </p:spPr>
      </p:sp>
      <p:sp>
        <p:nvSpPr>
          <p:cNvPr id="15" name="Shape 13"/>
          <p:cNvSpPr/>
          <p:nvPr/>
        </p:nvSpPr>
        <p:spPr>
          <a:xfrm>
            <a:off x="396334" y="4362037"/>
            <a:ext cx="37746" cy="2500681"/>
          </a:xfrm>
          <a:custGeom>
            <a:avLst/>
            <a:gdLst/>
            <a:ahLst/>
            <a:cxnLst/>
            <a:rect l="l" t="t" r="r" b="b"/>
            <a:pathLst>
              <a:path w="37746" h="2500681">
                <a:moveTo>
                  <a:pt x="0" y="0"/>
                </a:moveTo>
                <a:lnTo>
                  <a:pt x="37746" y="0"/>
                </a:lnTo>
                <a:lnTo>
                  <a:pt x="37746" y="2500681"/>
                </a:lnTo>
                <a:lnTo>
                  <a:pt x="0" y="2500681"/>
                </a:lnTo>
                <a:lnTo>
                  <a:pt x="0" y="0"/>
                </a:lnTo>
                <a:close/>
              </a:path>
            </a:pathLst>
          </a:custGeom>
          <a:solidFill>
            <a:srgbClr val="4A5C6A"/>
          </a:solidFill>
        </p:spPr>
      </p:sp>
      <p:sp>
        <p:nvSpPr>
          <p:cNvPr id="16" name="Shape 14"/>
          <p:cNvSpPr/>
          <p:nvPr/>
        </p:nvSpPr>
        <p:spPr>
          <a:xfrm>
            <a:off x="641684" y="4588514"/>
            <a:ext cx="528446" cy="528446"/>
          </a:xfrm>
          <a:custGeom>
            <a:avLst/>
            <a:gdLst/>
            <a:ahLst/>
            <a:cxnLst/>
            <a:rect l="l" t="t" r="r" b="b"/>
            <a:pathLst>
              <a:path w="528446" h="528446">
                <a:moveTo>
                  <a:pt x="75494" y="0"/>
                </a:moveTo>
                <a:lnTo>
                  <a:pt x="452952" y="0"/>
                </a:lnTo>
                <a:cubicBezTo>
                  <a:pt x="494618" y="0"/>
                  <a:pt x="528446" y="33828"/>
                  <a:pt x="528446" y="75494"/>
                </a:cubicBezTo>
                <a:lnTo>
                  <a:pt x="528446" y="452952"/>
                </a:lnTo>
                <a:cubicBezTo>
                  <a:pt x="528446" y="494646"/>
                  <a:pt x="494646" y="528446"/>
                  <a:pt x="452952" y="528446"/>
                </a:cubicBezTo>
                <a:lnTo>
                  <a:pt x="75494" y="528446"/>
                </a:lnTo>
                <a:cubicBezTo>
                  <a:pt x="33828" y="528446"/>
                  <a:pt x="0" y="494618"/>
                  <a:pt x="0" y="452952"/>
                </a:cubicBezTo>
                <a:lnTo>
                  <a:pt x="0" y="75494"/>
                </a:lnTo>
                <a:cubicBezTo>
                  <a:pt x="0" y="33828"/>
                  <a:pt x="33828" y="0"/>
                  <a:pt x="75494" y="0"/>
                </a:cubicBezTo>
                <a:close/>
              </a:path>
            </a:pathLst>
          </a:custGeom>
          <a:solidFill>
            <a:srgbClr val="4A5C6A">
              <a:alpha val="40000"/>
            </a:srgbClr>
          </a:solidFill>
        </p:spPr>
      </p:sp>
      <p:sp>
        <p:nvSpPr>
          <p:cNvPr id="17" name="Shape 15"/>
          <p:cNvSpPr/>
          <p:nvPr/>
        </p:nvSpPr>
        <p:spPr>
          <a:xfrm>
            <a:off x="806824" y="4739498"/>
            <a:ext cx="198167" cy="226477"/>
          </a:xfrm>
          <a:custGeom>
            <a:avLst/>
            <a:gdLst/>
            <a:ahLst/>
            <a:cxnLst/>
            <a:rect l="l" t="t" r="r" b="b"/>
            <a:pathLst>
              <a:path w="198167" h="226477">
                <a:moveTo>
                  <a:pt x="127393" y="0"/>
                </a:moveTo>
                <a:lnTo>
                  <a:pt x="56619" y="0"/>
                </a:lnTo>
                <a:cubicBezTo>
                  <a:pt x="48790" y="0"/>
                  <a:pt x="42464" y="6325"/>
                  <a:pt x="42464" y="14155"/>
                </a:cubicBezTo>
                <a:cubicBezTo>
                  <a:pt x="42464" y="21984"/>
                  <a:pt x="48790" y="28310"/>
                  <a:pt x="56619" y="28310"/>
                </a:cubicBezTo>
                <a:lnTo>
                  <a:pt x="56619" y="95324"/>
                </a:lnTo>
                <a:lnTo>
                  <a:pt x="3318" y="188568"/>
                </a:lnTo>
                <a:cubicBezTo>
                  <a:pt x="1150" y="192417"/>
                  <a:pt x="0" y="196707"/>
                  <a:pt x="0" y="201131"/>
                </a:cubicBezTo>
                <a:cubicBezTo>
                  <a:pt x="0" y="215153"/>
                  <a:pt x="11324" y="226477"/>
                  <a:pt x="25346" y="226477"/>
                </a:cubicBezTo>
                <a:lnTo>
                  <a:pt x="172821" y="226477"/>
                </a:lnTo>
                <a:cubicBezTo>
                  <a:pt x="186799" y="226477"/>
                  <a:pt x="198167" y="215153"/>
                  <a:pt x="198167" y="201131"/>
                </a:cubicBezTo>
                <a:cubicBezTo>
                  <a:pt x="198167" y="196707"/>
                  <a:pt x="197017" y="192373"/>
                  <a:pt x="194850" y="188568"/>
                </a:cubicBezTo>
                <a:lnTo>
                  <a:pt x="141548" y="95324"/>
                </a:lnTo>
                <a:lnTo>
                  <a:pt x="141548" y="28310"/>
                </a:lnTo>
                <a:cubicBezTo>
                  <a:pt x="149377" y="28310"/>
                  <a:pt x="155703" y="21984"/>
                  <a:pt x="155703" y="14155"/>
                </a:cubicBezTo>
                <a:cubicBezTo>
                  <a:pt x="155703" y="6325"/>
                  <a:pt x="149377" y="0"/>
                  <a:pt x="141548" y="0"/>
                </a:cubicBezTo>
                <a:lnTo>
                  <a:pt x="127393" y="0"/>
                </a:lnTo>
                <a:close/>
                <a:moveTo>
                  <a:pt x="84929" y="95324"/>
                </a:moveTo>
                <a:lnTo>
                  <a:pt x="84929" y="28310"/>
                </a:lnTo>
                <a:lnTo>
                  <a:pt x="113238" y="28310"/>
                </a:lnTo>
                <a:lnTo>
                  <a:pt x="113238" y="95324"/>
                </a:lnTo>
                <a:cubicBezTo>
                  <a:pt x="113238" y="100234"/>
                  <a:pt x="114521" y="105099"/>
                  <a:pt x="116954" y="109390"/>
                </a:cubicBezTo>
                <a:lnTo>
                  <a:pt x="135355" y="141548"/>
                </a:lnTo>
                <a:lnTo>
                  <a:pt x="62812" y="141548"/>
                </a:lnTo>
                <a:lnTo>
                  <a:pt x="81213" y="109390"/>
                </a:lnTo>
                <a:cubicBezTo>
                  <a:pt x="83646" y="105099"/>
                  <a:pt x="84929" y="100278"/>
                  <a:pt x="84929" y="95324"/>
                </a:cubicBezTo>
                <a:close/>
              </a:path>
            </a:pathLst>
          </a:custGeom>
          <a:solidFill>
            <a:srgbClr val="B89A6A"/>
          </a:solidFill>
        </p:spPr>
      </p:sp>
      <p:sp>
        <p:nvSpPr>
          <p:cNvPr id="18" name="Text 16"/>
          <p:cNvSpPr/>
          <p:nvPr/>
        </p:nvSpPr>
        <p:spPr>
          <a:xfrm>
            <a:off x="1321115" y="4588514"/>
            <a:ext cx="2519554" cy="301969"/>
          </a:xfrm>
          <a:prstGeom prst="rect">
            <a:avLst/>
          </a:prstGeom>
          <a:noFill/>
        </p:spPr>
        <p:txBody>
          <a:bodyPr wrap="square" lIns="0" tIns="0" rIns="0" bIns="0" rtlCol="0" anchor="ctr"/>
          <a:lstStyle/>
          <a:p>
            <a:pPr>
              <a:lnSpc>
                <a:spcPct val="110000"/>
              </a:lnSpc>
            </a:pPr>
            <a:r>
              <a:rPr lang="en-US" sz="178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R&amp;D Cost Amortization</a:t>
            </a:r>
            <a:endParaRPr lang="en-US" sz="1600" dirty="0"/>
          </a:p>
        </p:txBody>
      </p:sp>
      <p:sp>
        <p:nvSpPr>
          <p:cNvPr id="19" name="Shape 17"/>
          <p:cNvSpPr/>
          <p:nvPr/>
        </p:nvSpPr>
        <p:spPr>
          <a:xfrm>
            <a:off x="1321115" y="4965975"/>
            <a:ext cx="2406316" cy="301969"/>
          </a:xfrm>
          <a:custGeom>
            <a:avLst/>
            <a:gdLst/>
            <a:ahLst/>
            <a:cxnLst/>
            <a:rect l="l" t="t" r="r" b="b"/>
            <a:pathLst>
              <a:path w="2406316" h="301969">
                <a:moveTo>
                  <a:pt x="37746" y="0"/>
                </a:moveTo>
                <a:lnTo>
                  <a:pt x="2368570" y="0"/>
                </a:lnTo>
                <a:cubicBezTo>
                  <a:pt x="2389416" y="0"/>
                  <a:pt x="2406316" y="16900"/>
                  <a:pt x="2406316" y="37746"/>
                </a:cubicBezTo>
                <a:lnTo>
                  <a:pt x="2406316" y="264223"/>
                </a:lnTo>
                <a:cubicBezTo>
                  <a:pt x="2406316" y="285070"/>
                  <a:pt x="2389416" y="301969"/>
                  <a:pt x="2368570" y="301969"/>
                </a:cubicBezTo>
                <a:lnTo>
                  <a:pt x="37746" y="301969"/>
                </a:lnTo>
                <a:cubicBezTo>
                  <a:pt x="16913" y="301969"/>
                  <a:pt x="0" y="285056"/>
                  <a:pt x="0" y="264223"/>
                </a:cubicBezTo>
                <a:lnTo>
                  <a:pt x="0" y="37746"/>
                </a:lnTo>
                <a:cubicBezTo>
                  <a:pt x="0" y="16913"/>
                  <a:pt x="16913" y="0"/>
                  <a:pt x="37746" y="0"/>
                </a:cubicBezTo>
                <a:close/>
              </a:path>
            </a:pathLst>
          </a:custGeom>
          <a:solidFill>
            <a:srgbClr val="4A5C6A">
              <a:alpha val="30196"/>
            </a:srgbClr>
          </a:solidFill>
        </p:spPr>
      </p:sp>
      <p:sp>
        <p:nvSpPr>
          <p:cNvPr id="20" name="Shape 18"/>
          <p:cNvSpPr/>
          <p:nvPr/>
        </p:nvSpPr>
        <p:spPr>
          <a:xfrm>
            <a:off x="1453226" y="5041467"/>
            <a:ext cx="150985" cy="150985"/>
          </a:xfrm>
          <a:custGeom>
            <a:avLst/>
            <a:gdLst/>
            <a:ahLst/>
            <a:cxnLst/>
            <a:rect l="l" t="t" r="r" b="b"/>
            <a:pathLst>
              <a:path w="150985" h="150985">
                <a:moveTo>
                  <a:pt x="75492" y="150985"/>
                </a:moveTo>
                <a:cubicBezTo>
                  <a:pt x="117158" y="150985"/>
                  <a:pt x="150985" y="117158"/>
                  <a:pt x="150985" y="75492"/>
                </a:cubicBezTo>
                <a:cubicBezTo>
                  <a:pt x="150985" y="33827"/>
                  <a:pt x="117158" y="0"/>
                  <a:pt x="75492" y="0"/>
                </a:cubicBezTo>
                <a:cubicBezTo>
                  <a:pt x="33827" y="0"/>
                  <a:pt x="0" y="33827"/>
                  <a:pt x="0" y="75492"/>
                </a:cubicBezTo>
                <a:cubicBezTo>
                  <a:pt x="0" y="117158"/>
                  <a:pt x="33827" y="150985"/>
                  <a:pt x="75492" y="150985"/>
                </a:cubicBezTo>
                <a:close/>
                <a:moveTo>
                  <a:pt x="100381" y="62723"/>
                </a:moveTo>
                <a:lnTo>
                  <a:pt x="76790" y="100470"/>
                </a:lnTo>
                <a:cubicBezTo>
                  <a:pt x="75551" y="102445"/>
                  <a:pt x="73428" y="103684"/>
                  <a:pt x="71098" y="103802"/>
                </a:cubicBezTo>
                <a:cubicBezTo>
                  <a:pt x="68769" y="103920"/>
                  <a:pt x="66528" y="102858"/>
                  <a:pt x="65142" y="100971"/>
                </a:cubicBezTo>
                <a:lnTo>
                  <a:pt x="50987" y="82098"/>
                </a:lnTo>
                <a:cubicBezTo>
                  <a:pt x="48628" y="78972"/>
                  <a:pt x="49276" y="74549"/>
                  <a:pt x="52402" y="72189"/>
                </a:cubicBezTo>
                <a:cubicBezTo>
                  <a:pt x="55528" y="69830"/>
                  <a:pt x="59951" y="70479"/>
                  <a:pt x="62311" y="73605"/>
                </a:cubicBezTo>
                <a:lnTo>
                  <a:pt x="70273" y="84221"/>
                </a:lnTo>
                <a:lnTo>
                  <a:pt x="88379" y="55233"/>
                </a:lnTo>
                <a:cubicBezTo>
                  <a:pt x="90443" y="51930"/>
                  <a:pt x="94808" y="50898"/>
                  <a:pt x="98140" y="52992"/>
                </a:cubicBezTo>
                <a:cubicBezTo>
                  <a:pt x="101472" y="55086"/>
                  <a:pt x="102475" y="59421"/>
                  <a:pt x="100381" y="62753"/>
                </a:cubicBezTo>
                <a:close/>
              </a:path>
            </a:pathLst>
          </a:custGeom>
          <a:solidFill>
            <a:srgbClr val="78828A"/>
          </a:solidFill>
        </p:spPr>
      </p:sp>
      <p:sp>
        <p:nvSpPr>
          <p:cNvPr id="21" name="Text 19"/>
          <p:cNvSpPr/>
          <p:nvPr/>
        </p:nvSpPr>
        <p:spPr>
          <a:xfrm>
            <a:off x="1698576" y="5003721"/>
            <a:ext cx="1991108" cy="226477"/>
          </a:xfrm>
          <a:prstGeom prst="rect">
            <a:avLst/>
          </a:prstGeom>
          <a:noFill/>
        </p:spPr>
        <p:txBody>
          <a:bodyPr wrap="square" lIns="0" tIns="0" rIns="0" bIns="0" rtlCol="0" anchor="ctr"/>
          <a:lstStyle/>
          <a:p>
            <a:pPr>
              <a:lnSpc>
                <a:spcPct val="120000"/>
              </a:lnSpc>
            </a:pPr>
            <a:r>
              <a:rPr lang="en-US" sz="1190" b="1" dirty="0">
                <a:solidFill>
                  <a:srgbClr val="78828A"/>
                </a:solidFill>
                <a:latin typeface="Liter" panose="02000503030000020004" pitchFamily="34" charset="0"/>
                <a:ea typeface="Liter" panose="02000503030000020004" pitchFamily="34" charset="-122"/>
                <a:cs typeface="Liter" panose="02000503030000020004" pitchFamily="34" charset="-120"/>
              </a:rPr>
              <a:t>Within Series C Expectations</a:t>
            </a:r>
            <a:endParaRPr lang="en-US" sz="1600" dirty="0"/>
          </a:p>
        </p:txBody>
      </p:sp>
      <p:sp>
        <p:nvSpPr>
          <p:cNvPr id="22" name="Text 20"/>
          <p:cNvSpPr/>
          <p:nvPr/>
        </p:nvSpPr>
        <p:spPr>
          <a:xfrm>
            <a:off x="641684" y="5532167"/>
            <a:ext cx="5199529" cy="1104074"/>
          </a:xfrm>
          <a:prstGeom prst="rect">
            <a:avLst/>
          </a:prstGeom>
          <a:noFill/>
        </p:spPr>
        <p:txBody>
          <a:bodyPr wrap="square" lIns="0" tIns="0" rIns="0" bIns="0" rtlCol="0" anchor="ctr"/>
          <a:lstStyle/>
          <a:p>
            <a:pPr>
              <a:lnSpc>
                <a:spcPct val="140000"/>
              </a:lnSpc>
            </a:pPr>
            <a:r>
              <a:rPr lang="en-US" sz="1335" dirty="0">
                <a:solidFill>
                  <a:srgbClr val="78828A"/>
                </a:solidFill>
                <a:latin typeface="Liter" panose="02000503030000020004" pitchFamily="34" charset="0"/>
                <a:ea typeface="Liter" panose="02000503030000020004" pitchFamily="34" charset="-122"/>
                <a:cs typeface="Liter" panose="02000503030000020004" pitchFamily="34" charset="-120"/>
              </a:rPr>
              <a:t>R&amp;D cost amortization remains well within Series C funding expectations, indicating disciplined investment management and efficient resource allocation. Capital deployment aligns with strategic product roadmap milestones.</a:t>
            </a:r>
            <a:endParaRPr lang="en-US" sz="1600" dirty="0"/>
          </a:p>
        </p:txBody>
      </p:sp>
      <p:sp>
        <p:nvSpPr>
          <p:cNvPr id="23" name="Shape 21"/>
          <p:cNvSpPr/>
          <p:nvPr/>
        </p:nvSpPr>
        <p:spPr>
          <a:xfrm>
            <a:off x="6216021" y="1401325"/>
            <a:ext cx="5595864" cy="5454316"/>
          </a:xfrm>
          <a:custGeom>
            <a:avLst/>
            <a:gdLst/>
            <a:ahLst/>
            <a:cxnLst/>
            <a:rect l="l" t="t" r="r" b="b"/>
            <a:pathLst>
              <a:path w="5595864" h="5454316">
                <a:moveTo>
                  <a:pt x="75488" y="0"/>
                </a:moveTo>
                <a:lnTo>
                  <a:pt x="5520376" y="0"/>
                </a:lnTo>
                <a:cubicBezTo>
                  <a:pt x="5562067" y="0"/>
                  <a:pt x="5595864" y="33797"/>
                  <a:pt x="5595864" y="75488"/>
                </a:cubicBezTo>
                <a:lnTo>
                  <a:pt x="5595864" y="5378828"/>
                </a:lnTo>
                <a:cubicBezTo>
                  <a:pt x="5595864" y="5420519"/>
                  <a:pt x="5562067" y="5454316"/>
                  <a:pt x="5520376" y="5454316"/>
                </a:cubicBezTo>
                <a:lnTo>
                  <a:pt x="75488" y="5454316"/>
                </a:lnTo>
                <a:cubicBezTo>
                  <a:pt x="33797" y="5454316"/>
                  <a:pt x="0" y="5420519"/>
                  <a:pt x="0" y="5378828"/>
                </a:cubicBezTo>
                <a:lnTo>
                  <a:pt x="0" y="75488"/>
                </a:lnTo>
                <a:cubicBezTo>
                  <a:pt x="0" y="33825"/>
                  <a:pt x="33825" y="0"/>
                  <a:pt x="75488" y="0"/>
                </a:cubicBezTo>
                <a:close/>
              </a:path>
            </a:pathLst>
          </a:custGeom>
          <a:solidFill>
            <a:srgbClr val="4A5C6A">
              <a:alpha val="10196"/>
            </a:srgbClr>
          </a:solidFill>
          <a:ln w="12700">
            <a:solidFill>
              <a:srgbClr val="4A5C6A">
                <a:alpha val="30196"/>
              </a:srgbClr>
            </a:solidFill>
            <a:prstDash val="solid"/>
          </a:ln>
        </p:spPr>
      </p:sp>
      <p:sp>
        <p:nvSpPr>
          <p:cNvPr id="24" name="Shape 22"/>
          <p:cNvSpPr/>
          <p:nvPr/>
        </p:nvSpPr>
        <p:spPr>
          <a:xfrm>
            <a:off x="6475526" y="1670266"/>
            <a:ext cx="226477" cy="226477"/>
          </a:xfrm>
          <a:custGeom>
            <a:avLst/>
            <a:gdLst/>
            <a:ahLst/>
            <a:cxnLst/>
            <a:rect l="l" t="t" r="r" b="b"/>
            <a:pathLst>
              <a:path w="226477" h="226477">
                <a:moveTo>
                  <a:pt x="198167" y="113238"/>
                </a:moveTo>
                <a:cubicBezTo>
                  <a:pt x="198167" y="66365"/>
                  <a:pt x="160112" y="28310"/>
                  <a:pt x="113238" y="28310"/>
                </a:cubicBezTo>
                <a:cubicBezTo>
                  <a:pt x="66365" y="28310"/>
                  <a:pt x="28310" y="66365"/>
                  <a:pt x="28310" y="113238"/>
                </a:cubicBezTo>
                <a:cubicBezTo>
                  <a:pt x="28310" y="160112"/>
                  <a:pt x="66365" y="198167"/>
                  <a:pt x="113238" y="198167"/>
                </a:cubicBezTo>
                <a:cubicBezTo>
                  <a:pt x="160112" y="198167"/>
                  <a:pt x="198167" y="160112"/>
                  <a:pt x="198167" y="113238"/>
                </a:cubicBezTo>
                <a:close/>
                <a:moveTo>
                  <a:pt x="0" y="113238"/>
                </a:moveTo>
                <a:cubicBezTo>
                  <a:pt x="0" y="50740"/>
                  <a:pt x="50740" y="0"/>
                  <a:pt x="113238" y="0"/>
                </a:cubicBezTo>
                <a:cubicBezTo>
                  <a:pt x="175736" y="0"/>
                  <a:pt x="226477" y="50740"/>
                  <a:pt x="226477" y="113238"/>
                </a:cubicBezTo>
                <a:cubicBezTo>
                  <a:pt x="226477" y="175736"/>
                  <a:pt x="175736" y="226477"/>
                  <a:pt x="113238" y="226477"/>
                </a:cubicBezTo>
                <a:cubicBezTo>
                  <a:pt x="50740" y="226477"/>
                  <a:pt x="0" y="175736"/>
                  <a:pt x="0" y="113238"/>
                </a:cubicBezTo>
                <a:close/>
                <a:moveTo>
                  <a:pt x="113238" y="148625"/>
                </a:moveTo>
                <a:cubicBezTo>
                  <a:pt x="132769" y="148625"/>
                  <a:pt x="148625" y="132769"/>
                  <a:pt x="148625" y="113238"/>
                </a:cubicBezTo>
                <a:cubicBezTo>
                  <a:pt x="148625" y="93708"/>
                  <a:pt x="132769" y="77851"/>
                  <a:pt x="113238" y="77851"/>
                </a:cubicBezTo>
                <a:cubicBezTo>
                  <a:pt x="93708" y="77851"/>
                  <a:pt x="77851" y="93708"/>
                  <a:pt x="77851" y="113238"/>
                </a:cubicBezTo>
                <a:cubicBezTo>
                  <a:pt x="77851" y="132769"/>
                  <a:pt x="93708" y="148625"/>
                  <a:pt x="113238" y="148625"/>
                </a:cubicBezTo>
                <a:close/>
                <a:moveTo>
                  <a:pt x="113238" y="49542"/>
                </a:moveTo>
                <a:cubicBezTo>
                  <a:pt x="148393" y="49542"/>
                  <a:pt x="176935" y="78083"/>
                  <a:pt x="176935" y="113238"/>
                </a:cubicBezTo>
                <a:cubicBezTo>
                  <a:pt x="176935" y="148393"/>
                  <a:pt x="148393" y="176935"/>
                  <a:pt x="113238" y="176935"/>
                </a:cubicBezTo>
                <a:cubicBezTo>
                  <a:pt x="78083" y="176935"/>
                  <a:pt x="49542" y="148393"/>
                  <a:pt x="49542" y="113238"/>
                </a:cubicBezTo>
                <a:cubicBezTo>
                  <a:pt x="49542" y="78083"/>
                  <a:pt x="78083" y="49542"/>
                  <a:pt x="113238" y="49542"/>
                </a:cubicBezTo>
                <a:close/>
                <a:moveTo>
                  <a:pt x="99084" y="113238"/>
                </a:moveTo>
                <a:cubicBezTo>
                  <a:pt x="99084" y="105426"/>
                  <a:pt x="105426" y="99084"/>
                  <a:pt x="113238" y="99084"/>
                </a:cubicBezTo>
                <a:cubicBezTo>
                  <a:pt x="121051" y="99084"/>
                  <a:pt x="127393" y="105426"/>
                  <a:pt x="127393" y="113238"/>
                </a:cubicBezTo>
                <a:cubicBezTo>
                  <a:pt x="127393" y="121051"/>
                  <a:pt x="121051" y="127393"/>
                  <a:pt x="113238" y="127393"/>
                </a:cubicBezTo>
                <a:cubicBezTo>
                  <a:pt x="105426" y="127393"/>
                  <a:pt x="99084" y="121051"/>
                  <a:pt x="99084" y="113238"/>
                </a:cubicBezTo>
                <a:close/>
              </a:path>
            </a:pathLst>
          </a:custGeom>
          <a:solidFill>
            <a:srgbClr val="B89A6A"/>
          </a:solidFill>
        </p:spPr>
      </p:sp>
      <p:sp>
        <p:nvSpPr>
          <p:cNvPr id="25" name="Text 23"/>
          <p:cNvSpPr/>
          <p:nvPr/>
        </p:nvSpPr>
        <p:spPr>
          <a:xfrm>
            <a:off x="6730312" y="1632520"/>
            <a:ext cx="4963616" cy="301969"/>
          </a:xfrm>
          <a:prstGeom prst="rect">
            <a:avLst/>
          </a:prstGeom>
          <a:noFill/>
        </p:spPr>
        <p:txBody>
          <a:bodyPr wrap="square" lIns="0" tIns="0" rIns="0" bIns="0" rtlCol="0" anchor="ctr"/>
          <a:lstStyle/>
          <a:p>
            <a:pPr>
              <a:lnSpc>
                <a:spcPct val="110000"/>
              </a:lnSpc>
            </a:pPr>
            <a:r>
              <a:rPr lang="en-US" sz="178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Key Performance Indicators</a:t>
            </a:r>
            <a:endParaRPr lang="en-US" sz="1600" dirty="0"/>
          </a:p>
        </p:txBody>
      </p:sp>
      <p:sp>
        <p:nvSpPr>
          <p:cNvPr id="26" name="Shape 24"/>
          <p:cNvSpPr/>
          <p:nvPr/>
        </p:nvSpPr>
        <p:spPr>
          <a:xfrm>
            <a:off x="6451934" y="2243093"/>
            <a:ext cx="5124037" cy="1160693"/>
          </a:xfrm>
          <a:custGeom>
            <a:avLst/>
            <a:gdLst/>
            <a:ahLst/>
            <a:cxnLst/>
            <a:rect l="l" t="t" r="r" b="b"/>
            <a:pathLst>
              <a:path w="5124037" h="1160693">
                <a:moveTo>
                  <a:pt x="75492" y="0"/>
                </a:moveTo>
                <a:lnTo>
                  <a:pt x="5048546" y="0"/>
                </a:lnTo>
                <a:cubicBezTo>
                  <a:pt x="5090238" y="0"/>
                  <a:pt x="5124037" y="33799"/>
                  <a:pt x="5124037" y="75492"/>
                </a:cubicBezTo>
                <a:lnTo>
                  <a:pt x="5124037" y="1085202"/>
                </a:lnTo>
                <a:cubicBezTo>
                  <a:pt x="5124037" y="1126895"/>
                  <a:pt x="5090238" y="1160693"/>
                  <a:pt x="5048546" y="1160693"/>
                </a:cubicBezTo>
                <a:lnTo>
                  <a:pt x="75492" y="1160693"/>
                </a:lnTo>
                <a:cubicBezTo>
                  <a:pt x="33799" y="1160693"/>
                  <a:pt x="0" y="1126895"/>
                  <a:pt x="0" y="1085202"/>
                </a:cubicBezTo>
                <a:lnTo>
                  <a:pt x="0" y="75492"/>
                </a:lnTo>
                <a:cubicBezTo>
                  <a:pt x="0" y="33827"/>
                  <a:pt x="33827" y="0"/>
                  <a:pt x="75492" y="0"/>
                </a:cubicBezTo>
                <a:close/>
              </a:path>
            </a:pathLst>
          </a:custGeom>
          <a:solidFill>
            <a:srgbClr val="1A1D24">
              <a:alpha val="60000"/>
            </a:srgbClr>
          </a:solidFill>
          <a:ln w="12700">
            <a:solidFill>
              <a:srgbClr val="4A5C6A">
                <a:alpha val="20000"/>
              </a:srgbClr>
            </a:solidFill>
            <a:prstDash val="solid"/>
          </a:ln>
        </p:spPr>
      </p:sp>
      <p:sp>
        <p:nvSpPr>
          <p:cNvPr id="27" name="Text 25"/>
          <p:cNvSpPr/>
          <p:nvPr/>
        </p:nvSpPr>
        <p:spPr>
          <a:xfrm>
            <a:off x="6645383" y="2436542"/>
            <a:ext cx="1377734" cy="264223"/>
          </a:xfrm>
          <a:prstGeom prst="rect">
            <a:avLst/>
          </a:prstGeom>
          <a:noFill/>
        </p:spPr>
        <p:txBody>
          <a:bodyPr wrap="square" lIns="0" tIns="0" rIns="0" bIns="0" rtlCol="0" anchor="ctr"/>
          <a:lstStyle/>
          <a:p>
            <a:pPr>
              <a:lnSpc>
                <a:spcPct val="130000"/>
              </a:lnSpc>
            </a:pPr>
            <a:r>
              <a:rPr lang="en-US" sz="1335" dirty="0">
                <a:solidFill>
                  <a:srgbClr val="78828A"/>
                </a:solidFill>
                <a:latin typeface="Liter" panose="02000503030000020004" pitchFamily="34" charset="0"/>
                <a:ea typeface="Liter" panose="02000503030000020004" pitchFamily="34" charset="-122"/>
                <a:cs typeface="Liter" panose="02000503030000020004" pitchFamily="34" charset="-120"/>
              </a:rPr>
              <a:t>Cash Flow Status</a:t>
            </a:r>
            <a:endParaRPr lang="en-US" sz="1600" dirty="0"/>
          </a:p>
        </p:txBody>
      </p:sp>
      <p:sp>
        <p:nvSpPr>
          <p:cNvPr id="28" name="Shape 26"/>
          <p:cNvSpPr/>
          <p:nvPr/>
        </p:nvSpPr>
        <p:spPr>
          <a:xfrm>
            <a:off x="10459290" y="2512034"/>
            <a:ext cx="113238" cy="113238"/>
          </a:xfrm>
          <a:custGeom>
            <a:avLst/>
            <a:gdLst/>
            <a:ahLst/>
            <a:cxnLst/>
            <a:rect l="l" t="t" r="r" b="b"/>
            <a:pathLst>
              <a:path w="113238" h="113238">
                <a:moveTo>
                  <a:pt x="56619" y="0"/>
                </a:moveTo>
                <a:lnTo>
                  <a:pt x="56619" y="0"/>
                </a:lnTo>
                <a:cubicBezTo>
                  <a:pt x="87868" y="0"/>
                  <a:pt x="113238" y="25370"/>
                  <a:pt x="113238" y="56619"/>
                </a:cubicBezTo>
                <a:lnTo>
                  <a:pt x="113238" y="56619"/>
                </a:lnTo>
                <a:cubicBezTo>
                  <a:pt x="113238" y="87868"/>
                  <a:pt x="87868" y="113238"/>
                  <a:pt x="56619" y="113238"/>
                </a:cubicBezTo>
                <a:lnTo>
                  <a:pt x="56619" y="113238"/>
                </a:lnTo>
                <a:cubicBezTo>
                  <a:pt x="25370" y="113238"/>
                  <a:pt x="0" y="87868"/>
                  <a:pt x="0" y="56619"/>
                </a:cubicBezTo>
                <a:lnTo>
                  <a:pt x="0" y="56619"/>
                </a:lnTo>
                <a:cubicBezTo>
                  <a:pt x="0" y="25370"/>
                  <a:pt x="25370" y="0"/>
                  <a:pt x="56619" y="0"/>
                </a:cubicBezTo>
                <a:close/>
              </a:path>
            </a:pathLst>
          </a:custGeom>
          <a:solidFill>
            <a:srgbClr val="B89A6A"/>
          </a:solidFill>
        </p:spPr>
      </p:sp>
      <p:sp>
        <p:nvSpPr>
          <p:cNvPr id="29" name="Text 27"/>
          <p:cNvSpPr/>
          <p:nvPr/>
        </p:nvSpPr>
        <p:spPr>
          <a:xfrm>
            <a:off x="10648021" y="2436542"/>
            <a:ext cx="820978" cy="264223"/>
          </a:xfrm>
          <a:prstGeom prst="rect">
            <a:avLst/>
          </a:prstGeom>
          <a:noFill/>
        </p:spPr>
        <p:txBody>
          <a:bodyPr wrap="square" lIns="0" tIns="0" rIns="0" bIns="0" rtlCol="0" anchor="ctr"/>
          <a:lstStyle/>
          <a:p>
            <a:pPr>
              <a:lnSpc>
                <a:spcPct val="130000"/>
              </a:lnSpc>
            </a:pPr>
            <a:r>
              <a:rPr lang="en-US" sz="1335" b="1" dirty="0">
                <a:solidFill>
                  <a:srgbClr val="B89A6A"/>
                </a:solidFill>
                <a:latin typeface="Liter" panose="02000503030000020004" pitchFamily="34" charset="0"/>
                <a:ea typeface="Liter" panose="02000503030000020004" pitchFamily="34" charset="-122"/>
                <a:cs typeface="Liter" panose="02000503030000020004" pitchFamily="34" charset="-120"/>
              </a:rPr>
              <a:t>POSITIVE</a:t>
            </a:r>
            <a:endParaRPr lang="en-US" sz="1600" dirty="0"/>
          </a:p>
        </p:txBody>
      </p:sp>
      <p:sp>
        <p:nvSpPr>
          <p:cNvPr id="30" name="Shape 28"/>
          <p:cNvSpPr/>
          <p:nvPr/>
        </p:nvSpPr>
        <p:spPr>
          <a:xfrm>
            <a:off x="6645383" y="2814003"/>
            <a:ext cx="4737139" cy="94365"/>
          </a:xfrm>
          <a:custGeom>
            <a:avLst/>
            <a:gdLst/>
            <a:ahLst/>
            <a:cxnLst/>
            <a:rect l="l" t="t" r="r" b="b"/>
            <a:pathLst>
              <a:path w="4737139" h="94365">
                <a:moveTo>
                  <a:pt x="47183" y="0"/>
                </a:moveTo>
                <a:lnTo>
                  <a:pt x="4689957" y="0"/>
                </a:lnTo>
                <a:cubicBezTo>
                  <a:pt x="4716015" y="0"/>
                  <a:pt x="4737139" y="21124"/>
                  <a:pt x="4737139" y="47183"/>
                </a:cubicBezTo>
                <a:lnTo>
                  <a:pt x="4737139" y="47183"/>
                </a:lnTo>
                <a:cubicBezTo>
                  <a:pt x="4737139" y="73241"/>
                  <a:pt x="4716015" y="94365"/>
                  <a:pt x="4689957" y="94365"/>
                </a:cubicBezTo>
                <a:lnTo>
                  <a:pt x="47183" y="94365"/>
                </a:lnTo>
                <a:cubicBezTo>
                  <a:pt x="21142" y="94365"/>
                  <a:pt x="0" y="73223"/>
                  <a:pt x="0" y="47183"/>
                </a:cubicBezTo>
                <a:lnTo>
                  <a:pt x="0" y="47183"/>
                </a:lnTo>
                <a:cubicBezTo>
                  <a:pt x="0" y="21142"/>
                  <a:pt x="21142" y="0"/>
                  <a:pt x="47183" y="0"/>
                </a:cubicBezTo>
                <a:close/>
              </a:path>
            </a:pathLst>
          </a:custGeom>
          <a:solidFill>
            <a:srgbClr val="4A5C6A">
              <a:alpha val="30196"/>
            </a:srgbClr>
          </a:solidFill>
        </p:spPr>
      </p:sp>
      <p:sp>
        <p:nvSpPr>
          <p:cNvPr id="31" name="Shape 29"/>
          <p:cNvSpPr/>
          <p:nvPr/>
        </p:nvSpPr>
        <p:spPr>
          <a:xfrm>
            <a:off x="6645383" y="2814003"/>
            <a:ext cx="4029399" cy="94365"/>
          </a:xfrm>
          <a:custGeom>
            <a:avLst/>
            <a:gdLst/>
            <a:ahLst/>
            <a:cxnLst/>
            <a:rect l="l" t="t" r="r" b="b"/>
            <a:pathLst>
              <a:path w="4029399" h="94365">
                <a:moveTo>
                  <a:pt x="47183" y="0"/>
                </a:moveTo>
                <a:lnTo>
                  <a:pt x="3982217" y="0"/>
                </a:lnTo>
                <a:cubicBezTo>
                  <a:pt x="4008275" y="0"/>
                  <a:pt x="4029399" y="21124"/>
                  <a:pt x="4029399" y="47183"/>
                </a:cubicBezTo>
                <a:lnTo>
                  <a:pt x="4029399" y="47183"/>
                </a:lnTo>
                <a:cubicBezTo>
                  <a:pt x="4029399" y="73241"/>
                  <a:pt x="4008275" y="94365"/>
                  <a:pt x="3982217" y="94365"/>
                </a:cubicBezTo>
                <a:lnTo>
                  <a:pt x="47183" y="94365"/>
                </a:lnTo>
                <a:cubicBezTo>
                  <a:pt x="21142" y="94365"/>
                  <a:pt x="0" y="73223"/>
                  <a:pt x="0" y="47183"/>
                </a:cubicBezTo>
                <a:lnTo>
                  <a:pt x="0" y="47183"/>
                </a:lnTo>
                <a:cubicBezTo>
                  <a:pt x="0" y="21142"/>
                  <a:pt x="21142" y="0"/>
                  <a:pt x="47183" y="0"/>
                </a:cubicBezTo>
                <a:close/>
              </a:path>
            </a:pathLst>
          </a:custGeom>
          <a:gradFill flip="none" rotWithShape="1">
            <a:gsLst>
              <a:gs pos="0">
                <a:srgbClr val="B89A6A"/>
              </a:gs>
              <a:gs pos="100000">
                <a:srgbClr val="B89A6A">
                  <a:alpha val="70000"/>
                </a:srgbClr>
              </a:gs>
            </a:gsLst>
            <a:lin ang="0" scaled="1"/>
          </a:gradFill>
        </p:spPr>
      </p:sp>
      <p:sp>
        <p:nvSpPr>
          <p:cNvPr id="32" name="Text 30"/>
          <p:cNvSpPr/>
          <p:nvPr/>
        </p:nvSpPr>
        <p:spPr>
          <a:xfrm>
            <a:off x="6645383" y="2983861"/>
            <a:ext cx="4812632" cy="226477"/>
          </a:xfrm>
          <a:prstGeom prst="rect">
            <a:avLst/>
          </a:prstGeom>
          <a:noFill/>
        </p:spPr>
        <p:txBody>
          <a:bodyPr wrap="square" lIns="0" tIns="0" rIns="0" bIns="0" rtlCol="0" anchor="ctr"/>
          <a:lstStyle/>
          <a:p>
            <a:pPr>
              <a:lnSpc>
                <a:spcPct val="120000"/>
              </a:lnSpc>
            </a:pPr>
            <a:r>
              <a:rPr lang="en-US" sz="1190" dirty="0">
                <a:solidFill>
                  <a:srgbClr val="78828A"/>
                </a:solidFill>
                <a:latin typeface="Liter" panose="02000503030000020004" pitchFamily="34" charset="0"/>
                <a:ea typeface="Liter" panose="02000503030000020004" pitchFamily="34" charset="-122"/>
                <a:cs typeface="Liter" panose="02000503030000020004" pitchFamily="34" charset="-120"/>
              </a:rPr>
              <a:t>Consecutive positive quarters: 2</a:t>
            </a:r>
            <a:endParaRPr lang="en-US" sz="1600" dirty="0"/>
          </a:p>
        </p:txBody>
      </p:sp>
      <p:sp>
        <p:nvSpPr>
          <p:cNvPr id="33" name="Shape 31"/>
          <p:cNvSpPr/>
          <p:nvPr/>
        </p:nvSpPr>
        <p:spPr>
          <a:xfrm>
            <a:off x="6451934" y="3794592"/>
            <a:ext cx="5124037" cy="1160693"/>
          </a:xfrm>
          <a:custGeom>
            <a:avLst/>
            <a:gdLst/>
            <a:ahLst/>
            <a:cxnLst/>
            <a:rect l="l" t="t" r="r" b="b"/>
            <a:pathLst>
              <a:path w="5124037" h="1160693">
                <a:moveTo>
                  <a:pt x="75492" y="0"/>
                </a:moveTo>
                <a:lnTo>
                  <a:pt x="5048546" y="0"/>
                </a:lnTo>
                <a:cubicBezTo>
                  <a:pt x="5090238" y="0"/>
                  <a:pt x="5124037" y="33799"/>
                  <a:pt x="5124037" y="75492"/>
                </a:cubicBezTo>
                <a:lnTo>
                  <a:pt x="5124037" y="1085202"/>
                </a:lnTo>
                <a:cubicBezTo>
                  <a:pt x="5124037" y="1126895"/>
                  <a:pt x="5090238" y="1160693"/>
                  <a:pt x="5048546" y="1160693"/>
                </a:cubicBezTo>
                <a:lnTo>
                  <a:pt x="75492" y="1160693"/>
                </a:lnTo>
                <a:cubicBezTo>
                  <a:pt x="33799" y="1160693"/>
                  <a:pt x="0" y="1126895"/>
                  <a:pt x="0" y="1085202"/>
                </a:cubicBezTo>
                <a:lnTo>
                  <a:pt x="0" y="75492"/>
                </a:lnTo>
                <a:cubicBezTo>
                  <a:pt x="0" y="33827"/>
                  <a:pt x="33827" y="0"/>
                  <a:pt x="75492" y="0"/>
                </a:cubicBezTo>
                <a:close/>
              </a:path>
            </a:pathLst>
          </a:custGeom>
          <a:solidFill>
            <a:srgbClr val="1A1D24">
              <a:alpha val="60000"/>
            </a:srgbClr>
          </a:solidFill>
          <a:ln w="12700">
            <a:solidFill>
              <a:srgbClr val="4A5C6A">
                <a:alpha val="20000"/>
              </a:srgbClr>
            </a:solidFill>
            <a:prstDash val="solid"/>
          </a:ln>
        </p:spPr>
      </p:sp>
      <p:sp>
        <p:nvSpPr>
          <p:cNvPr id="34" name="Text 32"/>
          <p:cNvSpPr/>
          <p:nvPr/>
        </p:nvSpPr>
        <p:spPr>
          <a:xfrm>
            <a:off x="6645383" y="3988041"/>
            <a:ext cx="1311678" cy="264223"/>
          </a:xfrm>
          <a:prstGeom prst="rect">
            <a:avLst/>
          </a:prstGeom>
          <a:noFill/>
        </p:spPr>
        <p:txBody>
          <a:bodyPr wrap="square" lIns="0" tIns="0" rIns="0" bIns="0" rtlCol="0" anchor="ctr"/>
          <a:lstStyle/>
          <a:p>
            <a:pPr>
              <a:lnSpc>
                <a:spcPct val="130000"/>
              </a:lnSpc>
            </a:pPr>
            <a:r>
              <a:rPr lang="en-US" sz="1335" dirty="0">
                <a:solidFill>
                  <a:srgbClr val="78828A"/>
                </a:solidFill>
                <a:latin typeface="Liter" panose="02000503030000020004" pitchFamily="34" charset="0"/>
                <a:ea typeface="Liter" panose="02000503030000020004" pitchFamily="34" charset="-122"/>
                <a:cs typeface="Liter" panose="02000503030000020004" pitchFamily="34" charset="-120"/>
              </a:rPr>
              <a:t>R&amp;D Investment</a:t>
            </a:r>
            <a:endParaRPr lang="en-US" sz="1600" dirty="0"/>
          </a:p>
        </p:txBody>
      </p:sp>
      <p:sp>
        <p:nvSpPr>
          <p:cNvPr id="35" name="Shape 33"/>
          <p:cNvSpPr/>
          <p:nvPr/>
        </p:nvSpPr>
        <p:spPr>
          <a:xfrm>
            <a:off x="10371486" y="4063533"/>
            <a:ext cx="113238" cy="113238"/>
          </a:xfrm>
          <a:custGeom>
            <a:avLst/>
            <a:gdLst/>
            <a:ahLst/>
            <a:cxnLst/>
            <a:rect l="l" t="t" r="r" b="b"/>
            <a:pathLst>
              <a:path w="113238" h="113238">
                <a:moveTo>
                  <a:pt x="56619" y="0"/>
                </a:moveTo>
                <a:lnTo>
                  <a:pt x="56619" y="0"/>
                </a:lnTo>
                <a:cubicBezTo>
                  <a:pt x="87868" y="0"/>
                  <a:pt x="113238" y="25370"/>
                  <a:pt x="113238" y="56619"/>
                </a:cubicBezTo>
                <a:lnTo>
                  <a:pt x="113238" y="56619"/>
                </a:lnTo>
                <a:cubicBezTo>
                  <a:pt x="113238" y="87868"/>
                  <a:pt x="87868" y="113238"/>
                  <a:pt x="56619" y="113238"/>
                </a:cubicBezTo>
                <a:lnTo>
                  <a:pt x="56619" y="113238"/>
                </a:lnTo>
                <a:cubicBezTo>
                  <a:pt x="25370" y="113238"/>
                  <a:pt x="0" y="87868"/>
                  <a:pt x="0" y="56619"/>
                </a:cubicBezTo>
                <a:lnTo>
                  <a:pt x="0" y="56619"/>
                </a:lnTo>
                <a:cubicBezTo>
                  <a:pt x="0" y="25370"/>
                  <a:pt x="25370" y="0"/>
                  <a:pt x="56619" y="0"/>
                </a:cubicBezTo>
                <a:close/>
              </a:path>
            </a:pathLst>
          </a:custGeom>
          <a:solidFill>
            <a:srgbClr val="4A5C6A"/>
          </a:solidFill>
        </p:spPr>
      </p:sp>
      <p:sp>
        <p:nvSpPr>
          <p:cNvPr id="36" name="Text 34"/>
          <p:cNvSpPr/>
          <p:nvPr/>
        </p:nvSpPr>
        <p:spPr>
          <a:xfrm>
            <a:off x="10560217" y="3988041"/>
            <a:ext cx="905907" cy="264223"/>
          </a:xfrm>
          <a:prstGeom prst="rect">
            <a:avLst/>
          </a:prstGeom>
          <a:noFill/>
        </p:spPr>
        <p:txBody>
          <a:bodyPr wrap="square" lIns="0" tIns="0" rIns="0" bIns="0" rtlCol="0" anchor="ctr"/>
          <a:lstStyle/>
          <a:p>
            <a:pPr>
              <a:lnSpc>
                <a:spcPct val="130000"/>
              </a:lnSpc>
            </a:pPr>
            <a:r>
              <a:rPr lang="en-US" sz="1335" b="1" dirty="0">
                <a:solidFill>
                  <a:srgbClr val="E0E2E5"/>
                </a:solidFill>
                <a:latin typeface="Liter" panose="02000503030000020004" pitchFamily="34" charset="0"/>
                <a:ea typeface="Liter" panose="02000503030000020004" pitchFamily="34" charset="-122"/>
                <a:cs typeface="Liter" panose="02000503030000020004" pitchFamily="34" charset="-120"/>
              </a:rPr>
              <a:t>ON TRACK</a:t>
            </a:r>
            <a:endParaRPr lang="en-US" sz="1600" dirty="0"/>
          </a:p>
        </p:txBody>
      </p:sp>
      <p:sp>
        <p:nvSpPr>
          <p:cNvPr id="37" name="Shape 35"/>
          <p:cNvSpPr/>
          <p:nvPr/>
        </p:nvSpPr>
        <p:spPr>
          <a:xfrm>
            <a:off x="6645383" y="4365502"/>
            <a:ext cx="4737139" cy="94365"/>
          </a:xfrm>
          <a:custGeom>
            <a:avLst/>
            <a:gdLst/>
            <a:ahLst/>
            <a:cxnLst/>
            <a:rect l="l" t="t" r="r" b="b"/>
            <a:pathLst>
              <a:path w="4737139" h="94365">
                <a:moveTo>
                  <a:pt x="47183" y="0"/>
                </a:moveTo>
                <a:lnTo>
                  <a:pt x="4689957" y="0"/>
                </a:lnTo>
                <a:cubicBezTo>
                  <a:pt x="4716015" y="0"/>
                  <a:pt x="4737139" y="21124"/>
                  <a:pt x="4737139" y="47183"/>
                </a:cubicBezTo>
                <a:lnTo>
                  <a:pt x="4737139" y="47183"/>
                </a:lnTo>
                <a:cubicBezTo>
                  <a:pt x="4737139" y="73241"/>
                  <a:pt x="4716015" y="94365"/>
                  <a:pt x="4689957" y="94365"/>
                </a:cubicBezTo>
                <a:lnTo>
                  <a:pt x="47183" y="94365"/>
                </a:lnTo>
                <a:cubicBezTo>
                  <a:pt x="21142" y="94365"/>
                  <a:pt x="0" y="73223"/>
                  <a:pt x="0" y="47183"/>
                </a:cubicBezTo>
                <a:lnTo>
                  <a:pt x="0" y="47183"/>
                </a:lnTo>
                <a:cubicBezTo>
                  <a:pt x="0" y="21142"/>
                  <a:pt x="21142" y="0"/>
                  <a:pt x="47183" y="0"/>
                </a:cubicBezTo>
                <a:close/>
              </a:path>
            </a:pathLst>
          </a:custGeom>
          <a:solidFill>
            <a:srgbClr val="4A5C6A">
              <a:alpha val="30196"/>
            </a:srgbClr>
          </a:solidFill>
        </p:spPr>
      </p:sp>
      <p:sp>
        <p:nvSpPr>
          <p:cNvPr id="38" name="Shape 36"/>
          <p:cNvSpPr/>
          <p:nvPr/>
        </p:nvSpPr>
        <p:spPr>
          <a:xfrm>
            <a:off x="6645383" y="4365502"/>
            <a:ext cx="3699121" cy="94365"/>
          </a:xfrm>
          <a:custGeom>
            <a:avLst/>
            <a:gdLst/>
            <a:ahLst/>
            <a:cxnLst/>
            <a:rect l="l" t="t" r="r" b="b"/>
            <a:pathLst>
              <a:path w="3699121" h="94365">
                <a:moveTo>
                  <a:pt x="47183" y="0"/>
                </a:moveTo>
                <a:lnTo>
                  <a:pt x="3651938" y="0"/>
                </a:lnTo>
                <a:cubicBezTo>
                  <a:pt x="3677996" y="0"/>
                  <a:pt x="3699121" y="21124"/>
                  <a:pt x="3699121" y="47183"/>
                </a:cubicBezTo>
                <a:lnTo>
                  <a:pt x="3699121" y="47183"/>
                </a:lnTo>
                <a:cubicBezTo>
                  <a:pt x="3699121" y="73241"/>
                  <a:pt x="3677996" y="94365"/>
                  <a:pt x="3651938" y="94365"/>
                </a:cubicBezTo>
                <a:lnTo>
                  <a:pt x="47183" y="94365"/>
                </a:lnTo>
                <a:cubicBezTo>
                  <a:pt x="21142" y="94365"/>
                  <a:pt x="0" y="73223"/>
                  <a:pt x="0" y="47183"/>
                </a:cubicBezTo>
                <a:lnTo>
                  <a:pt x="0" y="47183"/>
                </a:lnTo>
                <a:cubicBezTo>
                  <a:pt x="0" y="21142"/>
                  <a:pt x="21142" y="0"/>
                  <a:pt x="47183" y="0"/>
                </a:cubicBezTo>
                <a:close/>
              </a:path>
            </a:pathLst>
          </a:custGeom>
          <a:gradFill flip="none" rotWithShape="1">
            <a:gsLst>
              <a:gs pos="0">
                <a:srgbClr val="4A5C6A"/>
              </a:gs>
              <a:gs pos="100000">
                <a:srgbClr val="78828A"/>
              </a:gs>
            </a:gsLst>
            <a:lin ang="0" scaled="1"/>
          </a:gradFill>
        </p:spPr>
      </p:sp>
      <p:sp>
        <p:nvSpPr>
          <p:cNvPr id="39" name="Text 37"/>
          <p:cNvSpPr/>
          <p:nvPr/>
        </p:nvSpPr>
        <p:spPr>
          <a:xfrm>
            <a:off x="6645383" y="4535360"/>
            <a:ext cx="4812632" cy="226477"/>
          </a:xfrm>
          <a:prstGeom prst="rect">
            <a:avLst/>
          </a:prstGeom>
          <a:noFill/>
        </p:spPr>
        <p:txBody>
          <a:bodyPr wrap="square" lIns="0" tIns="0" rIns="0" bIns="0" rtlCol="0" anchor="ctr"/>
          <a:lstStyle/>
          <a:p>
            <a:pPr>
              <a:lnSpc>
                <a:spcPct val="120000"/>
              </a:lnSpc>
            </a:pPr>
            <a:r>
              <a:rPr lang="en-US" sz="1190" dirty="0">
                <a:solidFill>
                  <a:srgbClr val="78828A"/>
                </a:solidFill>
                <a:latin typeface="Liter" panose="02000503030000020004" pitchFamily="34" charset="0"/>
                <a:ea typeface="Liter" panose="02000503030000020004" pitchFamily="34" charset="-122"/>
                <a:cs typeface="Liter" panose="02000503030000020004" pitchFamily="34" charset="-120"/>
              </a:rPr>
              <a:t>Variance from plan: -3.2%</a:t>
            </a:r>
            <a:endParaRPr lang="en-US" sz="1600" dirty="0"/>
          </a:p>
        </p:txBody>
      </p:sp>
      <p:sp>
        <p:nvSpPr>
          <p:cNvPr id="40" name="Shape 38"/>
          <p:cNvSpPr/>
          <p:nvPr/>
        </p:nvSpPr>
        <p:spPr>
          <a:xfrm>
            <a:off x="6451934" y="5346164"/>
            <a:ext cx="5124037" cy="1160693"/>
          </a:xfrm>
          <a:custGeom>
            <a:avLst/>
            <a:gdLst/>
            <a:ahLst/>
            <a:cxnLst/>
            <a:rect l="l" t="t" r="r" b="b"/>
            <a:pathLst>
              <a:path w="5124037" h="1160693">
                <a:moveTo>
                  <a:pt x="75492" y="0"/>
                </a:moveTo>
                <a:lnTo>
                  <a:pt x="5048546" y="0"/>
                </a:lnTo>
                <a:cubicBezTo>
                  <a:pt x="5090238" y="0"/>
                  <a:pt x="5124037" y="33799"/>
                  <a:pt x="5124037" y="75492"/>
                </a:cubicBezTo>
                <a:lnTo>
                  <a:pt x="5124037" y="1085202"/>
                </a:lnTo>
                <a:cubicBezTo>
                  <a:pt x="5124037" y="1126895"/>
                  <a:pt x="5090238" y="1160693"/>
                  <a:pt x="5048546" y="1160693"/>
                </a:cubicBezTo>
                <a:lnTo>
                  <a:pt x="75492" y="1160693"/>
                </a:lnTo>
                <a:cubicBezTo>
                  <a:pt x="33799" y="1160693"/>
                  <a:pt x="0" y="1126895"/>
                  <a:pt x="0" y="1085202"/>
                </a:cubicBezTo>
                <a:lnTo>
                  <a:pt x="0" y="75492"/>
                </a:lnTo>
                <a:cubicBezTo>
                  <a:pt x="0" y="33827"/>
                  <a:pt x="33827" y="0"/>
                  <a:pt x="75492" y="0"/>
                </a:cubicBezTo>
                <a:close/>
              </a:path>
            </a:pathLst>
          </a:custGeom>
          <a:solidFill>
            <a:srgbClr val="1A1D24">
              <a:alpha val="60000"/>
            </a:srgbClr>
          </a:solidFill>
          <a:ln w="12700">
            <a:solidFill>
              <a:srgbClr val="4A5C6A">
                <a:alpha val="20000"/>
              </a:srgbClr>
            </a:solidFill>
            <a:prstDash val="solid"/>
          </a:ln>
        </p:spPr>
      </p:sp>
      <p:sp>
        <p:nvSpPr>
          <p:cNvPr id="41" name="Text 39"/>
          <p:cNvSpPr/>
          <p:nvPr/>
        </p:nvSpPr>
        <p:spPr>
          <a:xfrm>
            <a:off x="6645383" y="5539613"/>
            <a:ext cx="1745759" cy="264223"/>
          </a:xfrm>
          <a:prstGeom prst="rect">
            <a:avLst/>
          </a:prstGeom>
          <a:noFill/>
        </p:spPr>
        <p:txBody>
          <a:bodyPr wrap="square" lIns="0" tIns="0" rIns="0" bIns="0" rtlCol="0" anchor="ctr"/>
          <a:lstStyle/>
          <a:p>
            <a:pPr>
              <a:lnSpc>
                <a:spcPct val="130000"/>
              </a:lnSpc>
            </a:pPr>
            <a:r>
              <a:rPr lang="en-US" sz="1335" dirty="0">
                <a:solidFill>
                  <a:srgbClr val="78828A"/>
                </a:solidFill>
                <a:latin typeface="Liter" panose="02000503030000020004" pitchFamily="34" charset="0"/>
                <a:ea typeface="Liter" panose="02000503030000020004" pitchFamily="34" charset="-122"/>
                <a:cs typeface="Liter" panose="02000503030000020004" pitchFamily="34" charset="-120"/>
              </a:rPr>
              <a:t>Operational Efficiency</a:t>
            </a:r>
            <a:endParaRPr lang="en-US" sz="1600" dirty="0"/>
          </a:p>
        </p:txBody>
      </p:sp>
      <p:sp>
        <p:nvSpPr>
          <p:cNvPr id="42" name="Shape 40"/>
          <p:cNvSpPr/>
          <p:nvPr/>
        </p:nvSpPr>
        <p:spPr>
          <a:xfrm>
            <a:off x="10267242" y="5615105"/>
            <a:ext cx="113238" cy="113238"/>
          </a:xfrm>
          <a:custGeom>
            <a:avLst/>
            <a:gdLst/>
            <a:ahLst/>
            <a:cxnLst/>
            <a:rect l="l" t="t" r="r" b="b"/>
            <a:pathLst>
              <a:path w="113238" h="113238">
                <a:moveTo>
                  <a:pt x="56619" y="0"/>
                </a:moveTo>
                <a:lnTo>
                  <a:pt x="56619" y="0"/>
                </a:lnTo>
                <a:cubicBezTo>
                  <a:pt x="87868" y="0"/>
                  <a:pt x="113238" y="25370"/>
                  <a:pt x="113238" y="56619"/>
                </a:cubicBezTo>
                <a:lnTo>
                  <a:pt x="113238" y="56619"/>
                </a:lnTo>
                <a:cubicBezTo>
                  <a:pt x="113238" y="87868"/>
                  <a:pt x="87868" y="113238"/>
                  <a:pt x="56619" y="113238"/>
                </a:cubicBezTo>
                <a:lnTo>
                  <a:pt x="56619" y="113238"/>
                </a:lnTo>
                <a:cubicBezTo>
                  <a:pt x="25370" y="113238"/>
                  <a:pt x="0" y="87868"/>
                  <a:pt x="0" y="56619"/>
                </a:cubicBezTo>
                <a:lnTo>
                  <a:pt x="0" y="56619"/>
                </a:lnTo>
                <a:cubicBezTo>
                  <a:pt x="0" y="25370"/>
                  <a:pt x="25370" y="0"/>
                  <a:pt x="56619" y="0"/>
                </a:cubicBezTo>
                <a:close/>
              </a:path>
            </a:pathLst>
          </a:custGeom>
          <a:solidFill>
            <a:srgbClr val="B89A6A"/>
          </a:solidFill>
        </p:spPr>
      </p:sp>
      <p:sp>
        <p:nvSpPr>
          <p:cNvPr id="43" name="Text 41"/>
          <p:cNvSpPr/>
          <p:nvPr/>
        </p:nvSpPr>
        <p:spPr>
          <a:xfrm>
            <a:off x="10455973" y="5539613"/>
            <a:ext cx="1009709" cy="264223"/>
          </a:xfrm>
          <a:prstGeom prst="rect">
            <a:avLst/>
          </a:prstGeom>
          <a:noFill/>
        </p:spPr>
        <p:txBody>
          <a:bodyPr wrap="square" lIns="0" tIns="0" rIns="0" bIns="0" rtlCol="0" anchor="ctr"/>
          <a:lstStyle/>
          <a:p>
            <a:pPr>
              <a:lnSpc>
                <a:spcPct val="130000"/>
              </a:lnSpc>
            </a:pPr>
            <a:r>
              <a:rPr lang="en-US" sz="1335" b="1" dirty="0">
                <a:solidFill>
                  <a:srgbClr val="B89A6A"/>
                </a:solidFill>
                <a:latin typeface="Liter" panose="02000503030000020004" pitchFamily="34" charset="0"/>
                <a:ea typeface="Liter" panose="02000503030000020004" pitchFamily="34" charset="-122"/>
                <a:cs typeface="Liter" panose="02000503030000020004" pitchFamily="34" charset="-120"/>
              </a:rPr>
              <a:t>IMPROVING</a:t>
            </a:r>
            <a:endParaRPr lang="en-US" sz="1600" dirty="0"/>
          </a:p>
        </p:txBody>
      </p:sp>
      <p:sp>
        <p:nvSpPr>
          <p:cNvPr id="44" name="Shape 42"/>
          <p:cNvSpPr/>
          <p:nvPr/>
        </p:nvSpPr>
        <p:spPr>
          <a:xfrm>
            <a:off x="6645383" y="5917074"/>
            <a:ext cx="4737139" cy="94365"/>
          </a:xfrm>
          <a:custGeom>
            <a:avLst/>
            <a:gdLst/>
            <a:ahLst/>
            <a:cxnLst/>
            <a:rect l="l" t="t" r="r" b="b"/>
            <a:pathLst>
              <a:path w="4737139" h="94365">
                <a:moveTo>
                  <a:pt x="47183" y="0"/>
                </a:moveTo>
                <a:lnTo>
                  <a:pt x="4689957" y="0"/>
                </a:lnTo>
                <a:cubicBezTo>
                  <a:pt x="4716015" y="0"/>
                  <a:pt x="4737139" y="21124"/>
                  <a:pt x="4737139" y="47183"/>
                </a:cubicBezTo>
                <a:lnTo>
                  <a:pt x="4737139" y="47183"/>
                </a:lnTo>
                <a:cubicBezTo>
                  <a:pt x="4737139" y="73241"/>
                  <a:pt x="4716015" y="94365"/>
                  <a:pt x="4689957" y="94365"/>
                </a:cubicBezTo>
                <a:lnTo>
                  <a:pt x="47183" y="94365"/>
                </a:lnTo>
                <a:cubicBezTo>
                  <a:pt x="21142" y="94365"/>
                  <a:pt x="0" y="73223"/>
                  <a:pt x="0" y="47183"/>
                </a:cubicBezTo>
                <a:lnTo>
                  <a:pt x="0" y="47183"/>
                </a:lnTo>
                <a:cubicBezTo>
                  <a:pt x="0" y="21142"/>
                  <a:pt x="21142" y="0"/>
                  <a:pt x="47183" y="0"/>
                </a:cubicBezTo>
                <a:close/>
              </a:path>
            </a:pathLst>
          </a:custGeom>
          <a:solidFill>
            <a:srgbClr val="4A5C6A">
              <a:alpha val="30196"/>
            </a:srgbClr>
          </a:solidFill>
        </p:spPr>
      </p:sp>
      <p:sp>
        <p:nvSpPr>
          <p:cNvPr id="45" name="Shape 43"/>
          <p:cNvSpPr/>
          <p:nvPr/>
        </p:nvSpPr>
        <p:spPr>
          <a:xfrm>
            <a:off x="6645383" y="5917074"/>
            <a:ext cx="4359678" cy="94365"/>
          </a:xfrm>
          <a:custGeom>
            <a:avLst/>
            <a:gdLst/>
            <a:ahLst/>
            <a:cxnLst/>
            <a:rect l="l" t="t" r="r" b="b"/>
            <a:pathLst>
              <a:path w="4359678" h="94365">
                <a:moveTo>
                  <a:pt x="47183" y="0"/>
                </a:moveTo>
                <a:lnTo>
                  <a:pt x="4312495" y="0"/>
                </a:lnTo>
                <a:cubicBezTo>
                  <a:pt x="4338554" y="0"/>
                  <a:pt x="4359678" y="21124"/>
                  <a:pt x="4359678" y="47183"/>
                </a:cubicBezTo>
                <a:lnTo>
                  <a:pt x="4359678" y="47183"/>
                </a:lnTo>
                <a:cubicBezTo>
                  <a:pt x="4359678" y="73241"/>
                  <a:pt x="4338554" y="94365"/>
                  <a:pt x="4312495" y="94365"/>
                </a:cubicBezTo>
                <a:lnTo>
                  <a:pt x="47183" y="94365"/>
                </a:lnTo>
                <a:cubicBezTo>
                  <a:pt x="21142" y="94365"/>
                  <a:pt x="0" y="73223"/>
                  <a:pt x="0" y="47183"/>
                </a:cubicBezTo>
                <a:lnTo>
                  <a:pt x="0" y="47183"/>
                </a:lnTo>
                <a:cubicBezTo>
                  <a:pt x="0" y="21142"/>
                  <a:pt x="21142" y="0"/>
                  <a:pt x="47183" y="0"/>
                </a:cubicBezTo>
                <a:close/>
              </a:path>
            </a:pathLst>
          </a:custGeom>
          <a:gradFill flip="none" rotWithShape="1">
            <a:gsLst>
              <a:gs pos="0">
                <a:srgbClr val="B89A6A"/>
              </a:gs>
              <a:gs pos="100000">
                <a:srgbClr val="B89A6A">
                  <a:alpha val="70000"/>
                </a:srgbClr>
              </a:gs>
            </a:gsLst>
            <a:lin ang="0" scaled="1"/>
          </a:gradFill>
        </p:spPr>
      </p:sp>
      <p:sp>
        <p:nvSpPr>
          <p:cNvPr id="46" name="Text 44"/>
          <p:cNvSpPr/>
          <p:nvPr/>
        </p:nvSpPr>
        <p:spPr>
          <a:xfrm>
            <a:off x="6645383" y="6086932"/>
            <a:ext cx="4812632" cy="226477"/>
          </a:xfrm>
          <a:prstGeom prst="rect">
            <a:avLst/>
          </a:prstGeom>
          <a:noFill/>
        </p:spPr>
        <p:txBody>
          <a:bodyPr wrap="square" lIns="0" tIns="0" rIns="0" bIns="0" rtlCol="0" anchor="ctr"/>
          <a:lstStyle/>
          <a:p>
            <a:pPr>
              <a:lnSpc>
                <a:spcPct val="120000"/>
              </a:lnSpc>
            </a:pPr>
            <a:r>
              <a:rPr lang="en-US" sz="1190" dirty="0">
                <a:solidFill>
                  <a:srgbClr val="78828A"/>
                </a:solidFill>
                <a:latin typeface="Liter" panose="02000503030000020004" pitchFamily="34" charset="0"/>
                <a:ea typeface="Liter" panose="02000503030000020004" pitchFamily="34" charset="-122"/>
                <a:cs typeface="Liter" panose="02000503030000020004" pitchFamily="34" charset="-120"/>
              </a:rPr>
              <a:t>QoQ improvement: +8.5%</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sp>
        <p:nvSpPr>
          <p:cNvPr id="2" name="Shape 0"/>
          <p:cNvSpPr/>
          <p:nvPr/>
        </p:nvSpPr>
        <p:spPr>
          <a:xfrm>
            <a:off x="379813" y="455776"/>
            <a:ext cx="56972" cy="455776"/>
          </a:xfrm>
          <a:custGeom>
            <a:avLst/>
            <a:gdLst/>
            <a:ahLst/>
            <a:cxnLst/>
            <a:rect l="l" t="t" r="r" b="b"/>
            <a:pathLst>
              <a:path w="56972" h="455776">
                <a:moveTo>
                  <a:pt x="0" y="0"/>
                </a:moveTo>
                <a:lnTo>
                  <a:pt x="56972" y="0"/>
                </a:lnTo>
                <a:lnTo>
                  <a:pt x="56972" y="455776"/>
                </a:lnTo>
                <a:lnTo>
                  <a:pt x="0" y="455776"/>
                </a:lnTo>
                <a:lnTo>
                  <a:pt x="0" y="0"/>
                </a:lnTo>
                <a:close/>
              </a:path>
            </a:pathLst>
          </a:custGeom>
          <a:solidFill>
            <a:srgbClr val="B89A6A"/>
          </a:solidFill>
        </p:spPr>
      </p:sp>
      <p:sp>
        <p:nvSpPr>
          <p:cNvPr id="3" name="Text 1"/>
          <p:cNvSpPr/>
          <p:nvPr/>
        </p:nvSpPr>
        <p:spPr>
          <a:xfrm>
            <a:off x="550729" y="379813"/>
            <a:ext cx="3589234" cy="227888"/>
          </a:xfrm>
          <a:prstGeom prst="rect">
            <a:avLst/>
          </a:prstGeom>
          <a:noFill/>
        </p:spPr>
        <p:txBody>
          <a:bodyPr wrap="square" lIns="0" tIns="0" rIns="0" bIns="0" rtlCol="0" anchor="ctr"/>
          <a:lstStyle/>
          <a:p>
            <a:pPr>
              <a:lnSpc>
                <a:spcPct val="130000"/>
              </a:lnSpc>
            </a:pPr>
            <a:r>
              <a:rPr lang="en-US" sz="1195" b="1" kern="0" spc="60" dirty="0">
                <a:solidFill>
                  <a:srgbClr val="B89A6A"/>
                </a:solidFill>
                <a:latin typeface="Liter" panose="02000503030000020004" pitchFamily="34" charset="0"/>
                <a:ea typeface="Liter" panose="02000503030000020004" pitchFamily="34" charset="-122"/>
                <a:cs typeface="Liter" panose="02000503030000020004" pitchFamily="34" charset="-120"/>
              </a:rPr>
              <a:t>PRE-AUDIT FINANCIAL DATA</a:t>
            </a:r>
            <a:endParaRPr lang="en-US" sz="1600" dirty="0"/>
          </a:p>
        </p:txBody>
      </p:sp>
      <p:sp>
        <p:nvSpPr>
          <p:cNvPr id="4" name="Text 2"/>
          <p:cNvSpPr/>
          <p:nvPr/>
        </p:nvSpPr>
        <p:spPr>
          <a:xfrm>
            <a:off x="550729" y="607701"/>
            <a:ext cx="3684187" cy="379813"/>
          </a:xfrm>
          <a:prstGeom prst="rect">
            <a:avLst/>
          </a:prstGeom>
          <a:noFill/>
        </p:spPr>
        <p:txBody>
          <a:bodyPr wrap="square" lIns="0" tIns="0" rIns="0" bIns="0" rtlCol="0" anchor="ctr"/>
          <a:lstStyle/>
          <a:p>
            <a:pPr>
              <a:lnSpc>
                <a:spcPct val="90000"/>
              </a:lnSpc>
            </a:pPr>
            <a:r>
              <a:rPr lang="en-US" sz="269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Q1 Recognized Revenue</a:t>
            </a:r>
            <a:endParaRPr lang="en-US" sz="1600" dirty="0"/>
          </a:p>
        </p:txBody>
      </p:sp>
      <p:sp>
        <p:nvSpPr>
          <p:cNvPr id="5" name="Shape 3"/>
          <p:cNvSpPr/>
          <p:nvPr/>
        </p:nvSpPr>
        <p:spPr>
          <a:xfrm>
            <a:off x="10364372" y="508000"/>
            <a:ext cx="1443290" cy="351327"/>
          </a:xfrm>
          <a:custGeom>
            <a:avLst/>
            <a:gdLst/>
            <a:ahLst/>
            <a:cxnLst/>
            <a:rect l="l" t="t" r="r" b="b"/>
            <a:pathLst>
              <a:path w="1443290" h="351327">
                <a:moveTo>
                  <a:pt x="75964" y="0"/>
                </a:moveTo>
                <a:lnTo>
                  <a:pt x="1367326" y="0"/>
                </a:lnTo>
                <a:cubicBezTo>
                  <a:pt x="1409251" y="0"/>
                  <a:pt x="1443290" y="34038"/>
                  <a:pt x="1443290" y="75964"/>
                </a:cubicBezTo>
                <a:lnTo>
                  <a:pt x="1443290" y="275363"/>
                </a:lnTo>
                <a:cubicBezTo>
                  <a:pt x="1443290" y="317289"/>
                  <a:pt x="1409251" y="351327"/>
                  <a:pt x="1367326" y="351327"/>
                </a:cubicBezTo>
                <a:lnTo>
                  <a:pt x="75964" y="351327"/>
                </a:lnTo>
                <a:cubicBezTo>
                  <a:pt x="34010" y="351327"/>
                  <a:pt x="0" y="317317"/>
                  <a:pt x="0" y="275363"/>
                </a:cubicBezTo>
                <a:lnTo>
                  <a:pt x="0" y="75964"/>
                </a:lnTo>
                <a:cubicBezTo>
                  <a:pt x="0" y="34010"/>
                  <a:pt x="34010" y="0"/>
                  <a:pt x="75964" y="0"/>
                </a:cubicBezTo>
                <a:close/>
              </a:path>
            </a:pathLst>
          </a:custGeom>
          <a:solidFill>
            <a:srgbClr val="B89A6A">
              <a:alpha val="20000"/>
            </a:srgbClr>
          </a:solidFill>
          <a:ln w="12700">
            <a:solidFill>
              <a:srgbClr val="B89A6A">
                <a:alpha val="40000"/>
              </a:srgbClr>
            </a:solidFill>
            <a:prstDash val="solid"/>
          </a:ln>
        </p:spPr>
      </p:sp>
      <p:sp>
        <p:nvSpPr>
          <p:cNvPr id="6" name="Text 4"/>
          <p:cNvSpPr/>
          <p:nvPr/>
        </p:nvSpPr>
        <p:spPr>
          <a:xfrm>
            <a:off x="10521045" y="588710"/>
            <a:ext cx="1196411" cy="189907"/>
          </a:xfrm>
          <a:prstGeom prst="rect">
            <a:avLst/>
          </a:prstGeom>
          <a:noFill/>
        </p:spPr>
        <p:txBody>
          <a:bodyPr wrap="square" lIns="0" tIns="0" rIns="0" bIns="0" rtlCol="0" anchor="ctr"/>
          <a:lstStyle/>
          <a:p>
            <a:pPr>
              <a:lnSpc>
                <a:spcPct val="120000"/>
              </a:lnSpc>
            </a:pPr>
            <a:r>
              <a:rPr lang="en-US" sz="1045" b="1" dirty="0">
                <a:solidFill>
                  <a:srgbClr val="B89A6A"/>
                </a:solidFill>
                <a:latin typeface="Liter" panose="02000503030000020004" pitchFamily="34" charset="0"/>
                <a:ea typeface="Liter" panose="02000503030000020004" pitchFamily="34" charset="-122"/>
                <a:cs typeface="Liter" panose="02000503030000020004" pitchFamily="34" charset="-120"/>
              </a:rPr>
              <a:t>⚠️ CRITICAL SLIDE</a:t>
            </a:r>
            <a:endParaRPr lang="en-US" sz="1600" dirty="0"/>
          </a:p>
        </p:txBody>
      </p:sp>
      <p:sp>
        <p:nvSpPr>
          <p:cNvPr id="7" name="Text 5"/>
          <p:cNvSpPr/>
          <p:nvPr/>
        </p:nvSpPr>
        <p:spPr>
          <a:xfrm>
            <a:off x="337084" y="1215402"/>
            <a:ext cx="4519776" cy="265869"/>
          </a:xfrm>
          <a:prstGeom prst="rect">
            <a:avLst/>
          </a:prstGeom>
          <a:noFill/>
        </p:spPr>
        <p:txBody>
          <a:bodyPr wrap="square" lIns="0" tIns="0" rIns="0" bIns="0" rtlCol="0" anchor="ctr"/>
          <a:lstStyle/>
          <a:p>
            <a:pPr algn="ctr">
              <a:lnSpc>
                <a:spcPct val="130000"/>
              </a:lnSpc>
            </a:pPr>
            <a:r>
              <a:rPr lang="en-US" sz="1345" kern="0" spc="67" dirty="0">
                <a:solidFill>
                  <a:srgbClr val="78828A"/>
                </a:solidFill>
                <a:latin typeface="Liter" panose="02000503030000020004" pitchFamily="34" charset="0"/>
                <a:ea typeface="Liter" panose="02000503030000020004" pitchFamily="34" charset="-122"/>
                <a:cs typeface="Liter" panose="02000503030000020004" pitchFamily="34" charset="-120"/>
              </a:rPr>
              <a:t>Total Q1 Recognized Revenue</a:t>
            </a:r>
            <a:endParaRPr lang="en-US" sz="1600" dirty="0"/>
          </a:p>
        </p:txBody>
      </p:sp>
      <p:sp>
        <p:nvSpPr>
          <p:cNvPr id="8" name="Text 6"/>
          <p:cNvSpPr/>
          <p:nvPr/>
        </p:nvSpPr>
        <p:spPr>
          <a:xfrm>
            <a:off x="1655377" y="1633196"/>
            <a:ext cx="1519252" cy="683664"/>
          </a:xfrm>
          <a:prstGeom prst="rect">
            <a:avLst/>
          </a:prstGeom>
          <a:noFill/>
        </p:spPr>
        <p:txBody>
          <a:bodyPr wrap="square" lIns="0" tIns="0" rIns="0" bIns="0" rtlCol="0" anchor="ctr"/>
          <a:lstStyle/>
          <a:p>
            <a:pPr algn="ctr">
              <a:lnSpc>
                <a:spcPct val="80000"/>
              </a:lnSpc>
            </a:pPr>
            <a:r>
              <a:rPr lang="en-US" sz="5385"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350</a:t>
            </a:r>
            <a:endParaRPr lang="en-US" sz="1600" dirty="0"/>
          </a:p>
        </p:txBody>
      </p:sp>
      <p:sp>
        <p:nvSpPr>
          <p:cNvPr id="9" name="Text 7"/>
          <p:cNvSpPr/>
          <p:nvPr/>
        </p:nvSpPr>
        <p:spPr>
          <a:xfrm>
            <a:off x="2994070" y="1884822"/>
            <a:ext cx="455776" cy="379813"/>
          </a:xfrm>
          <a:prstGeom prst="rect">
            <a:avLst/>
          </a:prstGeom>
          <a:noFill/>
        </p:spPr>
        <p:txBody>
          <a:bodyPr wrap="square" lIns="0" tIns="0" rIns="0" bIns="0" rtlCol="0" anchor="ctr"/>
          <a:lstStyle/>
          <a:p>
            <a:pPr algn="ctr">
              <a:lnSpc>
                <a:spcPct val="90000"/>
              </a:lnSpc>
            </a:pPr>
            <a:r>
              <a:rPr lang="en-US" sz="2690"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M</a:t>
            </a:r>
            <a:endParaRPr lang="en-US" sz="1600" dirty="0"/>
          </a:p>
        </p:txBody>
      </p:sp>
      <p:sp>
        <p:nvSpPr>
          <p:cNvPr id="10" name="Text 8"/>
          <p:cNvSpPr/>
          <p:nvPr/>
        </p:nvSpPr>
        <p:spPr>
          <a:xfrm>
            <a:off x="1769321" y="2392822"/>
            <a:ext cx="1652187" cy="303850"/>
          </a:xfrm>
          <a:prstGeom prst="rect">
            <a:avLst/>
          </a:prstGeom>
          <a:noFill/>
        </p:spPr>
        <p:txBody>
          <a:bodyPr wrap="square" lIns="0" tIns="0" rIns="0" bIns="0" rtlCol="0" anchor="ctr"/>
          <a:lstStyle/>
          <a:p>
            <a:pPr algn="ctr">
              <a:lnSpc>
                <a:spcPct val="110000"/>
              </a:lnSpc>
            </a:pPr>
            <a:r>
              <a:rPr lang="en-US" sz="1795" dirty="0">
                <a:solidFill>
                  <a:srgbClr val="78828A"/>
                </a:solidFill>
                <a:latin typeface="Liter" panose="02000503030000020004" pitchFamily="34" charset="0"/>
                <a:ea typeface="Liter" panose="02000503030000020004" pitchFamily="34" charset="-122"/>
                <a:cs typeface="Liter" panose="02000503030000020004" pitchFamily="34" charset="-120"/>
              </a:rPr>
              <a:t>RMB</a:t>
            </a:r>
            <a:endParaRPr lang="en-US" sz="1600" dirty="0"/>
          </a:p>
        </p:txBody>
      </p:sp>
      <p:sp>
        <p:nvSpPr>
          <p:cNvPr id="11" name="Shape 9"/>
          <p:cNvSpPr/>
          <p:nvPr/>
        </p:nvSpPr>
        <p:spPr>
          <a:xfrm>
            <a:off x="1916053" y="2943551"/>
            <a:ext cx="213645" cy="189907"/>
          </a:xfrm>
          <a:custGeom>
            <a:avLst/>
            <a:gdLst/>
            <a:ahLst/>
            <a:cxnLst/>
            <a:rect l="l" t="t" r="r" b="b"/>
            <a:pathLst>
              <a:path w="213645" h="189907">
                <a:moveTo>
                  <a:pt x="190055" y="89019"/>
                </a:moveTo>
                <a:lnTo>
                  <a:pt x="124775" y="89019"/>
                </a:lnTo>
                <a:cubicBezTo>
                  <a:pt x="118209" y="89019"/>
                  <a:pt x="112905" y="83715"/>
                  <a:pt x="112905" y="77150"/>
                </a:cubicBezTo>
                <a:lnTo>
                  <a:pt x="112905" y="11869"/>
                </a:lnTo>
                <a:cubicBezTo>
                  <a:pt x="112905" y="5304"/>
                  <a:pt x="118246" y="-74"/>
                  <a:pt x="124737" y="779"/>
                </a:cubicBezTo>
                <a:cubicBezTo>
                  <a:pt x="164425" y="6046"/>
                  <a:pt x="195878" y="37499"/>
                  <a:pt x="201145" y="77187"/>
                </a:cubicBezTo>
                <a:cubicBezTo>
                  <a:pt x="201998" y="83678"/>
                  <a:pt x="196620" y="89019"/>
                  <a:pt x="190055" y="89019"/>
                </a:cubicBezTo>
                <a:close/>
                <a:moveTo>
                  <a:pt x="82565" y="13798"/>
                </a:moveTo>
                <a:cubicBezTo>
                  <a:pt x="89278" y="12388"/>
                  <a:pt x="95102" y="17878"/>
                  <a:pt x="95102" y="24740"/>
                </a:cubicBezTo>
                <a:lnTo>
                  <a:pt x="95102" y="97921"/>
                </a:lnTo>
                <a:cubicBezTo>
                  <a:pt x="95102" y="99998"/>
                  <a:pt x="95843" y="102001"/>
                  <a:pt x="97142" y="103596"/>
                </a:cubicBezTo>
                <a:lnTo>
                  <a:pt x="146139" y="162719"/>
                </a:lnTo>
                <a:cubicBezTo>
                  <a:pt x="150479" y="167949"/>
                  <a:pt x="149551" y="175849"/>
                  <a:pt x="143580" y="179076"/>
                </a:cubicBezTo>
                <a:cubicBezTo>
                  <a:pt x="130932" y="185975"/>
                  <a:pt x="116429" y="189907"/>
                  <a:pt x="101036" y="189907"/>
                </a:cubicBezTo>
                <a:cubicBezTo>
                  <a:pt x="51890" y="189907"/>
                  <a:pt x="12018" y="150034"/>
                  <a:pt x="12018" y="100888"/>
                </a:cubicBezTo>
                <a:cubicBezTo>
                  <a:pt x="12018" y="58048"/>
                  <a:pt x="42247" y="22292"/>
                  <a:pt x="82565" y="13798"/>
                </a:cubicBezTo>
                <a:close/>
                <a:moveTo>
                  <a:pt x="177221" y="106822"/>
                </a:moveTo>
                <a:lnTo>
                  <a:pt x="200960" y="106822"/>
                </a:lnTo>
                <a:cubicBezTo>
                  <a:pt x="207822" y="106822"/>
                  <a:pt x="213311" y="112646"/>
                  <a:pt x="211902" y="119359"/>
                </a:cubicBezTo>
                <a:cubicBezTo>
                  <a:pt x="208118" y="137311"/>
                  <a:pt x="198920" y="153261"/>
                  <a:pt x="186086" y="165426"/>
                </a:cubicBezTo>
                <a:cubicBezTo>
                  <a:pt x="181524" y="169766"/>
                  <a:pt x="174365" y="168839"/>
                  <a:pt x="170360" y="163980"/>
                </a:cubicBezTo>
                <a:lnTo>
                  <a:pt x="139055" y="126258"/>
                </a:lnTo>
                <a:cubicBezTo>
                  <a:pt x="132638" y="118506"/>
                  <a:pt x="138164" y="106822"/>
                  <a:pt x="148179" y="106822"/>
                </a:cubicBezTo>
                <a:lnTo>
                  <a:pt x="177184" y="106822"/>
                </a:lnTo>
                <a:close/>
              </a:path>
            </a:pathLst>
          </a:custGeom>
          <a:solidFill>
            <a:srgbClr val="B89A6A"/>
          </a:solidFill>
        </p:spPr>
      </p:sp>
      <p:sp>
        <p:nvSpPr>
          <p:cNvPr id="12" name="Text 10"/>
          <p:cNvSpPr/>
          <p:nvPr/>
        </p:nvSpPr>
        <p:spPr>
          <a:xfrm>
            <a:off x="2217530" y="2924561"/>
            <a:ext cx="1110953" cy="227888"/>
          </a:xfrm>
          <a:prstGeom prst="rect">
            <a:avLst/>
          </a:prstGeom>
          <a:noFill/>
        </p:spPr>
        <p:txBody>
          <a:bodyPr wrap="square" lIns="0" tIns="0" rIns="0" bIns="0" rtlCol="0" anchor="ctr"/>
          <a:lstStyle/>
          <a:p>
            <a:pPr algn="ctr">
              <a:lnSpc>
                <a:spcPct val="130000"/>
              </a:lnSpc>
            </a:pPr>
            <a:r>
              <a:rPr lang="en-US" sz="1195" dirty="0">
                <a:solidFill>
                  <a:srgbClr val="78828A"/>
                </a:solidFill>
                <a:latin typeface="Liter" panose="02000503030000020004" pitchFamily="34" charset="0"/>
                <a:ea typeface="Liter" panose="02000503030000020004" pitchFamily="34" charset="-122"/>
                <a:cs typeface="Liter" panose="02000503030000020004" pitchFamily="34" charset="-120"/>
              </a:rPr>
              <a:t>Pre-Audit Basis</a:t>
            </a:r>
            <a:endParaRPr lang="en-US" sz="1600" dirty="0"/>
          </a:p>
        </p:txBody>
      </p:sp>
      <p:sp>
        <p:nvSpPr>
          <p:cNvPr id="13" name="Shape 11"/>
          <p:cNvSpPr/>
          <p:nvPr/>
        </p:nvSpPr>
        <p:spPr>
          <a:xfrm>
            <a:off x="398804" y="3456299"/>
            <a:ext cx="4415327" cy="835589"/>
          </a:xfrm>
          <a:custGeom>
            <a:avLst/>
            <a:gdLst/>
            <a:ahLst/>
            <a:cxnLst/>
            <a:rect l="l" t="t" r="r" b="b"/>
            <a:pathLst>
              <a:path w="4415327" h="835589">
                <a:moveTo>
                  <a:pt x="37981" y="0"/>
                </a:moveTo>
                <a:lnTo>
                  <a:pt x="4339364" y="0"/>
                </a:lnTo>
                <a:cubicBezTo>
                  <a:pt x="4381317" y="0"/>
                  <a:pt x="4415327" y="34010"/>
                  <a:pt x="4415327" y="75963"/>
                </a:cubicBezTo>
                <a:lnTo>
                  <a:pt x="4415327" y="759625"/>
                </a:lnTo>
                <a:cubicBezTo>
                  <a:pt x="4415327" y="801579"/>
                  <a:pt x="4381317" y="835589"/>
                  <a:pt x="4339364" y="835589"/>
                </a:cubicBezTo>
                <a:lnTo>
                  <a:pt x="37981" y="835589"/>
                </a:lnTo>
                <a:cubicBezTo>
                  <a:pt x="17019" y="835589"/>
                  <a:pt x="0" y="818570"/>
                  <a:pt x="0" y="797607"/>
                </a:cubicBezTo>
                <a:lnTo>
                  <a:pt x="0" y="37981"/>
                </a:lnTo>
                <a:cubicBezTo>
                  <a:pt x="0" y="17019"/>
                  <a:pt x="17019" y="0"/>
                  <a:pt x="37981" y="0"/>
                </a:cubicBezTo>
                <a:close/>
              </a:path>
            </a:pathLst>
          </a:custGeom>
          <a:solidFill>
            <a:srgbClr val="4A5C6A">
              <a:alpha val="20000"/>
            </a:srgbClr>
          </a:solidFill>
        </p:spPr>
      </p:sp>
      <p:sp>
        <p:nvSpPr>
          <p:cNvPr id="14" name="Shape 12"/>
          <p:cNvSpPr/>
          <p:nvPr/>
        </p:nvSpPr>
        <p:spPr>
          <a:xfrm>
            <a:off x="398804" y="3456299"/>
            <a:ext cx="37981" cy="835589"/>
          </a:xfrm>
          <a:custGeom>
            <a:avLst/>
            <a:gdLst/>
            <a:ahLst/>
            <a:cxnLst/>
            <a:rect l="l" t="t" r="r" b="b"/>
            <a:pathLst>
              <a:path w="37981" h="835589">
                <a:moveTo>
                  <a:pt x="37981" y="0"/>
                </a:moveTo>
                <a:lnTo>
                  <a:pt x="37981" y="0"/>
                </a:lnTo>
                <a:lnTo>
                  <a:pt x="37981" y="835589"/>
                </a:lnTo>
                <a:lnTo>
                  <a:pt x="37981" y="835589"/>
                </a:lnTo>
                <a:cubicBezTo>
                  <a:pt x="17019" y="835589"/>
                  <a:pt x="0" y="818570"/>
                  <a:pt x="0" y="797607"/>
                </a:cubicBezTo>
                <a:lnTo>
                  <a:pt x="0" y="37981"/>
                </a:lnTo>
                <a:cubicBezTo>
                  <a:pt x="0" y="17019"/>
                  <a:pt x="17019" y="0"/>
                  <a:pt x="37981" y="0"/>
                </a:cubicBezTo>
                <a:close/>
              </a:path>
            </a:pathLst>
          </a:custGeom>
          <a:solidFill>
            <a:srgbClr val="B89A6A"/>
          </a:solidFill>
        </p:spPr>
      </p:sp>
      <p:sp>
        <p:nvSpPr>
          <p:cNvPr id="15" name="Shape 13"/>
          <p:cNvSpPr/>
          <p:nvPr/>
        </p:nvSpPr>
        <p:spPr>
          <a:xfrm>
            <a:off x="569720" y="3779140"/>
            <a:ext cx="189907" cy="189907"/>
          </a:xfrm>
          <a:custGeom>
            <a:avLst/>
            <a:gdLst/>
            <a:ahLst/>
            <a:cxnLst/>
            <a:rect l="l" t="t" r="r" b="b"/>
            <a:pathLst>
              <a:path w="189907" h="189907">
                <a:moveTo>
                  <a:pt x="37981" y="0"/>
                </a:moveTo>
                <a:lnTo>
                  <a:pt x="151925" y="0"/>
                </a:lnTo>
                <a:cubicBezTo>
                  <a:pt x="172888" y="0"/>
                  <a:pt x="189907" y="17019"/>
                  <a:pt x="189907" y="37981"/>
                </a:cubicBezTo>
                <a:lnTo>
                  <a:pt x="189907" y="151925"/>
                </a:lnTo>
                <a:cubicBezTo>
                  <a:pt x="189907" y="172888"/>
                  <a:pt x="172888" y="189907"/>
                  <a:pt x="151925" y="189907"/>
                </a:cubicBezTo>
                <a:lnTo>
                  <a:pt x="37981" y="189907"/>
                </a:lnTo>
                <a:cubicBezTo>
                  <a:pt x="17019" y="189907"/>
                  <a:pt x="0" y="172888"/>
                  <a:pt x="0" y="151925"/>
                </a:cubicBezTo>
                <a:lnTo>
                  <a:pt x="0" y="37981"/>
                </a:lnTo>
                <a:cubicBezTo>
                  <a:pt x="0" y="17019"/>
                  <a:pt x="17019" y="0"/>
                  <a:pt x="37981" y="0"/>
                </a:cubicBezTo>
                <a:close/>
              </a:path>
            </a:pathLst>
          </a:custGeom>
          <a:solidFill>
            <a:srgbClr val="B89A6A"/>
          </a:solidFill>
        </p:spPr>
      </p:sp>
      <p:sp>
        <p:nvSpPr>
          <p:cNvPr id="16" name="Text 14"/>
          <p:cNvSpPr/>
          <p:nvPr/>
        </p:nvSpPr>
        <p:spPr>
          <a:xfrm>
            <a:off x="911551" y="3608224"/>
            <a:ext cx="3294879" cy="227888"/>
          </a:xfrm>
          <a:prstGeom prst="rect">
            <a:avLst/>
          </a:prstGeom>
          <a:noFill/>
        </p:spPr>
        <p:txBody>
          <a:bodyPr wrap="square" lIns="0" tIns="0" rIns="0" bIns="0" rtlCol="0" anchor="ctr"/>
          <a:lstStyle/>
          <a:p>
            <a:pPr>
              <a:lnSpc>
                <a:spcPct val="130000"/>
              </a:lnSpc>
            </a:pPr>
            <a:r>
              <a:rPr lang="en-US" sz="1195" dirty="0">
                <a:solidFill>
                  <a:srgbClr val="78828A"/>
                </a:solidFill>
                <a:latin typeface="Liter" panose="02000503030000020004" pitchFamily="34" charset="0"/>
                <a:ea typeface="Liter" panose="02000503030000020004" pitchFamily="34" charset="-122"/>
                <a:cs typeface="Liter" panose="02000503030000020004" pitchFamily="34" charset="-120"/>
              </a:rPr>
              <a:t>CoreRAG Subscriptions</a:t>
            </a:r>
            <a:endParaRPr lang="en-US" sz="1600" dirty="0"/>
          </a:p>
        </p:txBody>
      </p:sp>
      <p:sp>
        <p:nvSpPr>
          <p:cNvPr id="17" name="Text 15"/>
          <p:cNvSpPr/>
          <p:nvPr/>
        </p:nvSpPr>
        <p:spPr>
          <a:xfrm>
            <a:off x="911551" y="3836112"/>
            <a:ext cx="3332860" cy="303850"/>
          </a:xfrm>
          <a:prstGeom prst="rect">
            <a:avLst/>
          </a:prstGeom>
          <a:noFill/>
        </p:spPr>
        <p:txBody>
          <a:bodyPr wrap="square" lIns="0" tIns="0" rIns="0" bIns="0" rtlCol="0" anchor="ctr"/>
          <a:lstStyle/>
          <a:p>
            <a:pPr>
              <a:lnSpc>
                <a:spcPct val="110000"/>
              </a:lnSpc>
            </a:pPr>
            <a:r>
              <a:rPr lang="en-US" sz="179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210 n </a:t>
            </a:r>
            <a:r>
              <a:rPr lang="en-US" sz="1345" b="1" dirty="0">
                <a:solidFill>
                  <a:srgbClr val="78828A"/>
                </a:solidFill>
                <a:latin typeface="Quattrocento Sans" panose="020B0502050000020003" pitchFamily="34" charset="0"/>
                <a:ea typeface="Quattrocento Sans" panose="020B0502050000020003" pitchFamily="34" charset="-122"/>
                <a:cs typeface="Quattrocento Sans" panose="020B0502050000020003" pitchFamily="34" charset="-120"/>
              </a:rPr>
              <a:t>M RMB</a:t>
            </a:r>
            <a:endParaRPr lang="en-US" sz="1600" dirty="0"/>
          </a:p>
        </p:txBody>
      </p:sp>
      <p:sp>
        <p:nvSpPr>
          <p:cNvPr id="18" name="Text 16"/>
          <p:cNvSpPr/>
          <p:nvPr/>
        </p:nvSpPr>
        <p:spPr>
          <a:xfrm>
            <a:off x="4279054" y="3741159"/>
            <a:ext cx="474766" cy="265869"/>
          </a:xfrm>
          <a:prstGeom prst="rect">
            <a:avLst/>
          </a:prstGeom>
          <a:noFill/>
        </p:spPr>
        <p:txBody>
          <a:bodyPr wrap="square" lIns="0" tIns="0" rIns="0" bIns="0" rtlCol="0" anchor="ctr"/>
          <a:lstStyle/>
          <a:p>
            <a:pPr>
              <a:lnSpc>
                <a:spcPct val="120000"/>
              </a:lnSpc>
            </a:pPr>
            <a:r>
              <a:rPr lang="en-US" sz="1495"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60%</a:t>
            </a:r>
            <a:endParaRPr lang="en-US" sz="1600" dirty="0"/>
          </a:p>
        </p:txBody>
      </p:sp>
      <p:sp>
        <p:nvSpPr>
          <p:cNvPr id="19" name="Shape 17"/>
          <p:cNvSpPr/>
          <p:nvPr/>
        </p:nvSpPr>
        <p:spPr>
          <a:xfrm>
            <a:off x="398804" y="4443813"/>
            <a:ext cx="4415327" cy="835589"/>
          </a:xfrm>
          <a:custGeom>
            <a:avLst/>
            <a:gdLst/>
            <a:ahLst/>
            <a:cxnLst/>
            <a:rect l="l" t="t" r="r" b="b"/>
            <a:pathLst>
              <a:path w="4415327" h="835589">
                <a:moveTo>
                  <a:pt x="37981" y="0"/>
                </a:moveTo>
                <a:lnTo>
                  <a:pt x="4339364" y="0"/>
                </a:lnTo>
                <a:cubicBezTo>
                  <a:pt x="4381317" y="0"/>
                  <a:pt x="4415327" y="34010"/>
                  <a:pt x="4415327" y="75963"/>
                </a:cubicBezTo>
                <a:lnTo>
                  <a:pt x="4415327" y="759625"/>
                </a:lnTo>
                <a:cubicBezTo>
                  <a:pt x="4415327" y="801579"/>
                  <a:pt x="4381317" y="835589"/>
                  <a:pt x="4339364" y="835589"/>
                </a:cubicBezTo>
                <a:lnTo>
                  <a:pt x="37981" y="835589"/>
                </a:lnTo>
                <a:cubicBezTo>
                  <a:pt x="17019" y="835589"/>
                  <a:pt x="0" y="818570"/>
                  <a:pt x="0" y="797607"/>
                </a:cubicBezTo>
                <a:lnTo>
                  <a:pt x="0" y="37981"/>
                </a:lnTo>
                <a:cubicBezTo>
                  <a:pt x="0" y="17019"/>
                  <a:pt x="17019" y="0"/>
                  <a:pt x="37981" y="0"/>
                </a:cubicBezTo>
                <a:close/>
              </a:path>
            </a:pathLst>
          </a:custGeom>
          <a:solidFill>
            <a:srgbClr val="4A5C6A">
              <a:alpha val="20000"/>
            </a:srgbClr>
          </a:solidFill>
        </p:spPr>
      </p:sp>
      <p:sp>
        <p:nvSpPr>
          <p:cNvPr id="20" name="Shape 18"/>
          <p:cNvSpPr/>
          <p:nvPr/>
        </p:nvSpPr>
        <p:spPr>
          <a:xfrm>
            <a:off x="398804" y="4443813"/>
            <a:ext cx="37981" cy="835589"/>
          </a:xfrm>
          <a:custGeom>
            <a:avLst/>
            <a:gdLst/>
            <a:ahLst/>
            <a:cxnLst/>
            <a:rect l="l" t="t" r="r" b="b"/>
            <a:pathLst>
              <a:path w="37981" h="835589">
                <a:moveTo>
                  <a:pt x="37981" y="0"/>
                </a:moveTo>
                <a:lnTo>
                  <a:pt x="37981" y="0"/>
                </a:lnTo>
                <a:lnTo>
                  <a:pt x="37981" y="835589"/>
                </a:lnTo>
                <a:lnTo>
                  <a:pt x="37981" y="835589"/>
                </a:lnTo>
                <a:cubicBezTo>
                  <a:pt x="17019" y="835589"/>
                  <a:pt x="0" y="818570"/>
                  <a:pt x="0" y="797607"/>
                </a:cubicBezTo>
                <a:lnTo>
                  <a:pt x="0" y="37981"/>
                </a:lnTo>
                <a:cubicBezTo>
                  <a:pt x="0" y="17019"/>
                  <a:pt x="17019" y="0"/>
                  <a:pt x="37981" y="0"/>
                </a:cubicBezTo>
                <a:close/>
              </a:path>
            </a:pathLst>
          </a:custGeom>
          <a:solidFill>
            <a:srgbClr val="4A5C6A"/>
          </a:solidFill>
        </p:spPr>
      </p:sp>
      <p:sp>
        <p:nvSpPr>
          <p:cNvPr id="21" name="Shape 19"/>
          <p:cNvSpPr/>
          <p:nvPr/>
        </p:nvSpPr>
        <p:spPr>
          <a:xfrm>
            <a:off x="569720" y="4766654"/>
            <a:ext cx="189907" cy="189907"/>
          </a:xfrm>
          <a:custGeom>
            <a:avLst/>
            <a:gdLst/>
            <a:ahLst/>
            <a:cxnLst/>
            <a:rect l="l" t="t" r="r" b="b"/>
            <a:pathLst>
              <a:path w="189907" h="189907">
                <a:moveTo>
                  <a:pt x="37981" y="0"/>
                </a:moveTo>
                <a:lnTo>
                  <a:pt x="151925" y="0"/>
                </a:lnTo>
                <a:cubicBezTo>
                  <a:pt x="172888" y="0"/>
                  <a:pt x="189907" y="17019"/>
                  <a:pt x="189907" y="37981"/>
                </a:cubicBezTo>
                <a:lnTo>
                  <a:pt x="189907" y="151925"/>
                </a:lnTo>
                <a:cubicBezTo>
                  <a:pt x="189907" y="172888"/>
                  <a:pt x="172888" y="189907"/>
                  <a:pt x="151925" y="189907"/>
                </a:cubicBezTo>
                <a:lnTo>
                  <a:pt x="37981" y="189907"/>
                </a:lnTo>
                <a:cubicBezTo>
                  <a:pt x="17019" y="189907"/>
                  <a:pt x="0" y="172888"/>
                  <a:pt x="0" y="151925"/>
                </a:cubicBezTo>
                <a:lnTo>
                  <a:pt x="0" y="37981"/>
                </a:lnTo>
                <a:cubicBezTo>
                  <a:pt x="0" y="17019"/>
                  <a:pt x="17019" y="0"/>
                  <a:pt x="37981" y="0"/>
                </a:cubicBezTo>
                <a:close/>
              </a:path>
            </a:pathLst>
          </a:custGeom>
          <a:solidFill>
            <a:srgbClr val="4A5C6A"/>
          </a:solidFill>
        </p:spPr>
      </p:sp>
      <p:sp>
        <p:nvSpPr>
          <p:cNvPr id="22" name="Text 20"/>
          <p:cNvSpPr/>
          <p:nvPr/>
        </p:nvSpPr>
        <p:spPr>
          <a:xfrm>
            <a:off x="911551" y="4595738"/>
            <a:ext cx="3313869" cy="227888"/>
          </a:xfrm>
          <a:prstGeom prst="rect">
            <a:avLst/>
          </a:prstGeom>
          <a:noFill/>
        </p:spPr>
        <p:txBody>
          <a:bodyPr wrap="square" lIns="0" tIns="0" rIns="0" bIns="0" rtlCol="0" anchor="ctr"/>
          <a:lstStyle/>
          <a:p>
            <a:pPr>
              <a:lnSpc>
                <a:spcPct val="130000"/>
              </a:lnSpc>
            </a:pPr>
            <a:r>
              <a:rPr lang="en-US" sz="1195" dirty="0">
                <a:solidFill>
                  <a:srgbClr val="78828A"/>
                </a:solidFill>
                <a:latin typeface="Liter" panose="02000503030000020004" pitchFamily="34" charset="0"/>
                <a:ea typeface="Liter" panose="02000503030000020004" pitchFamily="34" charset="-122"/>
                <a:cs typeface="Liter" panose="02000503030000020004" pitchFamily="34" charset="-120"/>
              </a:rPr>
              <a:t>AxiomBI Deployment Services</a:t>
            </a:r>
            <a:endParaRPr lang="en-US" sz="1600" dirty="0"/>
          </a:p>
        </p:txBody>
      </p:sp>
      <p:sp>
        <p:nvSpPr>
          <p:cNvPr id="23" name="Text 21"/>
          <p:cNvSpPr/>
          <p:nvPr/>
        </p:nvSpPr>
        <p:spPr>
          <a:xfrm>
            <a:off x="911551" y="4823626"/>
            <a:ext cx="3351850" cy="303850"/>
          </a:xfrm>
          <a:prstGeom prst="rect">
            <a:avLst/>
          </a:prstGeom>
          <a:noFill/>
        </p:spPr>
        <p:txBody>
          <a:bodyPr wrap="square" lIns="0" tIns="0" rIns="0" bIns="0" rtlCol="0" anchor="ctr"/>
          <a:lstStyle/>
          <a:p>
            <a:pPr>
              <a:lnSpc>
                <a:spcPct val="110000"/>
              </a:lnSpc>
            </a:pPr>
            <a:r>
              <a:rPr lang="en-US" sz="179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100 </a:t>
            </a:r>
            <a:r>
              <a:rPr lang="en-US" sz="1345" b="1" dirty="0">
                <a:solidFill>
                  <a:srgbClr val="78828A"/>
                </a:solidFill>
                <a:latin typeface="Quattrocento Sans" panose="020B0502050000020003" pitchFamily="34" charset="0"/>
                <a:ea typeface="Quattrocento Sans" panose="020B0502050000020003" pitchFamily="34" charset="-122"/>
                <a:cs typeface="Quattrocento Sans" panose="020B0502050000020003" pitchFamily="34" charset="-120"/>
              </a:rPr>
              <a:t>M RMB</a:t>
            </a:r>
            <a:endParaRPr lang="en-US" sz="1600" dirty="0"/>
          </a:p>
        </p:txBody>
      </p:sp>
      <p:sp>
        <p:nvSpPr>
          <p:cNvPr id="24" name="Text 22"/>
          <p:cNvSpPr/>
          <p:nvPr/>
        </p:nvSpPr>
        <p:spPr>
          <a:xfrm>
            <a:off x="4305463" y="4728673"/>
            <a:ext cx="455776" cy="265869"/>
          </a:xfrm>
          <a:prstGeom prst="rect">
            <a:avLst/>
          </a:prstGeom>
          <a:noFill/>
        </p:spPr>
        <p:txBody>
          <a:bodyPr wrap="square" lIns="0" tIns="0" rIns="0" bIns="0" rtlCol="0" anchor="ctr"/>
          <a:lstStyle/>
          <a:p>
            <a:pPr>
              <a:lnSpc>
                <a:spcPct val="120000"/>
              </a:lnSpc>
            </a:pPr>
            <a:r>
              <a:rPr lang="en-US" sz="1495"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29%</a:t>
            </a:r>
            <a:endParaRPr lang="en-US" sz="1600" dirty="0"/>
          </a:p>
        </p:txBody>
      </p:sp>
      <p:sp>
        <p:nvSpPr>
          <p:cNvPr id="25" name="Shape 23"/>
          <p:cNvSpPr/>
          <p:nvPr/>
        </p:nvSpPr>
        <p:spPr>
          <a:xfrm>
            <a:off x="398804" y="5431327"/>
            <a:ext cx="4415327" cy="835589"/>
          </a:xfrm>
          <a:custGeom>
            <a:avLst/>
            <a:gdLst/>
            <a:ahLst/>
            <a:cxnLst/>
            <a:rect l="l" t="t" r="r" b="b"/>
            <a:pathLst>
              <a:path w="4415327" h="835589">
                <a:moveTo>
                  <a:pt x="37981" y="0"/>
                </a:moveTo>
                <a:lnTo>
                  <a:pt x="4339364" y="0"/>
                </a:lnTo>
                <a:cubicBezTo>
                  <a:pt x="4381317" y="0"/>
                  <a:pt x="4415327" y="34010"/>
                  <a:pt x="4415327" y="75963"/>
                </a:cubicBezTo>
                <a:lnTo>
                  <a:pt x="4415327" y="759625"/>
                </a:lnTo>
                <a:cubicBezTo>
                  <a:pt x="4415327" y="801579"/>
                  <a:pt x="4381317" y="835589"/>
                  <a:pt x="4339364" y="835589"/>
                </a:cubicBezTo>
                <a:lnTo>
                  <a:pt x="37981" y="835589"/>
                </a:lnTo>
                <a:cubicBezTo>
                  <a:pt x="17019" y="835589"/>
                  <a:pt x="0" y="818570"/>
                  <a:pt x="0" y="797607"/>
                </a:cubicBezTo>
                <a:lnTo>
                  <a:pt x="0" y="37981"/>
                </a:lnTo>
                <a:cubicBezTo>
                  <a:pt x="0" y="17019"/>
                  <a:pt x="17019" y="0"/>
                  <a:pt x="37981" y="0"/>
                </a:cubicBezTo>
                <a:close/>
              </a:path>
            </a:pathLst>
          </a:custGeom>
          <a:solidFill>
            <a:srgbClr val="4A5C6A">
              <a:alpha val="20000"/>
            </a:srgbClr>
          </a:solidFill>
        </p:spPr>
      </p:sp>
      <p:sp>
        <p:nvSpPr>
          <p:cNvPr id="26" name="Shape 24"/>
          <p:cNvSpPr/>
          <p:nvPr/>
        </p:nvSpPr>
        <p:spPr>
          <a:xfrm>
            <a:off x="398804" y="5431327"/>
            <a:ext cx="37981" cy="835589"/>
          </a:xfrm>
          <a:custGeom>
            <a:avLst/>
            <a:gdLst/>
            <a:ahLst/>
            <a:cxnLst/>
            <a:rect l="l" t="t" r="r" b="b"/>
            <a:pathLst>
              <a:path w="37981" h="835589">
                <a:moveTo>
                  <a:pt x="37981" y="0"/>
                </a:moveTo>
                <a:lnTo>
                  <a:pt x="37981" y="0"/>
                </a:lnTo>
                <a:lnTo>
                  <a:pt x="37981" y="835589"/>
                </a:lnTo>
                <a:lnTo>
                  <a:pt x="37981" y="835589"/>
                </a:lnTo>
                <a:cubicBezTo>
                  <a:pt x="17019" y="835589"/>
                  <a:pt x="0" y="818570"/>
                  <a:pt x="0" y="797607"/>
                </a:cubicBezTo>
                <a:lnTo>
                  <a:pt x="0" y="37981"/>
                </a:lnTo>
                <a:cubicBezTo>
                  <a:pt x="0" y="17019"/>
                  <a:pt x="17019" y="0"/>
                  <a:pt x="37981" y="0"/>
                </a:cubicBezTo>
                <a:close/>
              </a:path>
            </a:pathLst>
          </a:custGeom>
          <a:solidFill>
            <a:srgbClr val="78828A"/>
          </a:solidFill>
        </p:spPr>
      </p:sp>
      <p:sp>
        <p:nvSpPr>
          <p:cNvPr id="27" name="Shape 25"/>
          <p:cNvSpPr/>
          <p:nvPr/>
        </p:nvSpPr>
        <p:spPr>
          <a:xfrm>
            <a:off x="569720" y="5754168"/>
            <a:ext cx="189907" cy="189907"/>
          </a:xfrm>
          <a:custGeom>
            <a:avLst/>
            <a:gdLst/>
            <a:ahLst/>
            <a:cxnLst/>
            <a:rect l="l" t="t" r="r" b="b"/>
            <a:pathLst>
              <a:path w="189907" h="189907">
                <a:moveTo>
                  <a:pt x="37981" y="0"/>
                </a:moveTo>
                <a:lnTo>
                  <a:pt x="151925" y="0"/>
                </a:lnTo>
                <a:cubicBezTo>
                  <a:pt x="172888" y="0"/>
                  <a:pt x="189907" y="17019"/>
                  <a:pt x="189907" y="37981"/>
                </a:cubicBezTo>
                <a:lnTo>
                  <a:pt x="189907" y="151925"/>
                </a:lnTo>
                <a:cubicBezTo>
                  <a:pt x="189907" y="172888"/>
                  <a:pt x="172888" y="189907"/>
                  <a:pt x="151925" y="189907"/>
                </a:cubicBezTo>
                <a:lnTo>
                  <a:pt x="37981" y="189907"/>
                </a:lnTo>
                <a:cubicBezTo>
                  <a:pt x="17019" y="189907"/>
                  <a:pt x="0" y="172888"/>
                  <a:pt x="0" y="151925"/>
                </a:cubicBezTo>
                <a:lnTo>
                  <a:pt x="0" y="37981"/>
                </a:lnTo>
                <a:cubicBezTo>
                  <a:pt x="0" y="17019"/>
                  <a:pt x="17019" y="0"/>
                  <a:pt x="37981" y="0"/>
                </a:cubicBezTo>
                <a:close/>
              </a:path>
            </a:pathLst>
          </a:custGeom>
          <a:solidFill>
            <a:srgbClr val="78828A"/>
          </a:solidFill>
        </p:spPr>
      </p:sp>
      <p:sp>
        <p:nvSpPr>
          <p:cNvPr id="28" name="Text 26"/>
          <p:cNvSpPr/>
          <p:nvPr/>
        </p:nvSpPr>
        <p:spPr>
          <a:xfrm>
            <a:off x="911551" y="5583252"/>
            <a:ext cx="3437308" cy="227888"/>
          </a:xfrm>
          <a:prstGeom prst="rect">
            <a:avLst/>
          </a:prstGeom>
          <a:noFill/>
        </p:spPr>
        <p:txBody>
          <a:bodyPr wrap="square" lIns="0" tIns="0" rIns="0" bIns="0" rtlCol="0" anchor="ctr"/>
          <a:lstStyle/>
          <a:p>
            <a:pPr>
              <a:lnSpc>
                <a:spcPct val="130000"/>
              </a:lnSpc>
            </a:pPr>
            <a:r>
              <a:rPr lang="en-US" sz="1195" dirty="0">
                <a:solidFill>
                  <a:srgbClr val="78828A"/>
                </a:solidFill>
                <a:latin typeface="Liter" panose="02000503030000020004" pitchFamily="34" charset="0"/>
                <a:ea typeface="Liter" panose="02000503030000020004" pitchFamily="34" charset="-122"/>
                <a:cs typeface="Liter" panose="02000503030000020004" pitchFamily="34" charset="-120"/>
              </a:rPr>
              <a:t>Hardware &amp; Maintenance</a:t>
            </a:r>
            <a:endParaRPr lang="en-US" sz="1600" dirty="0"/>
          </a:p>
        </p:txBody>
      </p:sp>
      <p:sp>
        <p:nvSpPr>
          <p:cNvPr id="29" name="Text 27"/>
          <p:cNvSpPr/>
          <p:nvPr/>
        </p:nvSpPr>
        <p:spPr>
          <a:xfrm>
            <a:off x="911551" y="5811140"/>
            <a:ext cx="3475290" cy="303850"/>
          </a:xfrm>
          <a:prstGeom prst="rect">
            <a:avLst/>
          </a:prstGeom>
          <a:noFill/>
        </p:spPr>
        <p:txBody>
          <a:bodyPr wrap="square" lIns="0" tIns="0" rIns="0" bIns="0" rtlCol="0" anchor="ctr"/>
          <a:lstStyle/>
          <a:p>
            <a:pPr>
              <a:lnSpc>
                <a:spcPct val="110000"/>
              </a:lnSpc>
            </a:pPr>
            <a:r>
              <a:rPr lang="en-US" sz="179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25 </a:t>
            </a:r>
            <a:r>
              <a:rPr lang="en-US" sz="1345" b="1" dirty="0">
                <a:solidFill>
                  <a:srgbClr val="78828A"/>
                </a:solidFill>
                <a:latin typeface="Quattrocento Sans" panose="020B0502050000020003" pitchFamily="34" charset="0"/>
                <a:ea typeface="Quattrocento Sans" panose="020B0502050000020003" pitchFamily="34" charset="-122"/>
                <a:cs typeface="Quattrocento Sans" panose="020B0502050000020003" pitchFamily="34" charset="-120"/>
              </a:rPr>
              <a:t>M RMB</a:t>
            </a:r>
            <a:endParaRPr lang="en-US" sz="1600" dirty="0"/>
          </a:p>
        </p:txBody>
      </p:sp>
      <p:sp>
        <p:nvSpPr>
          <p:cNvPr id="30" name="Text 28"/>
          <p:cNvSpPr/>
          <p:nvPr/>
        </p:nvSpPr>
        <p:spPr>
          <a:xfrm>
            <a:off x="4420223" y="5716187"/>
            <a:ext cx="341832" cy="265869"/>
          </a:xfrm>
          <a:prstGeom prst="rect">
            <a:avLst/>
          </a:prstGeom>
          <a:noFill/>
        </p:spPr>
        <p:txBody>
          <a:bodyPr wrap="square" lIns="0" tIns="0" rIns="0" bIns="0" rtlCol="0" anchor="ctr"/>
          <a:lstStyle/>
          <a:p>
            <a:pPr>
              <a:lnSpc>
                <a:spcPct val="120000"/>
              </a:lnSpc>
            </a:pPr>
            <a:r>
              <a:rPr lang="en-US" sz="1495"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7%</a:t>
            </a:r>
            <a:endParaRPr lang="en-US" sz="1600" dirty="0"/>
          </a:p>
        </p:txBody>
      </p:sp>
      <p:sp>
        <p:nvSpPr>
          <p:cNvPr id="31" name="Shape 29"/>
          <p:cNvSpPr/>
          <p:nvPr/>
        </p:nvSpPr>
        <p:spPr>
          <a:xfrm>
            <a:off x="5046915" y="1220150"/>
            <a:ext cx="6760673" cy="5042019"/>
          </a:xfrm>
          <a:custGeom>
            <a:avLst/>
            <a:gdLst/>
            <a:ahLst/>
            <a:cxnLst/>
            <a:rect l="l" t="t" r="r" b="b"/>
            <a:pathLst>
              <a:path w="6760673" h="5042019">
                <a:moveTo>
                  <a:pt x="75983" y="0"/>
                </a:moveTo>
                <a:lnTo>
                  <a:pt x="6684690" y="0"/>
                </a:lnTo>
                <a:cubicBezTo>
                  <a:pt x="6726654" y="0"/>
                  <a:pt x="6760673" y="34019"/>
                  <a:pt x="6760673" y="75983"/>
                </a:cubicBezTo>
                <a:lnTo>
                  <a:pt x="6760673" y="4966035"/>
                </a:lnTo>
                <a:cubicBezTo>
                  <a:pt x="6760673" y="5008000"/>
                  <a:pt x="6726654" y="5042019"/>
                  <a:pt x="6684690" y="5042019"/>
                </a:cubicBezTo>
                <a:lnTo>
                  <a:pt x="75983" y="5042019"/>
                </a:lnTo>
                <a:cubicBezTo>
                  <a:pt x="34019" y="5042019"/>
                  <a:pt x="0" y="5008000"/>
                  <a:pt x="0" y="4966035"/>
                </a:cubicBezTo>
                <a:lnTo>
                  <a:pt x="0" y="75983"/>
                </a:lnTo>
                <a:cubicBezTo>
                  <a:pt x="0" y="34019"/>
                  <a:pt x="34019" y="0"/>
                  <a:pt x="75983" y="0"/>
                </a:cubicBezTo>
                <a:close/>
              </a:path>
            </a:pathLst>
          </a:custGeom>
          <a:solidFill>
            <a:srgbClr val="4A5C6A">
              <a:alpha val="10196"/>
            </a:srgbClr>
          </a:solidFill>
          <a:ln w="12700">
            <a:solidFill>
              <a:srgbClr val="4A5C6A">
                <a:alpha val="30196"/>
              </a:srgbClr>
            </a:solidFill>
            <a:prstDash val="solid"/>
          </a:ln>
        </p:spPr>
      </p:sp>
      <p:sp>
        <p:nvSpPr>
          <p:cNvPr id="32" name="Text 30"/>
          <p:cNvSpPr/>
          <p:nvPr/>
        </p:nvSpPr>
        <p:spPr>
          <a:xfrm>
            <a:off x="5194092" y="1414804"/>
            <a:ext cx="6466318" cy="265869"/>
          </a:xfrm>
          <a:prstGeom prst="rect">
            <a:avLst/>
          </a:prstGeom>
          <a:noFill/>
        </p:spPr>
        <p:txBody>
          <a:bodyPr wrap="square" lIns="0" tIns="0" rIns="0" bIns="0" rtlCol="0" anchor="ctr"/>
          <a:lstStyle/>
          <a:p>
            <a:pPr algn="ctr">
              <a:lnSpc>
                <a:spcPct val="120000"/>
              </a:lnSpc>
            </a:pPr>
            <a:r>
              <a:rPr lang="en-US" sz="149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Revenue Breakdown by Segment</a:t>
            </a:r>
            <a:endParaRPr lang="en-US" sz="1600" dirty="0"/>
          </a:p>
        </p:txBody>
      </p:sp>
      <p:pic>
        <p:nvPicPr>
          <p:cNvPr id="33" name="Image 0" descr="https://kimi-img.moonshot.cn/pub/slides/26-03-22-16:22:39-d6vqdjuqvl77079kcjr0.png"/>
          <p:cNvPicPr>
            <a:picLocks noChangeAspect="1"/>
          </p:cNvPicPr>
          <p:nvPr/>
        </p:nvPicPr>
        <p:blipFill>
          <a:blip r:embed="rId1"/>
          <a:srcRect/>
          <a:stretch>
            <a:fillRect/>
          </a:stretch>
        </p:blipFill>
        <p:spPr>
          <a:xfrm>
            <a:off x="5241569" y="1756636"/>
            <a:ext cx="6342879" cy="4310879"/>
          </a:xfrm>
          <a:prstGeom prst="roundRect">
            <a:avLst>
              <a:gd name="adj" fmla="val 0"/>
            </a:avLst>
          </a:prstGeom>
        </p:spPr>
      </p:pic>
      <p:sp>
        <p:nvSpPr>
          <p:cNvPr id="34" name="Shape 31"/>
          <p:cNvSpPr/>
          <p:nvPr/>
        </p:nvSpPr>
        <p:spPr>
          <a:xfrm>
            <a:off x="384561" y="6385607"/>
            <a:ext cx="11422879" cy="465271"/>
          </a:xfrm>
          <a:custGeom>
            <a:avLst/>
            <a:gdLst/>
            <a:ahLst/>
            <a:cxnLst/>
            <a:rect l="l" t="t" r="r" b="b"/>
            <a:pathLst>
              <a:path w="11422879" h="465271">
                <a:moveTo>
                  <a:pt x="75965" y="0"/>
                </a:moveTo>
                <a:lnTo>
                  <a:pt x="11346914" y="0"/>
                </a:lnTo>
                <a:cubicBezTo>
                  <a:pt x="11388868" y="0"/>
                  <a:pt x="11422879" y="34011"/>
                  <a:pt x="11422879" y="75965"/>
                </a:cubicBezTo>
                <a:lnTo>
                  <a:pt x="11422879" y="389306"/>
                </a:lnTo>
                <a:cubicBezTo>
                  <a:pt x="11422879" y="431260"/>
                  <a:pt x="11388868" y="465271"/>
                  <a:pt x="11346914" y="465271"/>
                </a:cubicBezTo>
                <a:lnTo>
                  <a:pt x="75965" y="465271"/>
                </a:lnTo>
                <a:cubicBezTo>
                  <a:pt x="34039" y="465271"/>
                  <a:pt x="0" y="431232"/>
                  <a:pt x="0" y="389306"/>
                </a:cubicBezTo>
                <a:lnTo>
                  <a:pt x="0" y="75965"/>
                </a:lnTo>
                <a:cubicBezTo>
                  <a:pt x="0" y="34039"/>
                  <a:pt x="34039" y="0"/>
                  <a:pt x="75965" y="0"/>
                </a:cubicBezTo>
                <a:close/>
              </a:path>
            </a:pathLst>
          </a:custGeom>
          <a:solidFill>
            <a:srgbClr val="B89A6A">
              <a:alpha val="10196"/>
            </a:srgbClr>
          </a:solidFill>
          <a:ln w="12700">
            <a:solidFill>
              <a:srgbClr val="B89A6A">
                <a:alpha val="30196"/>
              </a:srgbClr>
            </a:solidFill>
            <a:prstDash val="solid"/>
          </a:ln>
        </p:spPr>
      </p:sp>
      <p:sp>
        <p:nvSpPr>
          <p:cNvPr id="35" name="Shape 32"/>
          <p:cNvSpPr/>
          <p:nvPr/>
        </p:nvSpPr>
        <p:spPr>
          <a:xfrm>
            <a:off x="564972" y="6532785"/>
            <a:ext cx="170916" cy="170916"/>
          </a:xfrm>
          <a:custGeom>
            <a:avLst/>
            <a:gdLst/>
            <a:ahLst/>
            <a:cxnLst/>
            <a:rect l="l" t="t" r="r" b="b"/>
            <a:pathLst>
              <a:path w="170916" h="170916">
                <a:moveTo>
                  <a:pt x="85458" y="170916"/>
                </a:moveTo>
                <a:cubicBezTo>
                  <a:pt x="132623" y="170916"/>
                  <a:pt x="170916" y="132623"/>
                  <a:pt x="170916" y="85458"/>
                </a:cubicBezTo>
                <a:cubicBezTo>
                  <a:pt x="170916" y="38292"/>
                  <a:pt x="132623" y="0"/>
                  <a:pt x="85458" y="0"/>
                </a:cubicBezTo>
                <a:cubicBezTo>
                  <a:pt x="38292" y="0"/>
                  <a:pt x="0" y="38292"/>
                  <a:pt x="0" y="85458"/>
                </a:cubicBezTo>
                <a:cubicBezTo>
                  <a:pt x="0" y="132623"/>
                  <a:pt x="38292" y="170916"/>
                  <a:pt x="85458" y="170916"/>
                </a:cubicBezTo>
                <a:close/>
                <a:moveTo>
                  <a:pt x="74776" y="53411"/>
                </a:moveTo>
                <a:cubicBezTo>
                  <a:pt x="74776" y="47516"/>
                  <a:pt x="79562" y="42729"/>
                  <a:pt x="85458" y="42729"/>
                </a:cubicBezTo>
                <a:cubicBezTo>
                  <a:pt x="91354" y="42729"/>
                  <a:pt x="96140" y="47516"/>
                  <a:pt x="96140" y="53411"/>
                </a:cubicBezTo>
                <a:cubicBezTo>
                  <a:pt x="96140" y="59307"/>
                  <a:pt x="91354" y="64093"/>
                  <a:pt x="85458" y="64093"/>
                </a:cubicBezTo>
                <a:cubicBezTo>
                  <a:pt x="79562" y="64093"/>
                  <a:pt x="74776" y="59307"/>
                  <a:pt x="74776" y="53411"/>
                </a:cubicBezTo>
                <a:close/>
                <a:moveTo>
                  <a:pt x="72105" y="74776"/>
                </a:moveTo>
                <a:lnTo>
                  <a:pt x="88129" y="74776"/>
                </a:lnTo>
                <a:cubicBezTo>
                  <a:pt x="92568" y="74776"/>
                  <a:pt x="96140" y="78348"/>
                  <a:pt x="96140" y="82787"/>
                </a:cubicBezTo>
                <a:lnTo>
                  <a:pt x="96140" y="112164"/>
                </a:lnTo>
                <a:lnTo>
                  <a:pt x="98811" y="112164"/>
                </a:lnTo>
                <a:cubicBezTo>
                  <a:pt x="103251" y="112164"/>
                  <a:pt x="106822" y="115735"/>
                  <a:pt x="106822" y="120175"/>
                </a:cubicBezTo>
                <a:cubicBezTo>
                  <a:pt x="106822" y="124615"/>
                  <a:pt x="103251" y="128187"/>
                  <a:pt x="98811" y="128187"/>
                </a:cubicBezTo>
                <a:lnTo>
                  <a:pt x="72105" y="128187"/>
                </a:lnTo>
                <a:cubicBezTo>
                  <a:pt x="67665" y="128187"/>
                  <a:pt x="64093" y="124615"/>
                  <a:pt x="64093" y="120175"/>
                </a:cubicBezTo>
                <a:cubicBezTo>
                  <a:pt x="64093" y="115735"/>
                  <a:pt x="67665" y="112164"/>
                  <a:pt x="72105" y="112164"/>
                </a:cubicBezTo>
                <a:lnTo>
                  <a:pt x="80117" y="112164"/>
                </a:lnTo>
                <a:lnTo>
                  <a:pt x="80117" y="90799"/>
                </a:lnTo>
                <a:lnTo>
                  <a:pt x="72105" y="90799"/>
                </a:lnTo>
                <a:cubicBezTo>
                  <a:pt x="67665" y="90799"/>
                  <a:pt x="64093" y="87227"/>
                  <a:pt x="64093" y="82787"/>
                </a:cubicBezTo>
                <a:cubicBezTo>
                  <a:pt x="64093" y="78348"/>
                  <a:pt x="67665" y="74776"/>
                  <a:pt x="72105" y="74776"/>
                </a:cubicBezTo>
                <a:close/>
              </a:path>
            </a:pathLst>
          </a:custGeom>
          <a:solidFill>
            <a:srgbClr val="B89A6A"/>
          </a:solidFill>
        </p:spPr>
      </p:sp>
      <p:sp>
        <p:nvSpPr>
          <p:cNvPr id="36" name="Text 33"/>
          <p:cNvSpPr/>
          <p:nvPr/>
        </p:nvSpPr>
        <p:spPr>
          <a:xfrm>
            <a:off x="868822" y="6504299"/>
            <a:ext cx="5032523" cy="227888"/>
          </a:xfrm>
          <a:prstGeom prst="rect">
            <a:avLst/>
          </a:prstGeom>
          <a:noFill/>
        </p:spPr>
        <p:txBody>
          <a:bodyPr wrap="square" lIns="0" tIns="0" rIns="0" bIns="0" rtlCol="0" anchor="ctr"/>
          <a:lstStyle/>
          <a:p>
            <a:pPr>
              <a:lnSpc>
                <a:spcPct val="130000"/>
              </a:lnSpc>
            </a:pPr>
            <a:r>
              <a:rPr lang="en-US" sz="1195" b="1" dirty="0">
                <a:solidFill>
                  <a:srgbClr val="E0E2E5"/>
                </a:solidFill>
                <a:latin typeface="Liter" panose="02000503030000020004" pitchFamily="34" charset="0"/>
                <a:ea typeface="Liter" panose="02000503030000020004" pitchFamily="34" charset="-122"/>
                <a:cs typeface="Liter" panose="02000503030000020004" pitchFamily="34" charset="-120"/>
              </a:rPr>
              <a:t>Note:</a:t>
            </a:r>
            <a:r>
              <a:rPr lang="en-US" sz="1195" dirty="0">
                <a:solidFill>
                  <a:srgbClr val="78828A"/>
                </a:solidFill>
                <a:latin typeface="Liter" panose="02000503030000020004" pitchFamily="34" charset="0"/>
                <a:ea typeface="Liter" panose="02000503030000020004" pitchFamily="34" charset="-122"/>
                <a:cs typeface="Liter" panose="02000503030000020004" pitchFamily="34" charset="-120"/>
              </a:rPr>
              <a:t> Pre-audit figures subject to adjustment during Big Four audit process</a:t>
            </a:r>
            <a:endParaRPr lang="en-US" sz="1600" dirty="0"/>
          </a:p>
        </p:txBody>
      </p:sp>
      <p:sp>
        <p:nvSpPr>
          <p:cNvPr id="37" name="Text 34"/>
          <p:cNvSpPr/>
          <p:nvPr/>
        </p:nvSpPr>
        <p:spPr>
          <a:xfrm>
            <a:off x="9616467" y="6504299"/>
            <a:ext cx="2107963" cy="227888"/>
          </a:xfrm>
          <a:prstGeom prst="rect">
            <a:avLst/>
          </a:prstGeom>
          <a:noFill/>
        </p:spPr>
        <p:txBody>
          <a:bodyPr wrap="square" lIns="0" tIns="0" rIns="0" bIns="0" rtlCol="0" anchor="ctr"/>
          <a:lstStyle/>
          <a:p>
            <a:pPr>
              <a:lnSpc>
                <a:spcPct val="130000"/>
              </a:lnSpc>
            </a:pPr>
            <a:r>
              <a:rPr lang="en-US" sz="1195" dirty="0">
                <a:solidFill>
                  <a:srgbClr val="78828A"/>
                </a:solidFill>
                <a:latin typeface="Liter" panose="02000503030000020004" pitchFamily="34" charset="0"/>
                <a:ea typeface="Liter" panose="02000503030000020004" pitchFamily="34" charset="-122"/>
                <a:cs typeface="Liter" panose="02000503030000020004" pitchFamily="34" charset="-120"/>
              </a:rPr>
              <a:t>Last Updated: March 22, 2026</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sp>
        <p:nvSpPr>
          <p:cNvPr id="2" name="Shape 0"/>
          <p:cNvSpPr/>
          <p:nvPr/>
        </p:nvSpPr>
        <p:spPr>
          <a:xfrm>
            <a:off x="381000" y="457200"/>
            <a:ext cx="57150" cy="457200"/>
          </a:xfrm>
          <a:custGeom>
            <a:avLst/>
            <a:gdLst/>
            <a:ahLst/>
            <a:cxnLst/>
            <a:rect l="l" t="t" r="r" b="b"/>
            <a:pathLst>
              <a:path w="57150" h="457200">
                <a:moveTo>
                  <a:pt x="0" y="0"/>
                </a:moveTo>
                <a:lnTo>
                  <a:pt x="57150" y="0"/>
                </a:lnTo>
                <a:lnTo>
                  <a:pt x="57150" y="457200"/>
                </a:lnTo>
                <a:lnTo>
                  <a:pt x="0" y="457200"/>
                </a:lnTo>
                <a:lnTo>
                  <a:pt x="0" y="0"/>
                </a:lnTo>
                <a:close/>
              </a:path>
            </a:pathLst>
          </a:custGeom>
          <a:solidFill>
            <a:srgbClr val="B89A6A"/>
          </a:solidFill>
        </p:spPr>
      </p:sp>
      <p:sp>
        <p:nvSpPr>
          <p:cNvPr id="3" name="Text 1"/>
          <p:cNvSpPr/>
          <p:nvPr/>
        </p:nvSpPr>
        <p:spPr>
          <a:xfrm>
            <a:off x="552450" y="381000"/>
            <a:ext cx="3333750" cy="228600"/>
          </a:xfrm>
          <a:prstGeom prst="rect">
            <a:avLst/>
          </a:prstGeom>
          <a:noFill/>
        </p:spPr>
        <p:txBody>
          <a:bodyPr wrap="square" lIns="0" tIns="0" rIns="0" bIns="0" rtlCol="0" anchor="ctr"/>
          <a:lstStyle/>
          <a:p>
            <a:pPr>
              <a:lnSpc>
                <a:spcPct val="130000"/>
              </a:lnSpc>
            </a:pPr>
            <a:r>
              <a:rPr lang="en-US" sz="1200" b="1" kern="0" spc="60" dirty="0">
                <a:solidFill>
                  <a:srgbClr val="B89A6A"/>
                </a:solidFill>
                <a:latin typeface="Liter" panose="02000503030000020004" pitchFamily="34" charset="0"/>
                <a:ea typeface="Liter" panose="02000503030000020004" pitchFamily="34" charset="-122"/>
                <a:cs typeface="Liter" panose="02000503030000020004" pitchFamily="34" charset="-120"/>
              </a:rPr>
              <a:t>COST ANALYSIS</a:t>
            </a:r>
            <a:endParaRPr lang="en-US" sz="1600" dirty="0"/>
          </a:p>
        </p:txBody>
      </p:sp>
      <p:sp>
        <p:nvSpPr>
          <p:cNvPr id="4" name="Text 2"/>
          <p:cNvSpPr/>
          <p:nvPr/>
        </p:nvSpPr>
        <p:spPr>
          <a:xfrm>
            <a:off x="552450" y="609600"/>
            <a:ext cx="3429000" cy="381000"/>
          </a:xfrm>
          <a:prstGeom prst="rect">
            <a:avLst/>
          </a:prstGeom>
          <a:noFill/>
        </p:spPr>
        <p:txBody>
          <a:bodyPr wrap="square" lIns="0" tIns="0" rIns="0" bIns="0" rtlCol="0" anchor="ctr"/>
          <a:lstStyle/>
          <a:p>
            <a:pPr>
              <a:lnSpc>
                <a:spcPct val="90000"/>
              </a:lnSpc>
            </a:pPr>
            <a:r>
              <a:rPr lang="en-US" sz="27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COGS &amp; Gross Margin</a:t>
            </a:r>
            <a:endParaRPr lang="en-US" sz="1600" dirty="0"/>
          </a:p>
        </p:txBody>
      </p:sp>
      <p:sp>
        <p:nvSpPr>
          <p:cNvPr id="5" name="Shape 3"/>
          <p:cNvSpPr/>
          <p:nvPr/>
        </p:nvSpPr>
        <p:spPr>
          <a:xfrm>
            <a:off x="385763" y="1223963"/>
            <a:ext cx="3695700" cy="1381125"/>
          </a:xfrm>
          <a:custGeom>
            <a:avLst/>
            <a:gdLst/>
            <a:ahLst/>
            <a:cxnLst/>
            <a:rect l="l" t="t" r="r" b="b"/>
            <a:pathLst>
              <a:path w="3695700" h="1381125">
                <a:moveTo>
                  <a:pt x="76197" y="0"/>
                </a:moveTo>
                <a:lnTo>
                  <a:pt x="3619503" y="0"/>
                </a:lnTo>
                <a:cubicBezTo>
                  <a:pt x="3661586" y="0"/>
                  <a:pt x="3695700" y="34114"/>
                  <a:pt x="3695700" y="76197"/>
                </a:cubicBezTo>
                <a:lnTo>
                  <a:pt x="3695700" y="1304928"/>
                </a:lnTo>
                <a:cubicBezTo>
                  <a:pt x="3695700" y="1347011"/>
                  <a:pt x="3661586" y="1381125"/>
                  <a:pt x="3619503" y="1381125"/>
                </a:cubicBezTo>
                <a:lnTo>
                  <a:pt x="76197" y="1381125"/>
                </a:lnTo>
                <a:cubicBezTo>
                  <a:pt x="34114" y="1381125"/>
                  <a:pt x="0" y="1347011"/>
                  <a:pt x="0" y="1304928"/>
                </a:cubicBezTo>
                <a:lnTo>
                  <a:pt x="0" y="76197"/>
                </a:lnTo>
                <a:cubicBezTo>
                  <a:pt x="0" y="34114"/>
                  <a:pt x="34114" y="0"/>
                  <a:pt x="76197" y="0"/>
                </a:cubicBezTo>
                <a:close/>
              </a:path>
            </a:pathLst>
          </a:custGeom>
          <a:solidFill>
            <a:srgbClr val="4A5C6A">
              <a:alpha val="20000"/>
            </a:srgbClr>
          </a:solidFill>
          <a:ln w="12700">
            <a:solidFill>
              <a:srgbClr val="4A5C6A">
                <a:alpha val="30196"/>
              </a:srgbClr>
            </a:solidFill>
            <a:prstDash val="solid"/>
          </a:ln>
        </p:spPr>
      </p:sp>
      <p:sp>
        <p:nvSpPr>
          <p:cNvPr id="6" name="Shape 4"/>
          <p:cNvSpPr/>
          <p:nvPr/>
        </p:nvSpPr>
        <p:spPr>
          <a:xfrm>
            <a:off x="581025" y="147637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B89A6A">
              <a:alpha val="20000"/>
            </a:srgbClr>
          </a:solidFill>
        </p:spPr>
      </p:sp>
      <p:sp>
        <p:nvSpPr>
          <p:cNvPr id="7" name="Shape 5"/>
          <p:cNvSpPr/>
          <p:nvPr/>
        </p:nvSpPr>
        <p:spPr>
          <a:xfrm>
            <a:off x="726281" y="1609725"/>
            <a:ext cx="166688" cy="190500"/>
          </a:xfrm>
          <a:custGeom>
            <a:avLst/>
            <a:gdLst/>
            <a:ahLst/>
            <a:cxnLst/>
            <a:rect l="l" t="t" r="r" b="b"/>
            <a:pathLst>
              <a:path w="166688" h="190500">
                <a:moveTo>
                  <a:pt x="71438" y="47625"/>
                </a:moveTo>
                <a:cubicBezTo>
                  <a:pt x="71438" y="27911"/>
                  <a:pt x="55432" y="11906"/>
                  <a:pt x="35719" y="11906"/>
                </a:cubicBezTo>
                <a:cubicBezTo>
                  <a:pt x="16005" y="11906"/>
                  <a:pt x="0" y="27911"/>
                  <a:pt x="0" y="47625"/>
                </a:cubicBezTo>
                <a:cubicBezTo>
                  <a:pt x="0" y="67339"/>
                  <a:pt x="16005" y="83344"/>
                  <a:pt x="35719" y="83344"/>
                </a:cubicBezTo>
                <a:cubicBezTo>
                  <a:pt x="55432" y="83344"/>
                  <a:pt x="71438" y="67339"/>
                  <a:pt x="71438" y="47625"/>
                </a:cubicBezTo>
                <a:close/>
                <a:moveTo>
                  <a:pt x="166688" y="142875"/>
                </a:moveTo>
                <a:cubicBezTo>
                  <a:pt x="166688" y="123161"/>
                  <a:pt x="150682" y="107156"/>
                  <a:pt x="130969" y="107156"/>
                </a:cubicBezTo>
                <a:cubicBezTo>
                  <a:pt x="111255" y="107156"/>
                  <a:pt x="95250" y="123161"/>
                  <a:pt x="95250" y="142875"/>
                </a:cubicBezTo>
                <a:cubicBezTo>
                  <a:pt x="95250" y="162589"/>
                  <a:pt x="111255" y="178594"/>
                  <a:pt x="130969" y="178594"/>
                </a:cubicBezTo>
                <a:cubicBezTo>
                  <a:pt x="150682" y="178594"/>
                  <a:pt x="166688" y="162589"/>
                  <a:pt x="166688" y="142875"/>
                </a:cubicBezTo>
                <a:close/>
                <a:moveTo>
                  <a:pt x="163190" y="32221"/>
                </a:moveTo>
                <a:cubicBezTo>
                  <a:pt x="167841" y="27570"/>
                  <a:pt x="167841" y="20017"/>
                  <a:pt x="163190" y="15367"/>
                </a:cubicBezTo>
                <a:cubicBezTo>
                  <a:pt x="158539" y="10716"/>
                  <a:pt x="150986" y="10716"/>
                  <a:pt x="146335" y="15367"/>
                </a:cubicBezTo>
                <a:lnTo>
                  <a:pt x="3460" y="158242"/>
                </a:lnTo>
                <a:cubicBezTo>
                  <a:pt x="-1191" y="162892"/>
                  <a:pt x="-1191" y="170445"/>
                  <a:pt x="3460" y="175096"/>
                </a:cubicBezTo>
                <a:cubicBezTo>
                  <a:pt x="8111" y="179747"/>
                  <a:pt x="15664" y="179747"/>
                  <a:pt x="20315" y="175096"/>
                </a:cubicBezTo>
                <a:lnTo>
                  <a:pt x="163190" y="32221"/>
                </a:lnTo>
                <a:close/>
              </a:path>
            </a:pathLst>
          </a:custGeom>
          <a:solidFill>
            <a:srgbClr val="B89A6A"/>
          </a:solidFill>
        </p:spPr>
      </p:sp>
      <p:sp>
        <p:nvSpPr>
          <p:cNvPr id="8" name="Text 6"/>
          <p:cNvSpPr/>
          <p:nvPr/>
        </p:nvSpPr>
        <p:spPr>
          <a:xfrm>
            <a:off x="1152525" y="1419225"/>
            <a:ext cx="84772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Gross Margin</a:t>
            </a:r>
            <a:endParaRPr lang="en-US" sz="1600" dirty="0"/>
          </a:p>
        </p:txBody>
      </p:sp>
      <p:sp>
        <p:nvSpPr>
          <p:cNvPr id="9" name="Text 7"/>
          <p:cNvSpPr/>
          <p:nvPr/>
        </p:nvSpPr>
        <p:spPr>
          <a:xfrm>
            <a:off x="1152525" y="1609725"/>
            <a:ext cx="952500" cy="381000"/>
          </a:xfrm>
          <a:prstGeom prst="rect">
            <a:avLst/>
          </a:prstGeom>
          <a:noFill/>
        </p:spPr>
        <p:txBody>
          <a:bodyPr wrap="square" lIns="0" tIns="0" rIns="0" bIns="0" rtlCol="0" anchor="ctr"/>
          <a:lstStyle/>
          <a:p>
            <a:pPr>
              <a:lnSpc>
                <a:spcPct val="90000"/>
              </a:lnSpc>
            </a:pPr>
            <a:r>
              <a:rPr lang="en-US" sz="2700"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72%</a:t>
            </a:r>
            <a:endParaRPr lang="en-US" sz="1600" dirty="0"/>
          </a:p>
        </p:txBody>
      </p:sp>
      <p:sp>
        <p:nvSpPr>
          <p:cNvPr id="10" name="Shape 8"/>
          <p:cNvSpPr/>
          <p:nvPr/>
        </p:nvSpPr>
        <p:spPr>
          <a:xfrm>
            <a:off x="600075" y="222885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B89A6A"/>
          </a:solidFill>
        </p:spPr>
      </p:sp>
      <p:sp>
        <p:nvSpPr>
          <p:cNvPr id="11" name="Text 9"/>
          <p:cNvSpPr/>
          <p:nvPr/>
        </p:nvSpPr>
        <p:spPr>
          <a:xfrm>
            <a:off x="823913" y="2181225"/>
            <a:ext cx="1628775"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Stabilized performance</a:t>
            </a:r>
            <a:endParaRPr lang="en-US" sz="1600" dirty="0"/>
          </a:p>
        </p:txBody>
      </p:sp>
      <p:sp>
        <p:nvSpPr>
          <p:cNvPr id="12" name="Shape 10"/>
          <p:cNvSpPr/>
          <p:nvPr/>
        </p:nvSpPr>
        <p:spPr>
          <a:xfrm>
            <a:off x="4246513" y="1223963"/>
            <a:ext cx="3695700" cy="1381125"/>
          </a:xfrm>
          <a:custGeom>
            <a:avLst/>
            <a:gdLst/>
            <a:ahLst/>
            <a:cxnLst/>
            <a:rect l="l" t="t" r="r" b="b"/>
            <a:pathLst>
              <a:path w="3695700" h="1381125">
                <a:moveTo>
                  <a:pt x="76197" y="0"/>
                </a:moveTo>
                <a:lnTo>
                  <a:pt x="3619503" y="0"/>
                </a:lnTo>
                <a:cubicBezTo>
                  <a:pt x="3661586" y="0"/>
                  <a:pt x="3695700" y="34114"/>
                  <a:pt x="3695700" y="76197"/>
                </a:cubicBezTo>
                <a:lnTo>
                  <a:pt x="3695700" y="1304928"/>
                </a:lnTo>
                <a:cubicBezTo>
                  <a:pt x="3695700" y="1347011"/>
                  <a:pt x="3661586" y="1381125"/>
                  <a:pt x="3619503" y="1381125"/>
                </a:cubicBezTo>
                <a:lnTo>
                  <a:pt x="76197" y="1381125"/>
                </a:lnTo>
                <a:cubicBezTo>
                  <a:pt x="34114" y="1381125"/>
                  <a:pt x="0" y="1347011"/>
                  <a:pt x="0" y="1304928"/>
                </a:cubicBezTo>
                <a:lnTo>
                  <a:pt x="0" y="76197"/>
                </a:lnTo>
                <a:cubicBezTo>
                  <a:pt x="0" y="34114"/>
                  <a:pt x="34114" y="0"/>
                  <a:pt x="76197" y="0"/>
                </a:cubicBezTo>
                <a:close/>
              </a:path>
            </a:pathLst>
          </a:custGeom>
          <a:solidFill>
            <a:srgbClr val="4A5C6A">
              <a:alpha val="20000"/>
            </a:srgbClr>
          </a:solidFill>
          <a:ln w="12700">
            <a:solidFill>
              <a:srgbClr val="4A5C6A">
                <a:alpha val="30196"/>
              </a:srgbClr>
            </a:solidFill>
            <a:prstDash val="solid"/>
          </a:ln>
        </p:spPr>
      </p:sp>
      <p:sp>
        <p:nvSpPr>
          <p:cNvPr id="13" name="Shape 11"/>
          <p:cNvSpPr/>
          <p:nvPr/>
        </p:nvSpPr>
        <p:spPr>
          <a:xfrm>
            <a:off x="4441775" y="147637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A5C6A">
              <a:alpha val="40000"/>
            </a:srgbClr>
          </a:solidFill>
        </p:spPr>
      </p:sp>
      <p:sp>
        <p:nvSpPr>
          <p:cNvPr id="14" name="Shape 12"/>
          <p:cNvSpPr/>
          <p:nvPr/>
        </p:nvSpPr>
        <p:spPr>
          <a:xfrm>
            <a:off x="4563219" y="1609725"/>
            <a:ext cx="214313" cy="190500"/>
          </a:xfrm>
          <a:custGeom>
            <a:avLst/>
            <a:gdLst/>
            <a:ahLst/>
            <a:cxnLst/>
            <a:rect l="l" t="t" r="r" b="b"/>
            <a:pathLst>
              <a:path w="214313" h="190500">
                <a:moveTo>
                  <a:pt x="0" y="125016"/>
                </a:moveTo>
                <a:cubicBezTo>
                  <a:pt x="0" y="154595"/>
                  <a:pt x="23999" y="178594"/>
                  <a:pt x="53578" y="178594"/>
                </a:cubicBezTo>
                <a:lnTo>
                  <a:pt x="166688" y="178594"/>
                </a:lnTo>
                <a:cubicBezTo>
                  <a:pt x="192993" y="178594"/>
                  <a:pt x="214313" y="157274"/>
                  <a:pt x="214313" y="130969"/>
                </a:cubicBezTo>
                <a:cubicBezTo>
                  <a:pt x="214313" y="111770"/>
                  <a:pt x="202964" y="95213"/>
                  <a:pt x="186593" y="87697"/>
                </a:cubicBezTo>
                <a:cubicBezTo>
                  <a:pt x="189086" y="82823"/>
                  <a:pt x="190500" y="77279"/>
                  <a:pt x="190500" y="71438"/>
                </a:cubicBezTo>
                <a:cubicBezTo>
                  <a:pt x="190500" y="51718"/>
                  <a:pt x="174501" y="35719"/>
                  <a:pt x="154781" y="35719"/>
                </a:cubicBezTo>
                <a:cubicBezTo>
                  <a:pt x="148196" y="35719"/>
                  <a:pt x="142056" y="37505"/>
                  <a:pt x="136773" y="40593"/>
                </a:cubicBezTo>
                <a:cubicBezTo>
                  <a:pt x="127806" y="23552"/>
                  <a:pt x="109910" y="11906"/>
                  <a:pt x="89297" y="11906"/>
                </a:cubicBezTo>
                <a:cubicBezTo>
                  <a:pt x="59717" y="11906"/>
                  <a:pt x="35719" y="35905"/>
                  <a:pt x="35719" y="65484"/>
                </a:cubicBezTo>
                <a:cubicBezTo>
                  <a:pt x="35719" y="68461"/>
                  <a:pt x="35979" y="71400"/>
                  <a:pt x="36426" y="74228"/>
                </a:cubicBezTo>
                <a:cubicBezTo>
                  <a:pt x="15255" y="81372"/>
                  <a:pt x="0" y="101426"/>
                  <a:pt x="0" y="125016"/>
                </a:cubicBezTo>
                <a:close/>
              </a:path>
            </a:pathLst>
          </a:custGeom>
          <a:solidFill>
            <a:srgbClr val="B89A6A"/>
          </a:solidFill>
        </p:spPr>
      </p:sp>
      <p:sp>
        <p:nvSpPr>
          <p:cNvPr id="15" name="Text 13"/>
          <p:cNvSpPr/>
          <p:nvPr/>
        </p:nvSpPr>
        <p:spPr>
          <a:xfrm>
            <a:off x="5013275" y="1457325"/>
            <a:ext cx="130492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Cloud Computing</a:t>
            </a:r>
            <a:endParaRPr lang="en-US" sz="1600" dirty="0"/>
          </a:p>
        </p:txBody>
      </p:sp>
      <p:sp>
        <p:nvSpPr>
          <p:cNvPr id="16" name="Text 14"/>
          <p:cNvSpPr/>
          <p:nvPr/>
        </p:nvSpPr>
        <p:spPr>
          <a:xfrm>
            <a:off x="5013275" y="1647825"/>
            <a:ext cx="1352550" cy="304800"/>
          </a:xfrm>
          <a:prstGeom prst="rect">
            <a:avLst/>
          </a:prstGeom>
          <a:noFill/>
        </p:spPr>
        <p:txBody>
          <a:bodyPr wrap="square" lIns="0" tIns="0" rIns="0" bIns="0" rtlCol="0" anchor="ctr"/>
          <a:lstStyle/>
          <a:p>
            <a:pPr>
              <a:lnSpc>
                <a:spcPct val="110000"/>
              </a:lnSpc>
            </a:pPr>
            <a:r>
              <a:rPr lang="en-US" sz="18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Over Budget</a:t>
            </a:r>
            <a:endParaRPr lang="en-US" sz="1600" dirty="0"/>
          </a:p>
        </p:txBody>
      </p:sp>
      <p:sp>
        <p:nvSpPr>
          <p:cNvPr id="17" name="Shape 15"/>
          <p:cNvSpPr/>
          <p:nvPr/>
        </p:nvSpPr>
        <p:spPr>
          <a:xfrm>
            <a:off x="4460825" y="2190750"/>
            <a:ext cx="133350" cy="133350"/>
          </a:xfrm>
          <a:custGeom>
            <a:avLst/>
            <a:gdLst/>
            <a:ahLst/>
            <a:cxnLst/>
            <a:rect l="l" t="t" r="r" b="b"/>
            <a:pathLst>
              <a:path w="133350" h="133350">
                <a:moveTo>
                  <a:pt x="66675" y="0"/>
                </a:moveTo>
                <a:cubicBezTo>
                  <a:pt x="70504" y="0"/>
                  <a:pt x="74020" y="2110"/>
                  <a:pt x="75843" y="5469"/>
                </a:cubicBezTo>
                <a:lnTo>
                  <a:pt x="132100" y="109649"/>
                </a:lnTo>
                <a:cubicBezTo>
                  <a:pt x="133845" y="112879"/>
                  <a:pt x="133767" y="116785"/>
                  <a:pt x="131891" y="119937"/>
                </a:cubicBezTo>
                <a:cubicBezTo>
                  <a:pt x="130016" y="123088"/>
                  <a:pt x="126604" y="125016"/>
                  <a:pt x="122932" y="125016"/>
                </a:cubicBezTo>
                <a:lnTo>
                  <a:pt x="10418" y="125016"/>
                </a:lnTo>
                <a:cubicBezTo>
                  <a:pt x="6746" y="125016"/>
                  <a:pt x="3360" y="123088"/>
                  <a:pt x="1459" y="119937"/>
                </a:cubicBezTo>
                <a:cubicBezTo>
                  <a:pt x="-443" y="116785"/>
                  <a:pt x="-495" y="112879"/>
                  <a:pt x="1250" y="109649"/>
                </a:cubicBezTo>
                <a:lnTo>
                  <a:pt x="57507" y="5469"/>
                </a:lnTo>
                <a:cubicBezTo>
                  <a:pt x="59330" y="2110"/>
                  <a:pt x="62846" y="0"/>
                  <a:pt x="66675" y="0"/>
                </a:cubicBezTo>
                <a:close/>
                <a:moveTo>
                  <a:pt x="66675" y="43755"/>
                </a:moveTo>
                <a:cubicBezTo>
                  <a:pt x="63211" y="43755"/>
                  <a:pt x="60424" y="46542"/>
                  <a:pt x="60424" y="50006"/>
                </a:cubicBezTo>
                <a:lnTo>
                  <a:pt x="60424" y="79177"/>
                </a:lnTo>
                <a:cubicBezTo>
                  <a:pt x="60424" y="82641"/>
                  <a:pt x="63211" y="85427"/>
                  <a:pt x="66675" y="85427"/>
                </a:cubicBezTo>
                <a:cubicBezTo>
                  <a:pt x="70139" y="85427"/>
                  <a:pt x="72926" y="82641"/>
                  <a:pt x="72926" y="79177"/>
                </a:cubicBezTo>
                <a:lnTo>
                  <a:pt x="72926" y="50006"/>
                </a:lnTo>
                <a:cubicBezTo>
                  <a:pt x="72926" y="46542"/>
                  <a:pt x="70139" y="43755"/>
                  <a:pt x="66675" y="43755"/>
                </a:cubicBezTo>
                <a:close/>
                <a:moveTo>
                  <a:pt x="73629" y="100013"/>
                </a:moveTo>
                <a:cubicBezTo>
                  <a:pt x="73787" y="97431"/>
                  <a:pt x="72500" y="94975"/>
                  <a:pt x="70287" y="93637"/>
                </a:cubicBezTo>
                <a:cubicBezTo>
                  <a:pt x="68074" y="92299"/>
                  <a:pt x="65302" y="92299"/>
                  <a:pt x="63089" y="93637"/>
                </a:cubicBezTo>
                <a:cubicBezTo>
                  <a:pt x="60876" y="94975"/>
                  <a:pt x="59589" y="97431"/>
                  <a:pt x="59747" y="100012"/>
                </a:cubicBezTo>
                <a:cubicBezTo>
                  <a:pt x="59589" y="102594"/>
                  <a:pt x="60876" y="105050"/>
                  <a:pt x="63089" y="106388"/>
                </a:cubicBezTo>
                <a:cubicBezTo>
                  <a:pt x="65302" y="107726"/>
                  <a:pt x="68074" y="107726"/>
                  <a:pt x="70287" y="106388"/>
                </a:cubicBezTo>
                <a:cubicBezTo>
                  <a:pt x="72500" y="105050"/>
                  <a:pt x="73787" y="102594"/>
                  <a:pt x="73629" y="100013"/>
                </a:cubicBezTo>
                <a:close/>
              </a:path>
            </a:pathLst>
          </a:custGeom>
          <a:solidFill>
            <a:srgbClr val="B89A6A"/>
          </a:solidFill>
        </p:spPr>
      </p:sp>
      <p:sp>
        <p:nvSpPr>
          <p:cNvPr id="18" name="Text 16"/>
          <p:cNvSpPr/>
          <p:nvPr/>
        </p:nvSpPr>
        <p:spPr>
          <a:xfrm>
            <a:off x="4684663" y="2143125"/>
            <a:ext cx="1028700"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+8.3% vs. plan</a:t>
            </a:r>
            <a:endParaRPr lang="en-US" sz="1600" dirty="0"/>
          </a:p>
        </p:txBody>
      </p:sp>
      <p:sp>
        <p:nvSpPr>
          <p:cNvPr id="19" name="Shape 17"/>
          <p:cNvSpPr/>
          <p:nvPr/>
        </p:nvSpPr>
        <p:spPr>
          <a:xfrm>
            <a:off x="8107338" y="1223963"/>
            <a:ext cx="3695700" cy="1381125"/>
          </a:xfrm>
          <a:custGeom>
            <a:avLst/>
            <a:gdLst/>
            <a:ahLst/>
            <a:cxnLst/>
            <a:rect l="l" t="t" r="r" b="b"/>
            <a:pathLst>
              <a:path w="3695700" h="1381125">
                <a:moveTo>
                  <a:pt x="76197" y="0"/>
                </a:moveTo>
                <a:lnTo>
                  <a:pt x="3619503" y="0"/>
                </a:lnTo>
                <a:cubicBezTo>
                  <a:pt x="3661586" y="0"/>
                  <a:pt x="3695700" y="34114"/>
                  <a:pt x="3695700" y="76197"/>
                </a:cubicBezTo>
                <a:lnTo>
                  <a:pt x="3695700" y="1304928"/>
                </a:lnTo>
                <a:cubicBezTo>
                  <a:pt x="3695700" y="1347011"/>
                  <a:pt x="3661586" y="1381125"/>
                  <a:pt x="3619503" y="1381125"/>
                </a:cubicBezTo>
                <a:lnTo>
                  <a:pt x="76197" y="1381125"/>
                </a:lnTo>
                <a:cubicBezTo>
                  <a:pt x="34114" y="1381125"/>
                  <a:pt x="0" y="1347011"/>
                  <a:pt x="0" y="1304928"/>
                </a:cubicBezTo>
                <a:lnTo>
                  <a:pt x="0" y="76197"/>
                </a:lnTo>
                <a:cubicBezTo>
                  <a:pt x="0" y="34114"/>
                  <a:pt x="34114" y="0"/>
                  <a:pt x="76197" y="0"/>
                </a:cubicBezTo>
                <a:close/>
              </a:path>
            </a:pathLst>
          </a:custGeom>
          <a:solidFill>
            <a:srgbClr val="4A5C6A">
              <a:alpha val="20000"/>
            </a:srgbClr>
          </a:solidFill>
          <a:ln w="12700">
            <a:solidFill>
              <a:srgbClr val="4A5C6A">
                <a:alpha val="30196"/>
              </a:srgbClr>
            </a:solidFill>
            <a:prstDash val="solid"/>
          </a:ln>
        </p:spPr>
      </p:sp>
      <p:sp>
        <p:nvSpPr>
          <p:cNvPr id="20" name="Shape 18"/>
          <p:cNvSpPr/>
          <p:nvPr/>
        </p:nvSpPr>
        <p:spPr>
          <a:xfrm>
            <a:off x="8302600" y="147637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A5C6A">
              <a:alpha val="40000"/>
            </a:srgbClr>
          </a:solidFill>
        </p:spPr>
      </p:sp>
      <p:sp>
        <p:nvSpPr>
          <p:cNvPr id="21" name="Shape 19"/>
          <p:cNvSpPr/>
          <p:nvPr/>
        </p:nvSpPr>
        <p:spPr>
          <a:xfrm>
            <a:off x="8435950" y="1609725"/>
            <a:ext cx="190500" cy="190500"/>
          </a:xfrm>
          <a:custGeom>
            <a:avLst/>
            <a:gdLst/>
            <a:ahLst/>
            <a:cxnLst/>
            <a:rect l="l" t="t" r="r" b="b"/>
            <a:pathLst>
              <a:path w="190500" h="190500">
                <a:moveTo>
                  <a:pt x="125016" y="130969"/>
                </a:moveTo>
                <a:cubicBezTo>
                  <a:pt x="161181" y="130969"/>
                  <a:pt x="190500" y="101650"/>
                  <a:pt x="190500" y="65484"/>
                </a:cubicBezTo>
                <a:cubicBezTo>
                  <a:pt x="190500" y="29319"/>
                  <a:pt x="161181" y="0"/>
                  <a:pt x="125016" y="0"/>
                </a:cubicBezTo>
                <a:cubicBezTo>
                  <a:pt x="88850" y="0"/>
                  <a:pt x="59531" y="29319"/>
                  <a:pt x="59531" y="65484"/>
                </a:cubicBezTo>
                <a:cubicBezTo>
                  <a:pt x="59531" y="72442"/>
                  <a:pt x="60610" y="79177"/>
                  <a:pt x="62619" y="85465"/>
                </a:cubicBezTo>
                <a:lnTo>
                  <a:pt x="2604" y="145479"/>
                </a:lnTo>
                <a:cubicBezTo>
                  <a:pt x="930" y="147154"/>
                  <a:pt x="0" y="149423"/>
                  <a:pt x="0" y="151805"/>
                </a:cubicBezTo>
                <a:lnTo>
                  <a:pt x="0" y="181570"/>
                </a:lnTo>
                <a:cubicBezTo>
                  <a:pt x="0" y="186519"/>
                  <a:pt x="3981" y="190500"/>
                  <a:pt x="8930" y="190500"/>
                </a:cubicBezTo>
                <a:lnTo>
                  <a:pt x="38695" y="190500"/>
                </a:lnTo>
                <a:cubicBezTo>
                  <a:pt x="43644" y="190500"/>
                  <a:pt x="47625" y="186519"/>
                  <a:pt x="47625" y="181570"/>
                </a:cubicBezTo>
                <a:lnTo>
                  <a:pt x="47625" y="166688"/>
                </a:lnTo>
                <a:lnTo>
                  <a:pt x="62508" y="166688"/>
                </a:lnTo>
                <a:cubicBezTo>
                  <a:pt x="67456" y="166688"/>
                  <a:pt x="71438" y="162706"/>
                  <a:pt x="71438" y="157758"/>
                </a:cubicBezTo>
                <a:lnTo>
                  <a:pt x="71438" y="142875"/>
                </a:lnTo>
                <a:lnTo>
                  <a:pt x="86320" y="142875"/>
                </a:lnTo>
                <a:cubicBezTo>
                  <a:pt x="88702" y="142875"/>
                  <a:pt x="90971" y="141945"/>
                  <a:pt x="92646" y="140271"/>
                </a:cubicBezTo>
                <a:lnTo>
                  <a:pt x="105035" y="127881"/>
                </a:lnTo>
                <a:cubicBezTo>
                  <a:pt x="111323" y="129890"/>
                  <a:pt x="118058" y="130969"/>
                  <a:pt x="125016" y="130969"/>
                </a:cubicBezTo>
                <a:close/>
                <a:moveTo>
                  <a:pt x="139898" y="35719"/>
                </a:moveTo>
                <a:cubicBezTo>
                  <a:pt x="148112" y="35719"/>
                  <a:pt x="154781" y="42388"/>
                  <a:pt x="154781" y="50602"/>
                </a:cubicBezTo>
                <a:cubicBezTo>
                  <a:pt x="154781" y="58816"/>
                  <a:pt x="148112" y="65484"/>
                  <a:pt x="139898" y="65484"/>
                </a:cubicBezTo>
                <a:cubicBezTo>
                  <a:pt x="131684" y="65484"/>
                  <a:pt x="125016" y="58816"/>
                  <a:pt x="125016" y="50602"/>
                </a:cubicBezTo>
                <a:cubicBezTo>
                  <a:pt x="125016" y="42388"/>
                  <a:pt x="131684" y="35719"/>
                  <a:pt x="139898" y="35719"/>
                </a:cubicBezTo>
                <a:close/>
              </a:path>
            </a:pathLst>
          </a:custGeom>
          <a:solidFill>
            <a:srgbClr val="B89A6A"/>
          </a:solidFill>
        </p:spPr>
      </p:sp>
      <p:sp>
        <p:nvSpPr>
          <p:cNvPr id="22" name="Text 20"/>
          <p:cNvSpPr/>
          <p:nvPr/>
        </p:nvSpPr>
        <p:spPr>
          <a:xfrm>
            <a:off x="8874100" y="1457325"/>
            <a:ext cx="130492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API Token Costs</a:t>
            </a:r>
            <a:endParaRPr lang="en-US" sz="1600" dirty="0"/>
          </a:p>
        </p:txBody>
      </p:sp>
      <p:sp>
        <p:nvSpPr>
          <p:cNvPr id="23" name="Text 21"/>
          <p:cNvSpPr/>
          <p:nvPr/>
        </p:nvSpPr>
        <p:spPr>
          <a:xfrm>
            <a:off x="8874100" y="1647825"/>
            <a:ext cx="1352550" cy="304800"/>
          </a:xfrm>
          <a:prstGeom prst="rect">
            <a:avLst/>
          </a:prstGeom>
          <a:noFill/>
        </p:spPr>
        <p:txBody>
          <a:bodyPr wrap="square" lIns="0" tIns="0" rIns="0" bIns="0" rtlCol="0" anchor="ctr"/>
          <a:lstStyle/>
          <a:p>
            <a:pPr>
              <a:lnSpc>
                <a:spcPct val="110000"/>
              </a:lnSpc>
            </a:pPr>
            <a:r>
              <a:rPr lang="en-US" sz="18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Over Budget</a:t>
            </a:r>
            <a:endParaRPr lang="en-US" sz="1600" dirty="0"/>
          </a:p>
        </p:txBody>
      </p:sp>
      <p:sp>
        <p:nvSpPr>
          <p:cNvPr id="24" name="Shape 22"/>
          <p:cNvSpPr/>
          <p:nvPr/>
        </p:nvSpPr>
        <p:spPr>
          <a:xfrm>
            <a:off x="8321650" y="2190750"/>
            <a:ext cx="133350" cy="133350"/>
          </a:xfrm>
          <a:custGeom>
            <a:avLst/>
            <a:gdLst/>
            <a:ahLst/>
            <a:cxnLst/>
            <a:rect l="l" t="t" r="r" b="b"/>
            <a:pathLst>
              <a:path w="133350" h="133350">
                <a:moveTo>
                  <a:pt x="66675" y="0"/>
                </a:moveTo>
                <a:cubicBezTo>
                  <a:pt x="70504" y="0"/>
                  <a:pt x="74020" y="2110"/>
                  <a:pt x="75843" y="5469"/>
                </a:cubicBezTo>
                <a:lnTo>
                  <a:pt x="132100" y="109649"/>
                </a:lnTo>
                <a:cubicBezTo>
                  <a:pt x="133845" y="112879"/>
                  <a:pt x="133767" y="116785"/>
                  <a:pt x="131891" y="119937"/>
                </a:cubicBezTo>
                <a:cubicBezTo>
                  <a:pt x="130016" y="123088"/>
                  <a:pt x="126604" y="125016"/>
                  <a:pt x="122932" y="125016"/>
                </a:cubicBezTo>
                <a:lnTo>
                  <a:pt x="10418" y="125016"/>
                </a:lnTo>
                <a:cubicBezTo>
                  <a:pt x="6746" y="125016"/>
                  <a:pt x="3360" y="123088"/>
                  <a:pt x="1459" y="119937"/>
                </a:cubicBezTo>
                <a:cubicBezTo>
                  <a:pt x="-443" y="116785"/>
                  <a:pt x="-495" y="112879"/>
                  <a:pt x="1250" y="109649"/>
                </a:cubicBezTo>
                <a:lnTo>
                  <a:pt x="57507" y="5469"/>
                </a:lnTo>
                <a:cubicBezTo>
                  <a:pt x="59330" y="2110"/>
                  <a:pt x="62846" y="0"/>
                  <a:pt x="66675" y="0"/>
                </a:cubicBezTo>
                <a:close/>
                <a:moveTo>
                  <a:pt x="66675" y="43755"/>
                </a:moveTo>
                <a:cubicBezTo>
                  <a:pt x="63211" y="43755"/>
                  <a:pt x="60424" y="46542"/>
                  <a:pt x="60424" y="50006"/>
                </a:cubicBezTo>
                <a:lnTo>
                  <a:pt x="60424" y="79177"/>
                </a:lnTo>
                <a:cubicBezTo>
                  <a:pt x="60424" y="82641"/>
                  <a:pt x="63211" y="85427"/>
                  <a:pt x="66675" y="85427"/>
                </a:cubicBezTo>
                <a:cubicBezTo>
                  <a:pt x="70139" y="85427"/>
                  <a:pt x="72926" y="82641"/>
                  <a:pt x="72926" y="79177"/>
                </a:cubicBezTo>
                <a:lnTo>
                  <a:pt x="72926" y="50006"/>
                </a:lnTo>
                <a:cubicBezTo>
                  <a:pt x="72926" y="46542"/>
                  <a:pt x="70139" y="43755"/>
                  <a:pt x="66675" y="43755"/>
                </a:cubicBezTo>
                <a:close/>
                <a:moveTo>
                  <a:pt x="73629" y="100013"/>
                </a:moveTo>
                <a:cubicBezTo>
                  <a:pt x="73787" y="97431"/>
                  <a:pt x="72500" y="94975"/>
                  <a:pt x="70287" y="93637"/>
                </a:cubicBezTo>
                <a:cubicBezTo>
                  <a:pt x="68074" y="92299"/>
                  <a:pt x="65302" y="92299"/>
                  <a:pt x="63089" y="93637"/>
                </a:cubicBezTo>
                <a:cubicBezTo>
                  <a:pt x="60876" y="94975"/>
                  <a:pt x="59589" y="97431"/>
                  <a:pt x="59747" y="100012"/>
                </a:cubicBezTo>
                <a:cubicBezTo>
                  <a:pt x="59589" y="102594"/>
                  <a:pt x="60876" y="105050"/>
                  <a:pt x="63089" y="106388"/>
                </a:cubicBezTo>
                <a:cubicBezTo>
                  <a:pt x="65302" y="107726"/>
                  <a:pt x="68074" y="107726"/>
                  <a:pt x="70287" y="106388"/>
                </a:cubicBezTo>
                <a:cubicBezTo>
                  <a:pt x="72500" y="105050"/>
                  <a:pt x="73787" y="102594"/>
                  <a:pt x="73629" y="100013"/>
                </a:cubicBezTo>
                <a:close/>
              </a:path>
            </a:pathLst>
          </a:custGeom>
          <a:solidFill>
            <a:srgbClr val="B89A6A"/>
          </a:solidFill>
        </p:spPr>
      </p:sp>
      <p:sp>
        <p:nvSpPr>
          <p:cNvPr id="25" name="Text 23"/>
          <p:cNvSpPr/>
          <p:nvPr/>
        </p:nvSpPr>
        <p:spPr>
          <a:xfrm>
            <a:off x="8545488" y="2143125"/>
            <a:ext cx="1057275"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+12.1% vs. plan</a:t>
            </a:r>
            <a:endParaRPr lang="en-US" sz="1600" dirty="0"/>
          </a:p>
        </p:txBody>
      </p:sp>
      <p:sp>
        <p:nvSpPr>
          <p:cNvPr id="26" name="Shape 24"/>
          <p:cNvSpPr/>
          <p:nvPr/>
        </p:nvSpPr>
        <p:spPr>
          <a:xfrm>
            <a:off x="385763" y="2767013"/>
            <a:ext cx="11420475" cy="2505075"/>
          </a:xfrm>
          <a:custGeom>
            <a:avLst/>
            <a:gdLst/>
            <a:ahLst/>
            <a:cxnLst/>
            <a:rect l="l" t="t" r="r" b="b"/>
            <a:pathLst>
              <a:path w="11420475" h="2505075">
                <a:moveTo>
                  <a:pt x="76204" y="0"/>
                </a:moveTo>
                <a:lnTo>
                  <a:pt x="11344271" y="0"/>
                </a:lnTo>
                <a:cubicBezTo>
                  <a:pt x="11386357" y="0"/>
                  <a:pt x="11420475" y="34118"/>
                  <a:pt x="11420475" y="76204"/>
                </a:cubicBezTo>
                <a:lnTo>
                  <a:pt x="11420475" y="2428871"/>
                </a:lnTo>
                <a:cubicBezTo>
                  <a:pt x="11420475" y="2470957"/>
                  <a:pt x="11386357" y="2505075"/>
                  <a:pt x="11344271" y="2505075"/>
                </a:cubicBezTo>
                <a:lnTo>
                  <a:pt x="76204" y="2505075"/>
                </a:lnTo>
                <a:cubicBezTo>
                  <a:pt x="34118" y="2505075"/>
                  <a:pt x="0" y="2470957"/>
                  <a:pt x="0" y="2428871"/>
                </a:cubicBezTo>
                <a:lnTo>
                  <a:pt x="0" y="76204"/>
                </a:lnTo>
                <a:cubicBezTo>
                  <a:pt x="0" y="34146"/>
                  <a:pt x="34146" y="0"/>
                  <a:pt x="76204" y="0"/>
                </a:cubicBezTo>
                <a:close/>
              </a:path>
            </a:pathLst>
          </a:custGeom>
          <a:solidFill>
            <a:srgbClr val="4A5C6A">
              <a:alpha val="10196"/>
            </a:srgbClr>
          </a:solidFill>
          <a:ln w="12700">
            <a:solidFill>
              <a:srgbClr val="4A5C6A">
                <a:alpha val="30196"/>
              </a:srgbClr>
            </a:solidFill>
            <a:prstDash val="solid"/>
          </a:ln>
        </p:spPr>
      </p:sp>
      <p:sp>
        <p:nvSpPr>
          <p:cNvPr id="27" name="Shape 25"/>
          <p:cNvSpPr/>
          <p:nvPr/>
        </p:nvSpPr>
        <p:spPr>
          <a:xfrm>
            <a:off x="604838" y="3000375"/>
            <a:ext cx="190500" cy="190500"/>
          </a:xfrm>
          <a:custGeom>
            <a:avLst/>
            <a:gdLst/>
            <a:ahLst/>
            <a:cxnLst/>
            <a:rect l="l" t="t" r="r" b="b"/>
            <a:pathLst>
              <a:path w="190500" h="190500">
                <a:moveTo>
                  <a:pt x="11906" y="11906"/>
                </a:moveTo>
                <a:cubicBezTo>
                  <a:pt x="18492" y="11906"/>
                  <a:pt x="23812" y="17227"/>
                  <a:pt x="23812" y="23812"/>
                </a:cubicBezTo>
                <a:lnTo>
                  <a:pt x="23812" y="148828"/>
                </a:lnTo>
                <a:cubicBezTo>
                  <a:pt x="23812" y="152102"/>
                  <a:pt x="26491" y="154781"/>
                  <a:pt x="29766" y="154781"/>
                </a:cubicBezTo>
                <a:lnTo>
                  <a:pt x="178594" y="154781"/>
                </a:lnTo>
                <a:cubicBezTo>
                  <a:pt x="185179" y="154781"/>
                  <a:pt x="190500" y="160102"/>
                  <a:pt x="190500" y="166688"/>
                </a:cubicBezTo>
                <a:cubicBezTo>
                  <a:pt x="190500" y="173273"/>
                  <a:pt x="185179" y="178594"/>
                  <a:pt x="178594" y="178594"/>
                </a:cubicBezTo>
                <a:lnTo>
                  <a:pt x="29766" y="178594"/>
                </a:lnTo>
                <a:cubicBezTo>
                  <a:pt x="13320" y="178594"/>
                  <a:pt x="0" y="165274"/>
                  <a:pt x="0" y="148828"/>
                </a:cubicBezTo>
                <a:lnTo>
                  <a:pt x="0" y="23812"/>
                </a:lnTo>
                <a:cubicBezTo>
                  <a:pt x="0" y="17227"/>
                  <a:pt x="5321" y="11906"/>
                  <a:pt x="11906" y="11906"/>
                </a:cubicBezTo>
                <a:close/>
                <a:moveTo>
                  <a:pt x="47625" y="35719"/>
                </a:moveTo>
                <a:cubicBezTo>
                  <a:pt x="47625" y="29133"/>
                  <a:pt x="52946" y="23812"/>
                  <a:pt x="59531" y="23812"/>
                </a:cubicBezTo>
                <a:lnTo>
                  <a:pt x="130969" y="23812"/>
                </a:lnTo>
                <a:cubicBezTo>
                  <a:pt x="137554" y="23812"/>
                  <a:pt x="142875" y="29133"/>
                  <a:pt x="142875" y="35719"/>
                </a:cubicBezTo>
                <a:cubicBezTo>
                  <a:pt x="142875" y="42304"/>
                  <a:pt x="137554" y="47625"/>
                  <a:pt x="130969" y="47625"/>
                </a:cubicBezTo>
                <a:lnTo>
                  <a:pt x="59531" y="47625"/>
                </a:lnTo>
                <a:cubicBezTo>
                  <a:pt x="52946" y="47625"/>
                  <a:pt x="47625" y="42304"/>
                  <a:pt x="47625" y="35719"/>
                </a:cubicBezTo>
                <a:close/>
                <a:moveTo>
                  <a:pt x="59531" y="65484"/>
                </a:moveTo>
                <a:lnTo>
                  <a:pt x="107156" y="65484"/>
                </a:lnTo>
                <a:cubicBezTo>
                  <a:pt x="113742" y="65484"/>
                  <a:pt x="119063" y="70805"/>
                  <a:pt x="119063" y="77391"/>
                </a:cubicBezTo>
                <a:cubicBezTo>
                  <a:pt x="119063" y="83976"/>
                  <a:pt x="113742" y="89297"/>
                  <a:pt x="107156" y="89297"/>
                </a:cubicBezTo>
                <a:lnTo>
                  <a:pt x="59531" y="89297"/>
                </a:lnTo>
                <a:cubicBezTo>
                  <a:pt x="52946" y="89297"/>
                  <a:pt x="47625" y="83976"/>
                  <a:pt x="47625" y="77391"/>
                </a:cubicBezTo>
                <a:cubicBezTo>
                  <a:pt x="47625" y="70805"/>
                  <a:pt x="52946" y="65484"/>
                  <a:pt x="59531" y="65484"/>
                </a:cubicBezTo>
                <a:close/>
                <a:moveTo>
                  <a:pt x="59531" y="107156"/>
                </a:moveTo>
                <a:lnTo>
                  <a:pt x="154781" y="107156"/>
                </a:lnTo>
                <a:cubicBezTo>
                  <a:pt x="161367" y="107156"/>
                  <a:pt x="166688" y="112477"/>
                  <a:pt x="166688" y="119063"/>
                </a:cubicBezTo>
                <a:cubicBezTo>
                  <a:pt x="166688" y="125648"/>
                  <a:pt x="161367" y="130969"/>
                  <a:pt x="154781" y="130969"/>
                </a:cubicBezTo>
                <a:lnTo>
                  <a:pt x="59531" y="130969"/>
                </a:lnTo>
                <a:cubicBezTo>
                  <a:pt x="52946" y="130969"/>
                  <a:pt x="47625" y="125648"/>
                  <a:pt x="47625" y="119063"/>
                </a:cubicBezTo>
                <a:cubicBezTo>
                  <a:pt x="47625" y="112477"/>
                  <a:pt x="52946" y="107156"/>
                  <a:pt x="59531" y="107156"/>
                </a:cubicBezTo>
                <a:close/>
              </a:path>
            </a:pathLst>
          </a:custGeom>
          <a:solidFill>
            <a:srgbClr val="B89A6A"/>
          </a:solidFill>
        </p:spPr>
      </p:sp>
      <p:sp>
        <p:nvSpPr>
          <p:cNvPr id="28" name="Text 26"/>
          <p:cNvSpPr/>
          <p:nvPr/>
        </p:nvSpPr>
        <p:spPr>
          <a:xfrm>
            <a:off x="819150" y="2962275"/>
            <a:ext cx="10887075" cy="266700"/>
          </a:xfrm>
          <a:prstGeom prst="rect">
            <a:avLst/>
          </a:prstGeom>
          <a:noFill/>
        </p:spPr>
        <p:txBody>
          <a:bodyPr wrap="square" lIns="0" tIns="0" rIns="0" bIns="0" rtlCol="0" anchor="ctr"/>
          <a:lstStyle/>
          <a:p>
            <a:pP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COGS Breakdown: Budget vs. Actual</a:t>
            </a:r>
            <a:endParaRPr lang="en-US" sz="1600" dirty="0"/>
          </a:p>
        </p:txBody>
      </p:sp>
      <p:pic>
        <p:nvPicPr>
          <p:cNvPr id="29" name="Image 0" descr="https://kimi-img.moonshot.cn/pub/slides/26-03-22-16:22:39-d6vqdjrid4m8iocm3d30.png"/>
          <p:cNvPicPr>
            <a:picLocks noChangeAspect="1"/>
          </p:cNvPicPr>
          <p:nvPr/>
        </p:nvPicPr>
        <p:blipFill>
          <a:blip r:embed="rId1"/>
          <a:srcRect/>
          <a:stretch>
            <a:fillRect/>
          </a:stretch>
        </p:blipFill>
        <p:spPr>
          <a:xfrm>
            <a:off x="581025" y="3343275"/>
            <a:ext cx="11029950" cy="1733550"/>
          </a:xfrm>
          <a:prstGeom prst="roundRect">
            <a:avLst>
              <a:gd name="adj" fmla="val 0"/>
            </a:avLst>
          </a:prstGeom>
        </p:spPr>
      </p:pic>
      <p:sp>
        <p:nvSpPr>
          <p:cNvPr id="30" name="Shape 27"/>
          <p:cNvSpPr/>
          <p:nvPr/>
        </p:nvSpPr>
        <p:spPr>
          <a:xfrm>
            <a:off x="385763" y="5434013"/>
            <a:ext cx="5629275" cy="1038225"/>
          </a:xfrm>
          <a:custGeom>
            <a:avLst/>
            <a:gdLst/>
            <a:ahLst/>
            <a:cxnLst/>
            <a:rect l="l" t="t" r="r" b="b"/>
            <a:pathLst>
              <a:path w="5629275" h="1038225">
                <a:moveTo>
                  <a:pt x="76195" y="0"/>
                </a:moveTo>
                <a:lnTo>
                  <a:pt x="5553080" y="0"/>
                </a:lnTo>
                <a:cubicBezTo>
                  <a:pt x="5595161" y="0"/>
                  <a:pt x="5629275" y="34114"/>
                  <a:pt x="5629275" y="76195"/>
                </a:cubicBezTo>
                <a:lnTo>
                  <a:pt x="5629275" y="962030"/>
                </a:lnTo>
                <a:cubicBezTo>
                  <a:pt x="5629275" y="1004111"/>
                  <a:pt x="5595161" y="1038225"/>
                  <a:pt x="5553080" y="1038225"/>
                </a:cubicBezTo>
                <a:lnTo>
                  <a:pt x="76195" y="1038225"/>
                </a:lnTo>
                <a:cubicBezTo>
                  <a:pt x="34114" y="1038225"/>
                  <a:pt x="0" y="1004111"/>
                  <a:pt x="0" y="962030"/>
                </a:cubicBezTo>
                <a:lnTo>
                  <a:pt x="0" y="76195"/>
                </a:lnTo>
                <a:cubicBezTo>
                  <a:pt x="0" y="34114"/>
                  <a:pt x="34114" y="0"/>
                  <a:pt x="76195" y="0"/>
                </a:cubicBezTo>
                <a:close/>
              </a:path>
            </a:pathLst>
          </a:custGeom>
          <a:solidFill>
            <a:srgbClr val="B89A6A">
              <a:alpha val="10196"/>
            </a:srgbClr>
          </a:solidFill>
          <a:ln w="12700">
            <a:solidFill>
              <a:srgbClr val="B89A6A">
                <a:alpha val="30196"/>
              </a:srgbClr>
            </a:solidFill>
            <a:prstDash val="solid"/>
          </a:ln>
        </p:spPr>
      </p:sp>
      <p:sp>
        <p:nvSpPr>
          <p:cNvPr id="31" name="Shape 28"/>
          <p:cNvSpPr/>
          <p:nvPr/>
        </p:nvSpPr>
        <p:spPr>
          <a:xfrm>
            <a:off x="566738" y="5629275"/>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B89A6A"/>
          </a:solidFill>
        </p:spPr>
      </p:sp>
      <p:sp>
        <p:nvSpPr>
          <p:cNvPr id="32" name="Text 29"/>
          <p:cNvSpPr/>
          <p:nvPr/>
        </p:nvSpPr>
        <p:spPr>
          <a:xfrm>
            <a:off x="847725" y="5591175"/>
            <a:ext cx="5086350"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Cost Driver Analysis</a:t>
            </a:r>
            <a:endParaRPr lang="en-US" sz="1600" dirty="0"/>
          </a:p>
        </p:txBody>
      </p:sp>
      <p:sp>
        <p:nvSpPr>
          <p:cNvPr id="33" name="Text 30"/>
          <p:cNvSpPr/>
          <p:nvPr/>
        </p:nvSpPr>
        <p:spPr>
          <a:xfrm>
            <a:off x="847725" y="5857875"/>
            <a:ext cx="5086350" cy="4572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Cloud and API cost overruns driven by increased customer demand and infrastructure scaling for enterprise deployments.</a:t>
            </a:r>
            <a:endParaRPr lang="en-US" sz="1600" dirty="0"/>
          </a:p>
        </p:txBody>
      </p:sp>
      <p:sp>
        <p:nvSpPr>
          <p:cNvPr id="34" name="Shape 31"/>
          <p:cNvSpPr/>
          <p:nvPr/>
        </p:nvSpPr>
        <p:spPr>
          <a:xfrm>
            <a:off x="6176963" y="5434013"/>
            <a:ext cx="5629275" cy="1038225"/>
          </a:xfrm>
          <a:custGeom>
            <a:avLst/>
            <a:gdLst/>
            <a:ahLst/>
            <a:cxnLst/>
            <a:rect l="l" t="t" r="r" b="b"/>
            <a:pathLst>
              <a:path w="5629275" h="1038225">
                <a:moveTo>
                  <a:pt x="76195" y="0"/>
                </a:moveTo>
                <a:lnTo>
                  <a:pt x="5553080" y="0"/>
                </a:lnTo>
                <a:cubicBezTo>
                  <a:pt x="5595161" y="0"/>
                  <a:pt x="5629275" y="34114"/>
                  <a:pt x="5629275" y="76195"/>
                </a:cubicBezTo>
                <a:lnTo>
                  <a:pt x="5629275" y="962030"/>
                </a:lnTo>
                <a:cubicBezTo>
                  <a:pt x="5629275" y="1004111"/>
                  <a:pt x="5595161" y="1038225"/>
                  <a:pt x="5553080" y="1038225"/>
                </a:cubicBezTo>
                <a:lnTo>
                  <a:pt x="76195" y="1038225"/>
                </a:lnTo>
                <a:cubicBezTo>
                  <a:pt x="34114" y="1038225"/>
                  <a:pt x="0" y="1004111"/>
                  <a:pt x="0" y="962030"/>
                </a:cubicBezTo>
                <a:lnTo>
                  <a:pt x="0" y="76195"/>
                </a:lnTo>
                <a:cubicBezTo>
                  <a:pt x="0" y="34114"/>
                  <a:pt x="34114" y="0"/>
                  <a:pt x="76195" y="0"/>
                </a:cubicBezTo>
                <a:close/>
              </a:path>
            </a:pathLst>
          </a:custGeom>
          <a:solidFill>
            <a:srgbClr val="4A5C6A">
              <a:alpha val="10196"/>
            </a:srgbClr>
          </a:solidFill>
          <a:ln w="12700">
            <a:solidFill>
              <a:srgbClr val="4A5C6A">
                <a:alpha val="30196"/>
              </a:srgbClr>
            </a:solidFill>
            <a:prstDash val="solid"/>
          </a:ln>
        </p:spPr>
      </p:sp>
      <p:sp>
        <p:nvSpPr>
          <p:cNvPr id="35" name="Shape 32"/>
          <p:cNvSpPr/>
          <p:nvPr/>
        </p:nvSpPr>
        <p:spPr>
          <a:xfrm>
            <a:off x="6334125" y="5629275"/>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B89A6A"/>
          </a:solidFill>
        </p:spPr>
      </p:sp>
      <p:sp>
        <p:nvSpPr>
          <p:cNvPr id="36" name="Text 33"/>
          <p:cNvSpPr/>
          <p:nvPr/>
        </p:nvSpPr>
        <p:spPr>
          <a:xfrm>
            <a:off x="6638925" y="5591175"/>
            <a:ext cx="5086350"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Margin Stability</a:t>
            </a:r>
            <a:endParaRPr lang="en-US" sz="1600" dirty="0"/>
          </a:p>
        </p:txBody>
      </p:sp>
      <p:sp>
        <p:nvSpPr>
          <p:cNvPr id="37" name="Text 34"/>
          <p:cNvSpPr/>
          <p:nvPr/>
        </p:nvSpPr>
        <p:spPr>
          <a:xfrm>
            <a:off x="6638925" y="5857875"/>
            <a:ext cx="5086350" cy="4572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Despite cost pressures, gross margin stabilized at 72%, demonstrating strong pricing power and unit economics.</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sp>
        <p:nvSpPr>
          <p:cNvPr id="2" name="Shape 0"/>
          <p:cNvSpPr/>
          <p:nvPr/>
        </p:nvSpPr>
        <p:spPr>
          <a:xfrm>
            <a:off x="381000" y="476250"/>
            <a:ext cx="57150" cy="381000"/>
          </a:xfrm>
          <a:custGeom>
            <a:avLst/>
            <a:gdLst/>
            <a:ahLst/>
            <a:cxnLst/>
            <a:rect l="l" t="t" r="r" b="b"/>
            <a:pathLst>
              <a:path w="57150" h="381000">
                <a:moveTo>
                  <a:pt x="0" y="0"/>
                </a:moveTo>
                <a:lnTo>
                  <a:pt x="57150" y="0"/>
                </a:lnTo>
                <a:lnTo>
                  <a:pt x="57150" y="381000"/>
                </a:lnTo>
                <a:lnTo>
                  <a:pt x="0" y="381000"/>
                </a:lnTo>
                <a:lnTo>
                  <a:pt x="0" y="0"/>
                </a:lnTo>
                <a:close/>
              </a:path>
            </a:pathLst>
          </a:custGeom>
          <a:solidFill>
            <a:srgbClr val="B89A6A"/>
          </a:solidFill>
        </p:spPr>
      </p:sp>
      <p:sp>
        <p:nvSpPr>
          <p:cNvPr id="3" name="Text 1"/>
          <p:cNvSpPr/>
          <p:nvPr/>
        </p:nvSpPr>
        <p:spPr>
          <a:xfrm>
            <a:off x="552450" y="381000"/>
            <a:ext cx="2038350" cy="228600"/>
          </a:xfrm>
          <a:prstGeom prst="rect">
            <a:avLst/>
          </a:prstGeom>
          <a:noFill/>
        </p:spPr>
        <p:txBody>
          <a:bodyPr wrap="square" lIns="0" tIns="0" rIns="0" bIns="0" rtlCol="0" anchor="ctr"/>
          <a:lstStyle/>
          <a:p>
            <a:pPr>
              <a:lnSpc>
                <a:spcPct val="130000"/>
              </a:lnSpc>
            </a:pPr>
            <a:r>
              <a:rPr lang="en-US" sz="1200" b="1" kern="0" spc="60" dirty="0">
                <a:solidFill>
                  <a:srgbClr val="B89A6A"/>
                </a:solidFill>
                <a:latin typeface="Liter" panose="02000503030000020004" pitchFamily="34" charset="0"/>
                <a:ea typeface="Liter" panose="02000503030000020004" pitchFamily="34" charset="-122"/>
                <a:cs typeface="Liter" panose="02000503030000020004" pitchFamily="34" charset="-120"/>
              </a:rPr>
              <a:t>OPERATING EXPENSES</a:t>
            </a:r>
            <a:endParaRPr lang="en-US" sz="1600" dirty="0"/>
          </a:p>
        </p:txBody>
      </p:sp>
      <p:sp>
        <p:nvSpPr>
          <p:cNvPr id="4" name="Text 2"/>
          <p:cNvSpPr/>
          <p:nvPr/>
        </p:nvSpPr>
        <p:spPr>
          <a:xfrm>
            <a:off x="552450" y="609600"/>
            <a:ext cx="2105025" cy="342900"/>
          </a:xfrm>
          <a:prstGeom prst="rect">
            <a:avLst/>
          </a:prstGeom>
          <a:noFill/>
        </p:spPr>
        <p:txBody>
          <a:bodyPr wrap="square" lIns="0" tIns="0" rIns="0" bIns="0" rtlCol="0" anchor="ctr"/>
          <a:lstStyle/>
          <a:p>
            <a:pPr>
              <a:lnSpc>
                <a:spcPct val="100000"/>
              </a:lnSpc>
            </a:pPr>
            <a:r>
              <a:rPr lang="en-US" sz="22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OpEx Execution</a:t>
            </a:r>
            <a:endParaRPr lang="en-US" sz="1600" dirty="0"/>
          </a:p>
        </p:txBody>
      </p:sp>
      <p:sp>
        <p:nvSpPr>
          <p:cNvPr id="5" name="Shape 3"/>
          <p:cNvSpPr/>
          <p:nvPr/>
        </p:nvSpPr>
        <p:spPr>
          <a:xfrm>
            <a:off x="385763" y="1071563"/>
            <a:ext cx="6191250" cy="4276725"/>
          </a:xfrm>
          <a:custGeom>
            <a:avLst/>
            <a:gdLst/>
            <a:ahLst/>
            <a:cxnLst/>
            <a:rect l="l" t="t" r="r" b="b"/>
            <a:pathLst>
              <a:path w="6191250" h="4276725">
                <a:moveTo>
                  <a:pt x="76211" y="0"/>
                </a:moveTo>
                <a:lnTo>
                  <a:pt x="6115039" y="0"/>
                </a:lnTo>
                <a:cubicBezTo>
                  <a:pt x="6157129" y="0"/>
                  <a:pt x="6191250" y="34121"/>
                  <a:pt x="6191250" y="76211"/>
                </a:cubicBezTo>
                <a:lnTo>
                  <a:pt x="6191250" y="4200514"/>
                </a:lnTo>
                <a:cubicBezTo>
                  <a:pt x="6191250" y="4242604"/>
                  <a:pt x="6157129" y="4276725"/>
                  <a:pt x="6115039" y="4276725"/>
                </a:cubicBezTo>
                <a:lnTo>
                  <a:pt x="76211" y="4276725"/>
                </a:lnTo>
                <a:cubicBezTo>
                  <a:pt x="34121" y="4276725"/>
                  <a:pt x="0" y="4242604"/>
                  <a:pt x="0" y="4200514"/>
                </a:cubicBezTo>
                <a:lnTo>
                  <a:pt x="0" y="76211"/>
                </a:lnTo>
                <a:cubicBezTo>
                  <a:pt x="0" y="34149"/>
                  <a:pt x="34149" y="0"/>
                  <a:pt x="76211" y="0"/>
                </a:cubicBezTo>
                <a:close/>
              </a:path>
            </a:pathLst>
          </a:custGeom>
          <a:solidFill>
            <a:srgbClr val="4A5C6A">
              <a:alpha val="10196"/>
            </a:srgbClr>
          </a:solidFill>
          <a:ln w="12700">
            <a:solidFill>
              <a:srgbClr val="4A5C6A">
                <a:alpha val="30196"/>
              </a:srgbClr>
            </a:solidFill>
            <a:prstDash val="solid"/>
          </a:ln>
        </p:spPr>
      </p:sp>
      <p:sp>
        <p:nvSpPr>
          <p:cNvPr id="6" name="Shape 4"/>
          <p:cNvSpPr/>
          <p:nvPr/>
        </p:nvSpPr>
        <p:spPr>
          <a:xfrm>
            <a:off x="566738" y="1276350"/>
            <a:ext cx="171450" cy="171450"/>
          </a:xfrm>
          <a:custGeom>
            <a:avLst/>
            <a:gdLst/>
            <a:ahLst/>
            <a:cxnLst/>
            <a:rect l="l" t="t" r="r" b="b"/>
            <a:pathLst>
              <a:path w="171450" h="171450">
                <a:moveTo>
                  <a:pt x="10716" y="10716"/>
                </a:moveTo>
                <a:cubicBezTo>
                  <a:pt x="16643" y="10716"/>
                  <a:pt x="21431" y="15504"/>
                  <a:pt x="21431" y="21431"/>
                </a:cubicBezTo>
                <a:lnTo>
                  <a:pt x="21431" y="133945"/>
                </a:lnTo>
                <a:cubicBezTo>
                  <a:pt x="21431" y="136892"/>
                  <a:pt x="23842" y="139303"/>
                  <a:pt x="26789" y="139303"/>
                </a:cubicBezTo>
                <a:lnTo>
                  <a:pt x="160734" y="139303"/>
                </a:lnTo>
                <a:cubicBezTo>
                  <a:pt x="166661" y="139303"/>
                  <a:pt x="171450" y="144092"/>
                  <a:pt x="171450" y="150019"/>
                </a:cubicBezTo>
                <a:cubicBezTo>
                  <a:pt x="171450" y="155946"/>
                  <a:pt x="166661" y="160734"/>
                  <a:pt x="160734" y="160734"/>
                </a:cubicBezTo>
                <a:lnTo>
                  <a:pt x="26789" y="160734"/>
                </a:lnTo>
                <a:cubicBezTo>
                  <a:pt x="11988" y="160734"/>
                  <a:pt x="0" y="148746"/>
                  <a:pt x="0" y="133945"/>
                </a:cubicBezTo>
                <a:lnTo>
                  <a:pt x="0" y="21431"/>
                </a:lnTo>
                <a:cubicBezTo>
                  <a:pt x="0" y="15504"/>
                  <a:pt x="4789" y="10716"/>
                  <a:pt x="10716" y="10716"/>
                </a:cubicBezTo>
                <a:close/>
                <a:moveTo>
                  <a:pt x="80367" y="32147"/>
                </a:moveTo>
                <a:cubicBezTo>
                  <a:pt x="82611" y="32147"/>
                  <a:pt x="84754" y="33084"/>
                  <a:pt x="86294" y="34759"/>
                </a:cubicBezTo>
                <a:lnTo>
                  <a:pt x="110103" y="60711"/>
                </a:lnTo>
                <a:lnTo>
                  <a:pt x="125574" y="45207"/>
                </a:lnTo>
                <a:cubicBezTo>
                  <a:pt x="128721" y="42059"/>
                  <a:pt x="133811" y="42059"/>
                  <a:pt x="136926" y="45207"/>
                </a:cubicBezTo>
                <a:lnTo>
                  <a:pt x="158357" y="66638"/>
                </a:lnTo>
                <a:cubicBezTo>
                  <a:pt x="159864" y="68145"/>
                  <a:pt x="160701" y="70187"/>
                  <a:pt x="160701" y="72330"/>
                </a:cubicBezTo>
                <a:lnTo>
                  <a:pt x="160701" y="109835"/>
                </a:lnTo>
                <a:cubicBezTo>
                  <a:pt x="160701" y="114289"/>
                  <a:pt x="157118" y="117872"/>
                  <a:pt x="152664" y="117872"/>
                </a:cubicBezTo>
                <a:lnTo>
                  <a:pt x="50866" y="117872"/>
                </a:lnTo>
                <a:cubicBezTo>
                  <a:pt x="46412" y="117872"/>
                  <a:pt x="42829" y="114289"/>
                  <a:pt x="42829" y="109835"/>
                </a:cubicBezTo>
                <a:lnTo>
                  <a:pt x="42829" y="72330"/>
                </a:lnTo>
                <a:cubicBezTo>
                  <a:pt x="42829" y="70321"/>
                  <a:pt x="43599" y="68379"/>
                  <a:pt x="44939" y="66906"/>
                </a:cubicBezTo>
                <a:lnTo>
                  <a:pt x="74407" y="34759"/>
                </a:lnTo>
                <a:cubicBezTo>
                  <a:pt x="75914" y="33084"/>
                  <a:pt x="78090" y="32147"/>
                  <a:pt x="80334" y="32147"/>
                </a:cubicBezTo>
                <a:close/>
              </a:path>
            </a:pathLst>
          </a:custGeom>
          <a:solidFill>
            <a:srgbClr val="B89A6A"/>
          </a:solidFill>
        </p:spPr>
      </p:sp>
      <p:sp>
        <p:nvSpPr>
          <p:cNvPr id="7" name="Text 5"/>
          <p:cNvSpPr/>
          <p:nvPr/>
        </p:nvSpPr>
        <p:spPr>
          <a:xfrm>
            <a:off x="762000" y="1228725"/>
            <a:ext cx="5743575" cy="266700"/>
          </a:xfrm>
          <a:prstGeom prst="rect">
            <a:avLst/>
          </a:prstGeom>
          <a:noFill/>
        </p:spPr>
        <p:txBody>
          <a:bodyPr wrap="square" lIns="0" tIns="0" rIns="0" bIns="0" rtlCol="0" anchor="ctr"/>
          <a:lstStyle/>
          <a:p>
            <a:pPr>
              <a:lnSpc>
                <a:spcPct val="130000"/>
              </a:lnSpc>
            </a:pPr>
            <a:r>
              <a:rPr lang="en-US" sz="13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OpEx Trend Analysis</a:t>
            </a:r>
            <a:endParaRPr lang="en-US" sz="1600" dirty="0"/>
          </a:p>
        </p:txBody>
      </p:sp>
      <p:pic>
        <p:nvPicPr>
          <p:cNvPr id="8" name="Image 0" descr="https://kimi-img.moonshot.cn/pub/slides/26-03-22-16:22:39-d6vqdjtf439fqsarlrrg.png"/>
          <p:cNvPicPr>
            <a:picLocks noChangeAspect="1"/>
          </p:cNvPicPr>
          <p:nvPr/>
        </p:nvPicPr>
        <p:blipFill>
          <a:blip r:embed="rId1"/>
          <a:srcRect/>
          <a:stretch>
            <a:fillRect/>
          </a:stretch>
        </p:blipFill>
        <p:spPr>
          <a:xfrm>
            <a:off x="542925" y="1571625"/>
            <a:ext cx="5876925" cy="3619500"/>
          </a:xfrm>
          <a:prstGeom prst="roundRect">
            <a:avLst>
              <a:gd name="adj" fmla="val 0"/>
            </a:avLst>
          </a:prstGeom>
        </p:spPr>
      </p:pic>
      <p:sp>
        <p:nvSpPr>
          <p:cNvPr id="9" name="Shape 6"/>
          <p:cNvSpPr/>
          <p:nvPr/>
        </p:nvSpPr>
        <p:spPr>
          <a:xfrm>
            <a:off x="385763" y="5472113"/>
            <a:ext cx="1981200" cy="1000125"/>
          </a:xfrm>
          <a:custGeom>
            <a:avLst/>
            <a:gdLst/>
            <a:ahLst/>
            <a:cxnLst/>
            <a:rect l="l" t="t" r="r" b="b"/>
            <a:pathLst>
              <a:path w="1981200" h="1000125">
                <a:moveTo>
                  <a:pt x="76200" y="0"/>
                </a:moveTo>
                <a:lnTo>
                  <a:pt x="1905000" y="0"/>
                </a:lnTo>
                <a:cubicBezTo>
                  <a:pt x="1947084" y="0"/>
                  <a:pt x="1981200" y="34116"/>
                  <a:pt x="1981200" y="76200"/>
                </a:cubicBezTo>
                <a:lnTo>
                  <a:pt x="1981200" y="923925"/>
                </a:lnTo>
                <a:cubicBezTo>
                  <a:pt x="1981200" y="966009"/>
                  <a:pt x="1947084" y="1000125"/>
                  <a:pt x="1905000" y="1000125"/>
                </a:cubicBezTo>
                <a:lnTo>
                  <a:pt x="76200" y="1000125"/>
                </a:lnTo>
                <a:cubicBezTo>
                  <a:pt x="34116" y="1000125"/>
                  <a:pt x="0" y="966009"/>
                  <a:pt x="0" y="923925"/>
                </a:cubicBezTo>
                <a:lnTo>
                  <a:pt x="0" y="76200"/>
                </a:lnTo>
                <a:cubicBezTo>
                  <a:pt x="0" y="34144"/>
                  <a:pt x="34144" y="0"/>
                  <a:pt x="76200" y="0"/>
                </a:cubicBezTo>
                <a:close/>
              </a:path>
            </a:pathLst>
          </a:custGeom>
          <a:solidFill>
            <a:srgbClr val="4A5C6A">
              <a:alpha val="20000"/>
            </a:srgbClr>
          </a:solidFill>
          <a:ln w="12700">
            <a:solidFill>
              <a:srgbClr val="4A5C6A">
                <a:alpha val="30196"/>
              </a:srgbClr>
            </a:solidFill>
            <a:prstDash val="solid"/>
          </a:ln>
        </p:spPr>
      </p:sp>
      <p:sp>
        <p:nvSpPr>
          <p:cNvPr id="10" name="Shape 7"/>
          <p:cNvSpPr/>
          <p:nvPr/>
        </p:nvSpPr>
        <p:spPr>
          <a:xfrm>
            <a:off x="528638" y="5619750"/>
            <a:ext cx="171450" cy="171450"/>
          </a:xfrm>
          <a:custGeom>
            <a:avLst/>
            <a:gdLst/>
            <a:ahLst/>
            <a:cxnLst/>
            <a:rect l="l" t="t" r="r" b="b"/>
            <a:pathLst>
              <a:path w="171450" h="171450">
                <a:moveTo>
                  <a:pt x="154439" y="6329"/>
                </a:moveTo>
                <a:cubicBezTo>
                  <a:pt x="158290" y="8037"/>
                  <a:pt x="160734" y="11854"/>
                  <a:pt x="160734" y="16073"/>
                </a:cubicBezTo>
                <a:lnTo>
                  <a:pt x="160734" y="155377"/>
                </a:lnTo>
                <a:cubicBezTo>
                  <a:pt x="160734" y="159596"/>
                  <a:pt x="158290" y="163413"/>
                  <a:pt x="154439" y="165121"/>
                </a:cubicBezTo>
                <a:cubicBezTo>
                  <a:pt x="150588" y="166829"/>
                  <a:pt x="146134" y="166193"/>
                  <a:pt x="142953" y="163413"/>
                </a:cubicBezTo>
                <a:lnTo>
                  <a:pt x="127349" y="149784"/>
                </a:lnTo>
                <a:cubicBezTo>
                  <a:pt x="112748" y="137026"/>
                  <a:pt x="94297" y="129592"/>
                  <a:pt x="74976" y="128688"/>
                </a:cubicBezTo>
                <a:lnTo>
                  <a:pt x="74976" y="160734"/>
                </a:lnTo>
                <a:cubicBezTo>
                  <a:pt x="74976" y="166661"/>
                  <a:pt x="70187" y="171450"/>
                  <a:pt x="64260" y="171450"/>
                </a:cubicBezTo>
                <a:lnTo>
                  <a:pt x="53545" y="171450"/>
                </a:lnTo>
                <a:cubicBezTo>
                  <a:pt x="47618" y="171450"/>
                  <a:pt x="42829" y="166661"/>
                  <a:pt x="42829" y="160734"/>
                </a:cubicBezTo>
                <a:lnTo>
                  <a:pt x="42829" y="128588"/>
                </a:lnTo>
                <a:cubicBezTo>
                  <a:pt x="19188" y="128588"/>
                  <a:pt x="0" y="109400"/>
                  <a:pt x="0" y="85725"/>
                </a:cubicBezTo>
                <a:cubicBezTo>
                  <a:pt x="0" y="62050"/>
                  <a:pt x="19188" y="42863"/>
                  <a:pt x="42863" y="42863"/>
                </a:cubicBezTo>
                <a:lnTo>
                  <a:pt x="71158" y="42863"/>
                </a:lnTo>
                <a:cubicBezTo>
                  <a:pt x="91853" y="42796"/>
                  <a:pt x="111811" y="35261"/>
                  <a:pt x="127382" y="21666"/>
                </a:cubicBezTo>
                <a:lnTo>
                  <a:pt x="142987" y="8037"/>
                </a:lnTo>
                <a:cubicBezTo>
                  <a:pt x="146134" y="5257"/>
                  <a:pt x="150655" y="4621"/>
                  <a:pt x="154472" y="6329"/>
                </a:cubicBezTo>
                <a:close/>
                <a:moveTo>
                  <a:pt x="75009" y="107156"/>
                </a:moveTo>
                <a:lnTo>
                  <a:pt x="75009" y="107223"/>
                </a:lnTo>
                <a:cubicBezTo>
                  <a:pt x="98550" y="108127"/>
                  <a:pt x="121154" y="116767"/>
                  <a:pt x="139303" y="131802"/>
                </a:cubicBezTo>
                <a:lnTo>
                  <a:pt x="139303" y="39614"/>
                </a:lnTo>
                <a:cubicBezTo>
                  <a:pt x="121154" y="54650"/>
                  <a:pt x="98550" y="63289"/>
                  <a:pt x="75009" y="64193"/>
                </a:cubicBezTo>
                <a:lnTo>
                  <a:pt x="75009" y="107156"/>
                </a:lnTo>
                <a:close/>
              </a:path>
            </a:pathLst>
          </a:custGeom>
          <a:solidFill>
            <a:srgbClr val="B89A6A"/>
          </a:solidFill>
        </p:spPr>
      </p:sp>
      <p:sp>
        <p:nvSpPr>
          <p:cNvPr id="11" name="Text 8"/>
          <p:cNvSpPr/>
          <p:nvPr/>
        </p:nvSpPr>
        <p:spPr>
          <a:xfrm>
            <a:off x="795338" y="5591175"/>
            <a:ext cx="400050"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S&amp;M</a:t>
            </a:r>
            <a:endParaRPr lang="en-US" sz="1600" dirty="0"/>
          </a:p>
        </p:txBody>
      </p:sp>
      <p:sp>
        <p:nvSpPr>
          <p:cNvPr id="12" name="Text 9"/>
          <p:cNvSpPr/>
          <p:nvPr/>
        </p:nvSpPr>
        <p:spPr>
          <a:xfrm>
            <a:off x="504825" y="5857875"/>
            <a:ext cx="1838325" cy="266700"/>
          </a:xfrm>
          <a:prstGeom prst="rect">
            <a:avLst/>
          </a:prstGeom>
          <a:noFill/>
        </p:spPr>
        <p:txBody>
          <a:bodyPr wrap="square" lIns="0" tIns="0" rIns="0" bIns="0" rtlCol="0" anchor="ctr"/>
          <a:lstStyle/>
          <a:p>
            <a:pPr>
              <a:lnSpc>
                <a:spcPct val="120000"/>
              </a:lnSpc>
            </a:pPr>
            <a:r>
              <a:rPr lang="en-US" sz="1500"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+34.2%</a:t>
            </a:r>
            <a:endParaRPr lang="en-US" sz="1600" dirty="0"/>
          </a:p>
        </p:txBody>
      </p:sp>
      <p:sp>
        <p:nvSpPr>
          <p:cNvPr id="13" name="Text 10"/>
          <p:cNvSpPr/>
          <p:nvPr/>
        </p:nvSpPr>
        <p:spPr>
          <a:xfrm>
            <a:off x="504825" y="6124575"/>
            <a:ext cx="1819275"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Global expansion</a:t>
            </a:r>
            <a:endParaRPr lang="en-US" sz="1600" dirty="0"/>
          </a:p>
        </p:txBody>
      </p:sp>
      <p:sp>
        <p:nvSpPr>
          <p:cNvPr id="14" name="Shape 11"/>
          <p:cNvSpPr/>
          <p:nvPr/>
        </p:nvSpPr>
        <p:spPr>
          <a:xfrm>
            <a:off x="2491383" y="5472113"/>
            <a:ext cx="1981200" cy="1000125"/>
          </a:xfrm>
          <a:custGeom>
            <a:avLst/>
            <a:gdLst/>
            <a:ahLst/>
            <a:cxnLst/>
            <a:rect l="l" t="t" r="r" b="b"/>
            <a:pathLst>
              <a:path w="1981200" h="1000125">
                <a:moveTo>
                  <a:pt x="76200" y="0"/>
                </a:moveTo>
                <a:lnTo>
                  <a:pt x="1905000" y="0"/>
                </a:lnTo>
                <a:cubicBezTo>
                  <a:pt x="1947084" y="0"/>
                  <a:pt x="1981200" y="34116"/>
                  <a:pt x="1981200" y="76200"/>
                </a:cubicBezTo>
                <a:lnTo>
                  <a:pt x="1981200" y="923925"/>
                </a:lnTo>
                <a:cubicBezTo>
                  <a:pt x="1981200" y="966009"/>
                  <a:pt x="1947084" y="1000125"/>
                  <a:pt x="1905000" y="1000125"/>
                </a:cubicBezTo>
                <a:lnTo>
                  <a:pt x="76200" y="1000125"/>
                </a:lnTo>
                <a:cubicBezTo>
                  <a:pt x="34116" y="1000125"/>
                  <a:pt x="0" y="966009"/>
                  <a:pt x="0" y="923925"/>
                </a:cubicBezTo>
                <a:lnTo>
                  <a:pt x="0" y="76200"/>
                </a:lnTo>
                <a:cubicBezTo>
                  <a:pt x="0" y="34144"/>
                  <a:pt x="34144" y="0"/>
                  <a:pt x="76200" y="0"/>
                </a:cubicBezTo>
                <a:close/>
              </a:path>
            </a:pathLst>
          </a:custGeom>
          <a:solidFill>
            <a:srgbClr val="4A5C6A">
              <a:alpha val="20000"/>
            </a:srgbClr>
          </a:solidFill>
          <a:ln w="12700">
            <a:solidFill>
              <a:srgbClr val="4A5C6A">
                <a:alpha val="30196"/>
              </a:srgbClr>
            </a:solidFill>
            <a:prstDash val="solid"/>
          </a:ln>
        </p:spPr>
      </p:sp>
      <p:sp>
        <p:nvSpPr>
          <p:cNvPr id="15" name="Shape 12"/>
          <p:cNvSpPr/>
          <p:nvPr/>
        </p:nvSpPr>
        <p:spPr>
          <a:xfrm>
            <a:off x="2644973" y="5619750"/>
            <a:ext cx="150019" cy="171450"/>
          </a:xfrm>
          <a:custGeom>
            <a:avLst/>
            <a:gdLst/>
            <a:ahLst/>
            <a:cxnLst/>
            <a:rect l="l" t="t" r="r" b="b"/>
            <a:pathLst>
              <a:path w="150019" h="171450">
                <a:moveTo>
                  <a:pt x="96441" y="0"/>
                </a:moveTo>
                <a:lnTo>
                  <a:pt x="42863" y="0"/>
                </a:lnTo>
                <a:cubicBezTo>
                  <a:pt x="36935" y="0"/>
                  <a:pt x="32147" y="4789"/>
                  <a:pt x="32147" y="10716"/>
                </a:cubicBezTo>
                <a:cubicBezTo>
                  <a:pt x="32147" y="16643"/>
                  <a:pt x="36935" y="21431"/>
                  <a:pt x="42863" y="21431"/>
                </a:cubicBezTo>
                <a:lnTo>
                  <a:pt x="42863" y="72163"/>
                </a:lnTo>
                <a:lnTo>
                  <a:pt x="2511" y="142752"/>
                </a:lnTo>
                <a:cubicBezTo>
                  <a:pt x="871" y="145666"/>
                  <a:pt x="0" y="148914"/>
                  <a:pt x="0" y="152262"/>
                </a:cubicBezTo>
                <a:cubicBezTo>
                  <a:pt x="0" y="162878"/>
                  <a:pt x="8573" y="171450"/>
                  <a:pt x="19188" y="171450"/>
                </a:cubicBezTo>
                <a:lnTo>
                  <a:pt x="130831" y="171450"/>
                </a:lnTo>
                <a:cubicBezTo>
                  <a:pt x="141413" y="171450"/>
                  <a:pt x="150019" y="162878"/>
                  <a:pt x="150019" y="152262"/>
                </a:cubicBezTo>
                <a:cubicBezTo>
                  <a:pt x="150019" y="148914"/>
                  <a:pt x="149148" y="145632"/>
                  <a:pt x="147507" y="142752"/>
                </a:cubicBezTo>
                <a:lnTo>
                  <a:pt x="107156" y="72163"/>
                </a:lnTo>
                <a:lnTo>
                  <a:pt x="107156" y="21431"/>
                </a:lnTo>
                <a:cubicBezTo>
                  <a:pt x="113083" y="21431"/>
                  <a:pt x="117872" y="16643"/>
                  <a:pt x="117872" y="10716"/>
                </a:cubicBezTo>
                <a:cubicBezTo>
                  <a:pt x="117872" y="4789"/>
                  <a:pt x="113083" y="0"/>
                  <a:pt x="107156" y="0"/>
                </a:cubicBezTo>
                <a:lnTo>
                  <a:pt x="96441" y="0"/>
                </a:lnTo>
                <a:close/>
                <a:moveTo>
                  <a:pt x="64294" y="72163"/>
                </a:moveTo>
                <a:lnTo>
                  <a:pt x="64294" y="21431"/>
                </a:lnTo>
                <a:lnTo>
                  <a:pt x="85725" y="21431"/>
                </a:lnTo>
                <a:lnTo>
                  <a:pt x="85725" y="72163"/>
                </a:lnTo>
                <a:cubicBezTo>
                  <a:pt x="85725" y="75880"/>
                  <a:pt x="86696" y="79564"/>
                  <a:pt x="88538" y="82812"/>
                </a:cubicBezTo>
                <a:lnTo>
                  <a:pt x="102468" y="107156"/>
                </a:lnTo>
                <a:lnTo>
                  <a:pt x="47551" y="107156"/>
                </a:lnTo>
                <a:lnTo>
                  <a:pt x="61481" y="82812"/>
                </a:lnTo>
                <a:cubicBezTo>
                  <a:pt x="63323" y="79564"/>
                  <a:pt x="64294" y="75914"/>
                  <a:pt x="64294" y="72163"/>
                </a:cubicBezTo>
                <a:close/>
              </a:path>
            </a:pathLst>
          </a:custGeom>
          <a:solidFill>
            <a:srgbClr val="B89A6A"/>
          </a:solidFill>
        </p:spPr>
      </p:sp>
      <p:sp>
        <p:nvSpPr>
          <p:cNvPr id="16" name="Text 13"/>
          <p:cNvSpPr/>
          <p:nvPr/>
        </p:nvSpPr>
        <p:spPr>
          <a:xfrm>
            <a:off x="2900958" y="5591175"/>
            <a:ext cx="381000"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R&amp;D</a:t>
            </a:r>
            <a:endParaRPr lang="en-US" sz="1600" dirty="0"/>
          </a:p>
        </p:txBody>
      </p:sp>
      <p:sp>
        <p:nvSpPr>
          <p:cNvPr id="17" name="Text 14"/>
          <p:cNvSpPr/>
          <p:nvPr/>
        </p:nvSpPr>
        <p:spPr>
          <a:xfrm>
            <a:off x="2610445" y="5857875"/>
            <a:ext cx="1838325" cy="266700"/>
          </a:xfrm>
          <a:prstGeom prst="rect">
            <a:avLst/>
          </a:prstGeom>
          <a:noFill/>
        </p:spPr>
        <p:txBody>
          <a:bodyPr wrap="square" lIns="0" tIns="0" rIns="0" bIns="0" rtlCol="0" anchor="ctr"/>
          <a:lstStyle/>
          <a:p>
            <a:pP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+12.8%</a:t>
            </a:r>
            <a:endParaRPr lang="en-US" sz="1600" dirty="0"/>
          </a:p>
        </p:txBody>
      </p:sp>
      <p:sp>
        <p:nvSpPr>
          <p:cNvPr id="18" name="Text 15"/>
          <p:cNvSpPr/>
          <p:nvPr/>
        </p:nvSpPr>
        <p:spPr>
          <a:xfrm>
            <a:off x="2610445" y="6124575"/>
            <a:ext cx="1819275"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Planned growth</a:t>
            </a:r>
            <a:endParaRPr lang="en-US" sz="1600" dirty="0"/>
          </a:p>
        </p:txBody>
      </p:sp>
      <p:sp>
        <p:nvSpPr>
          <p:cNvPr id="19" name="Shape 16"/>
          <p:cNvSpPr/>
          <p:nvPr/>
        </p:nvSpPr>
        <p:spPr>
          <a:xfrm>
            <a:off x="4597078" y="5472113"/>
            <a:ext cx="1981200" cy="1000125"/>
          </a:xfrm>
          <a:custGeom>
            <a:avLst/>
            <a:gdLst/>
            <a:ahLst/>
            <a:cxnLst/>
            <a:rect l="l" t="t" r="r" b="b"/>
            <a:pathLst>
              <a:path w="1981200" h="1000125">
                <a:moveTo>
                  <a:pt x="76200" y="0"/>
                </a:moveTo>
                <a:lnTo>
                  <a:pt x="1905000" y="0"/>
                </a:lnTo>
                <a:cubicBezTo>
                  <a:pt x="1947084" y="0"/>
                  <a:pt x="1981200" y="34116"/>
                  <a:pt x="1981200" y="76200"/>
                </a:cubicBezTo>
                <a:lnTo>
                  <a:pt x="1981200" y="923925"/>
                </a:lnTo>
                <a:cubicBezTo>
                  <a:pt x="1981200" y="966009"/>
                  <a:pt x="1947084" y="1000125"/>
                  <a:pt x="1905000" y="1000125"/>
                </a:cubicBezTo>
                <a:lnTo>
                  <a:pt x="76200" y="1000125"/>
                </a:lnTo>
                <a:cubicBezTo>
                  <a:pt x="34116" y="1000125"/>
                  <a:pt x="0" y="966009"/>
                  <a:pt x="0" y="923925"/>
                </a:cubicBezTo>
                <a:lnTo>
                  <a:pt x="0" y="76200"/>
                </a:lnTo>
                <a:cubicBezTo>
                  <a:pt x="0" y="34144"/>
                  <a:pt x="34144" y="0"/>
                  <a:pt x="76200" y="0"/>
                </a:cubicBezTo>
                <a:close/>
              </a:path>
            </a:pathLst>
          </a:custGeom>
          <a:solidFill>
            <a:srgbClr val="4A5C6A">
              <a:alpha val="20000"/>
            </a:srgbClr>
          </a:solidFill>
          <a:ln w="12700">
            <a:solidFill>
              <a:srgbClr val="4A5C6A">
                <a:alpha val="30196"/>
              </a:srgbClr>
            </a:solidFill>
            <a:prstDash val="solid"/>
          </a:ln>
        </p:spPr>
      </p:sp>
      <p:sp>
        <p:nvSpPr>
          <p:cNvPr id="20" name="Shape 17"/>
          <p:cNvSpPr/>
          <p:nvPr/>
        </p:nvSpPr>
        <p:spPr>
          <a:xfrm>
            <a:off x="4761384" y="5619750"/>
            <a:ext cx="128588" cy="171450"/>
          </a:xfrm>
          <a:custGeom>
            <a:avLst/>
            <a:gdLst/>
            <a:ahLst/>
            <a:cxnLst/>
            <a:rect l="l" t="t" r="r" b="b"/>
            <a:pathLst>
              <a:path w="128588" h="171450">
                <a:moveTo>
                  <a:pt x="21431" y="0"/>
                </a:moveTo>
                <a:cubicBezTo>
                  <a:pt x="9611" y="0"/>
                  <a:pt x="0" y="9611"/>
                  <a:pt x="0" y="21431"/>
                </a:cubicBezTo>
                <a:lnTo>
                  <a:pt x="0" y="150019"/>
                </a:lnTo>
                <a:cubicBezTo>
                  <a:pt x="0" y="161839"/>
                  <a:pt x="9611" y="171450"/>
                  <a:pt x="21431" y="171450"/>
                </a:cubicBezTo>
                <a:lnTo>
                  <a:pt x="107156" y="171450"/>
                </a:lnTo>
                <a:cubicBezTo>
                  <a:pt x="118977" y="171450"/>
                  <a:pt x="128588" y="161839"/>
                  <a:pt x="128588" y="150019"/>
                </a:cubicBezTo>
                <a:lnTo>
                  <a:pt x="128588" y="21431"/>
                </a:lnTo>
                <a:cubicBezTo>
                  <a:pt x="128588" y="9611"/>
                  <a:pt x="118977" y="0"/>
                  <a:pt x="107156" y="0"/>
                </a:cubicBezTo>
                <a:lnTo>
                  <a:pt x="21431" y="0"/>
                </a:lnTo>
                <a:close/>
                <a:moveTo>
                  <a:pt x="58936" y="117872"/>
                </a:moveTo>
                <a:lnTo>
                  <a:pt x="69652" y="117872"/>
                </a:lnTo>
                <a:cubicBezTo>
                  <a:pt x="75579" y="117872"/>
                  <a:pt x="80367" y="122660"/>
                  <a:pt x="80367" y="128588"/>
                </a:cubicBezTo>
                <a:lnTo>
                  <a:pt x="80367" y="155377"/>
                </a:lnTo>
                <a:lnTo>
                  <a:pt x="48220" y="155377"/>
                </a:lnTo>
                <a:lnTo>
                  <a:pt x="48220" y="128588"/>
                </a:lnTo>
                <a:cubicBezTo>
                  <a:pt x="48220" y="122660"/>
                  <a:pt x="53009" y="117872"/>
                  <a:pt x="58936" y="117872"/>
                </a:cubicBezTo>
                <a:close/>
                <a:moveTo>
                  <a:pt x="32147" y="37505"/>
                </a:moveTo>
                <a:cubicBezTo>
                  <a:pt x="32147" y="34558"/>
                  <a:pt x="34558" y="32147"/>
                  <a:pt x="37505" y="32147"/>
                </a:cubicBezTo>
                <a:lnTo>
                  <a:pt x="48220" y="32147"/>
                </a:lnTo>
                <a:cubicBezTo>
                  <a:pt x="51167" y="32147"/>
                  <a:pt x="53578" y="34558"/>
                  <a:pt x="53578" y="37505"/>
                </a:cubicBezTo>
                <a:lnTo>
                  <a:pt x="53578" y="48220"/>
                </a:lnTo>
                <a:cubicBezTo>
                  <a:pt x="53578" y="51167"/>
                  <a:pt x="51167" y="53578"/>
                  <a:pt x="48220" y="53578"/>
                </a:cubicBezTo>
                <a:lnTo>
                  <a:pt x="37505" y="53578"/>
                </a:lnTo>
                <a:cubicBezTo>
                  <a:pt x="34558" y="53578"/>
                  <a:pt x="32147" y="51167"/>
                  <a:pt x="32147" y="48220"/>
                </a:cubicBezTo>
                <a:lnTo>
                  <a:pt x="32147" y="37505"/>
                </a:lnTo>
                <a:close/>
                <a:moveTo>
                  <a:pt x="80367" y="32147"/>
                </a:moveTo>
                <a:lnTo>
                  <a:pt x="91083" y="32147"/>
                </a:lnTo>
                <a:cubicBezTo>
                  <a:pt x="94030" y="32147"/>
                  <a:pt x="96441" y="34558"/>
                  <a:pt x="96441" y="37505"/>
                </a:cubicBezTo>
                <a:lnTo>
                  <a:pt x="96441" y="48220"/>
                </a:lnTo>
                <a:cubicBezTo>
                  <a:pt x="96441" y="51167"/>
                  <a:pt x="94030" y="53578"/>
                  <a:pt x="91083" y="53578"/>
                </a:cubicBezTo>
                <a:lnTo>
                  <a:pt x="80367" y="53578"/>
                </a:lnTo>
                <a:cubicBezTo>
                  <a:pt x="77420" y="53578"/>
                  <a:pt x="75009" y="51167"/>
                  <a:pt x="75009" y="48220"/>
                </a:cubicBezTo>
                <a:lnTo>
                  <a:pt x="75009" y="37505"/>
                </a:lnTo>
                <a:cubicBezTo>
                  <a:pt x="75009" y="34558"/>
                  <a:pt x="77420" y="32147"/>
                  <a:pt x="80367" y="32147"/>
                </a:cubicBezTo>
                <a:close/>
                <a:moveTo>
                  <a:pt x="32147" y="80367"/>
                </a:moveTo>
                <a:cubicBezTo>
                  <a:pt x="32147" y="77420"/>
                  <a:pt x="34558" y="75009"/>
                  <a:pt x="37505" y="75009"/>
                </a:cubicBezTo>
                <a:lnTo>
                  <a:pt x="48220" y="75009"/>
                </a:lnTo>
                <a:cubicBezTo>
                  <a:pt x="51167" y="75009"/>
                  <a:pt x="53578" y="77420"/>
                  <a:pt x="53578" y="80367"/>
                </a:cubicBezTo>
                <a:lnTo>
                  <a:pt x="53578" y="91083"/>
                </a:lnTo>
                <a:cubicBezTo>
                  <a:pt x="53578" y="94030"/>
                  <a:pt x="51167" y="96441"/>
                  <a:pt x="48220" y="96441"/>
                </a:cubicBezTo>
                <a:lnTo>
                  <a:pt x="37505" y="96441"/>
                </a:lnTo>
                <a:cubicBezTo>
                  <a:pt x="34558" y="96441"/>
                  <a:pt x="32147" y="94030"/>
                  <a:pt x="32147" y="91083"/>
                </a:cubicBezTo>
                <a:lnTo>
                  <a:pt x="32147" y="80367"/>
                </a:lnTo>
                <a:close/>
                <a:moveTo>
                  <a:pt x="80367" y="75009"/>
                </a:moveTo>
                <a:lnTo>
                  <a:pt x="91083" y="75009"/>
                </a:lnTo>
                <a:cubicBezTo>
                  <a:pt x="94030" y="75009"/>
                  <a:pt x="96441" y="77420"/>
                  <a:pt x="96441" y="80367"/>
                </a:cubicBezTo>
                <a:lnTo>
                  <a:pt x="96441" y="91083"/>
                </a:lnTo>
                <a:cubicBezTo>
                  <a:pt x="96441" y="94030"/>
                  <a:pt x="94030" y="96441"/>
                  <a:pt x="91083" y="96441"/>
                </a:cubicBezTo>
                <a:lnTo>
                  <a:pt x="80367" y="96441"/>
                </a:lnTo>
                <a:cubicBezTo>
                  <a:pt x="77420" y="96441"/>
                  <a:pt x="75009" y="94030"/>
                  <a:pt x="75009" y="91083"/>
                </a:cubicBezTo>
                <a:lnTo>
                  <a:pt x="75009" y="80367"/>
                </a:lnTo>
                <a:cubicBezTo>
                  <a:pt x="75009" y="77420"/>
                  <a:pt x="77420" y="75009"/>
                  <a:pt x="80367" y="75009"/>
                </a:cubicBezTo>
                <a:close/>
              </a:path>
            </a:pathLst>
          </a:custGeom>
          <a:solidFill>
            <a:srgbClr val="B89A6A"/>
          </a:solidFill>
        </p:spPr>
      </p:sp>
      <p:sp>
        <p:nvSpPr>
          <p:cNvPr id="21" name="Text 18"/>
          <p:cNvSpPr/>
          <p:nvPr/>
        </p:nvSpPr>
        <p:spPr>
          <a:xfrm>
            <a:off x="5006653" y="5591175"/>
            <a:ext cx="381000"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G&amp;A</a:t>
            </a:r>
            <a:endParaRPr lang="en-US" sz="1600" dirty="0"/>
          </a:p>
        </p:txBody>
      </p:sp>
      <p:sp>
        <p:nvSpPr>
          <p:cNvPr id="22" name="Text 19"/>
          <p:cNvSpPr/>
          <p:nvPr/>
        </p:nvSpPr>
        <p:spPr>
          <a:xfrm>
            <a:off x="4716140" y="5857875"/>
            <a:ext cx="1838325" cy="266700"/>
          </a:xfrm>
          <a:prstGeom prst="rect">
            <a:avLst/>
          </a:prstGeom>
          <a:noFill/>
        </p:spPr>
        <p:txBody>
          <a:bodyPr wrap="square" lIns="0" tIns="0" rIns="0" bIns="0" rtlCol="0" anchor="ctr"/>
          <a:lstStyle/>
          <a:p>
            <a:pPr>
              <a:lnSpc>
                <a:spcPct val="120000"/>
              </a:lnSpc>
            </a:pPr>
            <a:r>
              <a:rPr lang="en-US" sz="1500" b="1" dirty="0">
                <a:solidFill>
                  <a:srgbClr val="78828A"/>
                </a:solidFill>
                <a:latin typeface="Quattrocento Sans" panose="020B0502050000020003" pitchFamily="34" charset="0"/>
                <a:ea typeface="Quattrocento Sans" panose="020B0502050000020003" pitchFamily="34" charset="-122"/>
                <a:cs typeface="Quattrocento Sans" panose="020B0502050000020003" pitchFamily="34" charset="-120"/>
              </a:rPr>
              <a:t>+1.2%</a:t>
            </a:r>
            <a:endParaRPr lang="en-US" sz="1600" dirty="0"/>
          </a:p>
        </p:txBody>
      </p:sp>
      <p:sp>
        <p:nvSpPr>
          <p:cNvPr id="23" name="Text 20"/>
          <p:cNvSpPr/>
          <p:nvPr/>
        </p:nvSpPr>
        <p:spPr>
          <a:xfrm>
            <a:off x="4716140" y="6124575"/>
            <a:ext cx="1819275"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Flat control</a:t>
            </a:r>
            <a:endParaRPr lang="en-US" sz="1600" dirty="0"/>
          </a:p>
        </p:txBody>
      </p:sp>
      <p:sp>
        <p:nvSpPr>
          <p:cNvPr id="24" name="Shape 21"/>
          <p:cNvSpPr/>
          <p:nvPr/>
        </p:nvSpPr>
        <p:spPr>
          <a:xfrm>
            <a:off x="6755160" y="1066800"/>
            <a:ext cx="5057775" cy="1647825"/>
          </a:xfrm>
          <a:custGeom>
            <a:avLst/>
            <a:gdLst/>
            <a:ahLst/>
            <a:cxnLst/>
            <a:rect l="l" t="t" r="r" b="b"/>
            <a:pathLst>
              <a:path w="5057775" h="1647825">
                <a:moveTo>
                  <a:pt x="0" y="0"/>
                </a:moveTo>
                <a:lnTo>
                  <a:pt x="4981580" y="0"/>
                </a:lnTo>
                <a:cubicBezTo>
                  <a:pt x="5023633" y="0"/>
                  <a:pt x="5057775" y="34142"/>
                  <a:pt x="5057775" y="76195"/>
                </a:cubicBezTo>
                <a:lnTo>
                  <a:pt x="5057775" y="1571630"/>
                </a:lnTo>
                <a:cubicBezTo>
                  <a:pt x="5057775" y="1613711"/>
                  <a:pt x="5023661" y="1647825"/>
                  <a:pt x="4981580" y="1647825"/>
                </a:cubicBezTo>
                <a:lnTo>
                  <a:pt x="0" y="1647825"/>
                </a:lnTo>
                <a:lnTo>
                  <a:pt x="0" y="0"/>
                </a:lnTo>
                <a:close/>
              </a:path>
            </a:pathLst>
          </a:custGeom>
          <a:solidFill>
            <a:srgbClr val="B89A6A">
              <a:alpha val="10196"/>
            </a:srgbClr>
          </a:solidFill>
        </p:spPr>
      </p:sp>
      <p:sp>
        <p:nvSpPr>
          <p:cNvPr id="25" name="Shape 22"/>
          <p:cNvSpPr/>
          <p:nvPr/>
        </p:nvSpPr>
        <p:spPr>
          <a:xfrm>
            <a:off x="6755160" y="1066800"/>
            <a:ext cx="38100" cy="1647825"/>
          </a:xfrm>
          <a:custGeom>
            <a:avLst/>
            <a:gdLst/>
            <a:ahLst/>
            <a:cxnLst/>
            <a:rect l="l" t="t" r="r" b="b"/>
            <a:pathLst>
              <a:path w="38100" h="1647825">
                <a:moveTo>
                  <a:pt x="0" y="0"/>
                </a:moveTo>
                <a:lnTo>
                  <a:pt x="38100" y="0"/>
                </a:lnTo>
                <a:lnTo>
                  <a:pt x="38100" y="1647825"/>
                </a:lnTo>
                <a:lnTo>
                  <a:pt x="0" y="1647825"/>
                </a:lnTo>
                <a:lnTo>
                  <a:pt x="0" y="0"/>
                </a:lnTo>
                <a:close/>
              </a:path>
            </a:pathLst>
          </a:custGeom>
          <a:solidFill>
            <a:srgbClr val="B89A6A"/>
          </a:solidFill>
        </p:spPr>
      </p:sp>
      <p:sp>
        <p:nvSpPr>
          <p:cNvPr id="26" name="Shape 23"/>
          <p:cNvSpPr/>
          <p:nvPr/>
        </p:nvSpPr>
        <p:spPr>
          <a:xfrm>
            <a:off x="6926610" y="1223963"/>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B89A6A">
              <a:alpha val="20000"/>
            </a:srgbClr>
          </a:solidFill>
        </p:spPr>
      </p:sp>
      <p:sp>
        <p:nvSpPr>
          <p:cNvPr id="27" name="Shape 24"/>
          <p:cNvSpPr/>
          <p:nvPr/>
        </p:nvSpPr>
        <p:spPr>
          <a:xfrm>
            <a:off x="7059960" y="1357313"/>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B89A6A"/>
          </a:solidFill>
        </p:spPr>
      </p:sp>
      <p:sp>
        <p:nvSpPr>
          <p:cNvPr id="28" name="Text 25"/>
          <p:cNvSpPr/>
          <p:nvPr/>
        </p:nvSpPr>
        <p:spPr>
          <a:xfrm>
            <a:off x="7498110" y="1223963"/>
            <a:ext cx="4248150" cy="266700"/>
          </a:xfrm>
          <a:prstGeom prst="rect">
            <a:avLst/>
          </a:prstGeom>
          <a:noFill/>
        </p:spPr>
        <p:txBody>
          <a:bodyPr wrap="square" lIns="0" tIns="0" rIns="0" bIns="0" rtlCol="0" anchor="ctr"/>
          <a:lstStyle/>
          <a:p>
            <a:pPr>
              <a:lnSpc>
                <a:spcPct val="130000"/>
              </a:lnSpc>
            </a:pPr>
            <a:r>
              <a:rPr lang="en-US" sz="13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Sales &amp; Marketing Spike</a:t>
            </a:r>
            <a:endParaRPr lang="en-US" sz="1600" dirty="0"/>
          </a:p>
        </p:txBody>
      </p:sp>
      <p:sp>
        <p:nvSpPr>
          <p:cNvPr id="29" name="Text 26"/>
          <p:cNvSpPr/>
          <p:nvPr/>
        </p:nvSpPr>
        <p:spPr>
          <a:xfrm>
            <a:off x="7498110" y="1566863"/>
            <a:ext cx="4238625" cy="990600"/>
          </a:xfrm>
          <a:prstGeom prst="rect">
            <a:avLst/>
          </a:prstGeom>
          <a:noFill/>
        </p:spPr>
        <p:txBody>
          <a:bodyPr wrap="square" lIns="0" tIns="0" rIns="0" bIns="0" rtlCol="0" anchor="ctr"/>
          <a:lstStyle/>
          <a:p>
            <a:pPr>
              <a:lnSpc>
                <a:spcPct val="14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S&amp;M expenses increased significantly due to </a:t>
            </a:r>
            <a:r>
              <a:rPr lang="en-US" sz="1200" b="1" dirty="0">
                <a:solidFill>
                  <a:srgbClr val="B89A6A"/>
                </a:solidFill>
                <a:latin typeface="Liter" panose="02000503030000020004" pitchFamily="34" charset="0"/>
                <a:ea typeface="Liter" panose="02000503030000020004" pitchFamily="34" charset="-122"/>
                <a:cs typeface="Liter" panose="02000503030000020004" pitchFamily="34" charset="-120"/>
              </a:rPr>
              <a:t>aggressive global expansion</a:t>
            </a: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 initiatives across APAC and EMEA markets. Key investments include new regional offices, localized marketing campaigns, and enterprise sales team expansion.</a:t>
            </a:r>
            <a:endParaRPr lang="en-US" sz="1600" dirty="0"/>
          </a:p>
        </p:txBody>
      </p:sp>
      <p:sp>
        <p:nvSpPr>
          <p:cNvPr id="30" name="Shape 27"/>
          <p:cNvSpPr/>
          <p:nvPr/>
        </p:nvSpPr>
        <p:spPr>
          <a:xfrm>
            <a:off x="6755160" y="2828925"/>
            <a:ext cx="5057775" cy="1647825"/>
          </a:xfrm>
          <a:custGeom>
            <a:avLst/>
            <a:gdLst/>
            <a:ahLst/>
            <a:cxnLst/>
            <a:rect l="l" t="t" r="r" b="b"/>
            <a:pathLst>
              <a:path w="5057775" h="1647825">
                <a:moveTo>
                  <a:pt x="0" y="0"/>
                </a:moveTo>
                <a:lnTo>
                  <a:pt x="4981580" y="0"/>
                </a:lnTo>
                <a:cubicBezTo>
                  <a:pt x="5023633" y="0"/>
                  <a:pt x="5057775" y="34142"/>
                  <a:pt x="5057775" y="76195"/>
                </a:cubicBezTo>
                <a:lnTo>
                  <a:pt x="5057775" y="1571630"/>
                </a:lnTo>
                <a:cubicBezTo>
                  <a:pt x="5057775" y="1613711"/>
                  <a:pt x="5023661" y="1647825"/>
                  <a:pt x="4981580" y="1647825"/>
                </a:cubicBezTo>
                <a:lnTo>
                  <a:pt x="0" y="1647825"/>
                </a:lnTo>
                <a:lnTo>
                  <a:pt x="0" y="0"/>
                </a:lnTo>
                <a:close/>
              </a:path>
            </a:pathLst>
          </a:custGeom>
          <a:solidFill>
            <a:srgbClr val="4A5C6A">
              <a:alpha val="10196"/>
            </a:srgbClr>
          </a:solidFill>
        </p:spPr>
      </p:sp>
      <p:sp>
        <p:nvSpPr>
          <p:cNvPr id="31" name="Shape 28"/>
          <p:cNvSpPr/>
          <p:nvPr/>
        </p:nvSpPr>
        <p:spPr>
          <a:xfrm>
            <a:off x="6755160" y="2828925"/>
            <a:ext cx="38100" cy="1647825"/>
          </a:xfrm>
          <a:custGeom>
            <a:avLst/>
            <a:gdLst/>
            <a:ahLst/>
            <a:cxnLst/>
            <a:rect l="l" t="t" r="r" b="b"/>
            <a:pathLst>
              <a:path w="38100" h="1647825">
                <a:moveTo>
                  <a:pt x="0" y="0"/>
                </a:moveTo>
                <a:lnTo>
                  <a:pt x="38100" y="0"/>
                </a:lnTo>
                <a:lnTo>
                  <a:pt x="38100" y="1647825"/>
                </a:lnTo>
                <a:lnTo>
                  <a:pt x="0" y="1647825"/>
                </a:lnTo>
                <a:lnTo>
                  <a:pt x="0" y="0"/>
                </a:lnTo>
                <a:close/>
              </a:path>
            </a:pathLst>
          </a:custGeom>
          <a:solidFill>
            <a:srgbClr val="4A5C6A"/>
          </a:solidFill>
        </p:spPr>
      </p:sp>
      <p:sp>
        <p:nvSpPr>
          <p:cNvPr id="32" name="Shape 29"/>
          <p:cNvSpPr/>
          <p:nvPr/>
        </p:nvSpPr>
        <p:spPr>
          <a:xfrm>
            <a:off x="6926610" y="2986088"/>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A5C6A">
              <a:alpha val="40000"/>
            </a:srgbClr>
          </a:solidFill>
        </p:spPr>
      </p:sp>
      <p:sp>
        <p:nvSpPr>
          <p:cNvPr id="33" name="Shape 30"/>
          <p:cNvSpPr/>
          <p:nvPr/>
        </p:nvSpPr>
        <p:spPr>
          <a:xfrm>
            <a:off x="7036147" y="3119438"/>
            <a:ext cx="238125" cy="190500"/>
          </a:xfrm>
          <a:custGeom>
            <a:avLst/>
            <a:gdLst/>
            <a:ahLst/>
            <a:cxnLst/>
            <a:rect l="l" t="t" r="r" b="b"/>
            <a:pathLst>
              <a:path w="238125" h="190500">
                <a:moveTo>
                  <a:pt x="142875" y="11906"/>
                </a:moveTo>
                <a:lnTo>
                  <a:pt x="190500" y="11906"/>
                </a:lnTo>
                <a:cubicBezTo>
                  <a:pt x="197086" y="11906"/>
                  <a:pt x="202406" y="17227"/>
                  <a:pt x="202406" y="23812"/>
                </a:cubicBezTo>
                <a:cubicBezTo>
                  <a:pt x="202406" y="30398"/>
                  <a:pt x="197086" y="35719"/>
                  <a:pt x="190500" y="35719"/>
                </a:cubicBezTo>
                <a:lnTo>
                  <a:pt x="148233" y="35719"/>
                </a:lnTo>
                <a:cubicBezTo>
                  <a:pt x="146298" y="45318"/>
                  <a:pt x="139712" y="53243"/>
                  <a:pt x="130969" y="57038"/>
                </a:cubicBezTo>
                <a:lnTo>
                  <a:pt x="130969" y="166688"/>
                </a:lnTo>
                <a:lnTo>
                  <a:pt x="190500" y="166688"/>
                </a:lnTo>
                <a:cubicBezTo>
                  <a:pt x="197086" y="166688"/>
                  <a:pt x="202406" y="172008"/>
                  <a:pt x="202406" y="178594"/>
                </a:cubicBezTo>
                <a:cubicBezTo>
                  <a:pt x="202406" y="185179"/>
                  <a:pt x="197086" y="190500"/>
                  <a:pt x="190500" y="190500"/>
                </a:cubicBezTo>
                <a:lnTo>
                  <a:pt x="47625" y="190500"/>
                </a:lnTo>
                <a:cubicBezTo>
                  <a:pt x="41039" y="190500"/>
                  <a:pt x="35719" y="185179"/>
                  <a:pt x="35719" y="178594"/>
                </a:cubicBezTo>
                <a:cubicBezTo>
                  <a:pt x="35719" y="172008"/>
                  <a:pt x="41039" y="166688"/>
                  <a:pt x="47625" y="166688"/>
                </a:cubicBezTo>
                <a:lnTo>
                  <a:pt x="107156" y="166688"/>
                </a:lnTo>
                <a:lnTo>
                  <a:pt x="107156" y="57038"/>
                </a:lnTo>
                <a:cubicBezTo>
                  <a:pt x="98413" y="53206"/>
                  <a:pt x="91827" y="45281"/>
                  <a:pt x="89892" y="35719"/>
                </a:cubicBezTo>
                <a:lnTo>
                  <a:pt x="47625" y="35719"/>
                </a:lnTo>
                <a:cubicBezTo>
                  <a:pt x="41039" y="35719"/>
                  <a:pt x="35719" y="30398"/>
                  <a:pt x="35719" y="23812"/>
                </a:cubicBezTo>
                <a:cubicBezTo>
                  <a:pt x="35719" y="17227"/>
                  <a:pt x="41039" y="11906"/>
                  <a:pt x="47625" y="11906"/>
                </a:cubicBezTo>
                <a:lnTo>
                  <a:pt x="95250" y="11906"/>
                </a:lnTo>
                <a:cubicBezTo>
                  <a:pt x="100682" y="4688"/>
                  <a:pt x="109314" y="0"/>
                  <a:pt x="119063" y="0"/>
                </a:cubicBezTo>
                <a:cubicBezTo>
                  <a:pt x="128811" y="0"/>
                  <a:pt x="137443" y="4688"/>
                  <a:pt x="142875" y="11906"/>
                </a:cubicBezTo>
                <a:close/>
                <a:moveTo>
                  <a:pt x="163562" y="119063"/>
                </a:moveTo>
                <a:lnTo>
                  <a:pt x="217438" y="119063"/>
                </a:lnTo>
                <a:lnTo>
                  <a:pt x="190500" y="72851"/>
                </a:lnTo>
                <a:lnTo>
                  <a:pt x="163562" y="119063"/>
                </a:lnTo>
                <a:close/>
                <a:moveTo>
                  <a:pt x="190500" y="154781"/>
                </a:moveTo>
                <a:cubicBezTo>
                  <a:pt x="167097" y="154781"/>
                  <a:pt x="147638" y="142131"/>
                  <a:pt x="143619" y="125425"/>
                </a:cubicBezTo>
                <a:cubicBezTo>
                  <a:pt x="142652" y="121332"/>
                  <a:pt x="143991" y="117128"/>
                  <a:pt x="146112" y="113481"/>
                </a:cubicBezTo>
                <a:lnTo>
                  <a:pt x="181533" y="52760"/>
                </a:lnTo>
                <a:cubicBezTo>
                  <a:pt x="183393" y="49560"/>
                  <a:pt x="186817" y="47625"/>
                  <a:pt x="190500" y="47625"/>
                </a:cubicBezTo>
                <a:cubicBezTo>
                  <a:pt x="194183" y="47625"/>
                  <a:pt x="197607" y="49597"/>
                  <a:pt x="199467" y="52760"/>
                </a:cubicBezTo>
                <a:lnTo>
                  <a:pt x="234888" y="113481"/>
                </a:lnTo>
                <a:cubicBezTo>
                  <a:pt x="237009" y="117128"/>
                  <a:pt x="238348" y="121332"/>
                  <a:pt x="237381" y="125425"/>
                </a:cubicBezTo>
                <a:cubicBezTo>
                  <a:pt x="233363" y="142094"/>
                  <a:pt x="213903" y="154781"/>
                  <a:pt x="190500" y="154781"/>
                </a:cubicBezTo>
                <a:close/>
                <a:moveTo>
                  <a:pt x="47179" y="72851"/>
                </a:moveTo>
                <a:lnTo>
                  <a:pt x="20241" y="119063"/>
                </a:lnTo>
                <a:lnTo>
                  <a:pt x="74154" y="119063"/>
                </a:lnTo>
                <a:lnTo>
                  <a:pt x="47179" y="72851"/>
                </a:lnTo>
                <a:close/>
                <a:moveTo>
                  <a:pt x="335" y="125425"/>
                </a:moveTo>
                <a:cubicBezTo>
                  <a:pt x="-633" y="121332"/>
                  <a:pt x="707" y="117128"/>
                  <a:pt x="2828" y="113481"/>
                </a:cubicBezTo>
                <a:lnTo>
                  <a:pt x="38249" y="52760"/>
                </a:lnTo>
                <a:cubicBezTo>
                  <a:pt x="40109" y="49560"/>
                  <a:pt x="43532" y="47625"/>
                  <a:pt x="47216" y="47625"/>
                </a:cubicBezTo>
                <a:cubicBezTo>
                  <a:pt x="50899" y="47625"/>
                  <a:pt x="54322" y="49597"/>
                  <a:pt x="56183" y="52760"/>
                </a:cubicBezTo>
                <a:lnTo>
                  <a:pt x="91604" y="113481"/>
                </a:lnTo>
                <a:cubicBezTo>
                  <a:pt x="93725" y="117128"/>
                  <a:pt x="95064" y="121332"/>
                  <a:pt x="94097" y="125425"/>
                </a:cubicBezTo>
                <a:cubicBezTo>
                  <a:pt x="90078" y="142094"/>
                  <a:pt x="70619" y="154781"/>
                  <a:pt x="47216" y="154781"/>
                </a:cubicBezTo>
                <a:cubicBezTo>
                  <a:pt x="23812" y="154781"/>
                  <a:pt x="4353" y="142131"/>
                  <a:pt x="335" y="125425"/>
                </a:cubicBezTo>
                <a:close/>
              </a:path>
            </a:pathLst>
          </a:custGeom>
          <a:solidFill>
            <a:srgbClr val="B89A6A"/>
          </a:solidFill>
        </p:spPr>
      </p:sp>
      <p:sp>
        <p:nvSpPr>
          <p:cNvPr id="34" name="Text 31"/>
          <p:cNvSpPr/>
          <p:nvPr/>
        </p:nvSpPr>
        <p:spPr>
          <a:xfrm>
            <a:off x="7498110" y="2986088"/>
            <a:ext cx="4248150" cy="266700"/>
          </a:xfrm>
          <a:prstGeom prst="rect">
            <a:avLst/>
          </a:prstGeom>
          <a:noFill/>
        </p:spPr>
        <p:txBody>
          <a:bodyPr wrap="square" lIns="0" tIns="0" rIns="0" bIns="0" rtlCol="0" anchor="ctr"/>
          <a:lstStyle/>
          <a:p>
            <a:pPr>
              <a:lnSpc>
                <a:spcPct val="130000"/>
              </a:lnSpc>
            </a:pPr>
            <a:r>
              <a:rPr lang="en-US" sz="13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G&amp;A Remains Flat</a:t>
            </a:r>
            <a:endParaRPr lang="en-US" sz="1600" dirty="0"/>
          </a:p>
        </p:txBody>
      </p:sp>
      <p:sp>
        <p:nvSpPr>
          <p:cNvPr id="35" name="Text 32"/>
          <p:cNvSpPr/>
          <p:nvPr/>
        </p:nvSpPr>
        <p:spPr>
          <a:xfrm>
            <a:off x="7498110" y="3328988"/>
            <a:ext cx="4238625" cy="990600"/>
          </a:xfrm>
          <a:prstGeom prst="rect">
            <a:avLst/>
          </a:prstGeom>
          <a:noFill/>
        </p:spPr>
        <p:txBody>
          <a:bodyPr wrap="square" lIns="0" tIns="0" rIns="0" bIns="0" rtlCol="0" anchor="ctr"/>
          <a:lstStyle/>
          <a:p>
            <a:pPr>
              <a:lnSpc>
                <a:spcPct val="14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General &amp; Administrative expenses remain </a:t>
            </a: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flat</a:t>
            </a: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 , indicating strong operational efficiency in back-office functions. Cost discipline maintained through process automation and shared service optimization.</a:t>
            </a:r>
            <a:endParaRPr lang="en-US" sz="1600" dirty="0"/>
          </a:p>
        </p:txBody>
      </p:sp>
      <p:sp>
        <p:nvSpPr>
          <p:cNvPr id="36" name="Shape 33"/>
          <p:cNvSpPr/>
          <p:nvPr/>
        </p:nvSpPr>
        <p:spPr>
          <a:xfrm>
            <a:off x="6740872" y="4595813"/>
            <a:ext cx="5067300" cy="1876425"/>
          </a:xfrm>
          <a:custGeom>
            <a:avLst/>
            <a:gdLst/>
            <a:ahLst/>
            <a:cxnLst/>
            <a:rect l="l" t="t" r="r" b="b"/>
            <a:pathLst>
              <a:path w="5067300" h="1876425">
                <a:moveTo>
                  <a:pt x="76202" y="0"/>
                </a:moveTo>
                <a:lnTo>
                  <a:pt x="4991098" y="0"/>
                </a:lnTo>
                <a:cubicBezTo>
                  <a:pt x="5033183" y="0"/>
                  <a:pt x="5067300" y="34117"/>
                  <a:pt x="5067300" y="76202"/>
                </a:cubicBezTo>
                <a:lnTo>
                  <a:pt x="5067300" y="1800223"/>
                </a:lnTo>
                <a:cubicBezTo>
                  <a:pt x="5067300" y="1842308"/>
                  <a:pt x="5033183" y="1876425"/>
                  <a:pt x="4991098" y="1876425"/>
                </a:cubicBezTo>
                <a:lnTo>
                  <a:pt x="76202" y="1876425"/>
                </a:lnTo>
                <a:cubicBezTo>
                  <a:pt x="34117" y="1876425"/>
                  <a:pt x="0" y="1842308"/>
                  <a:pt x="0" y="1800223"/>
                </a:cubicBezTo>
                <a:lnTo>
                  <a:pt x="0" y="76202"/>
                </a:lnTo>
                <a:cubicBezTo>
                  <a:pt x="0" y="34145"/>
                  <a:pt x="34145" y="0"/>
                  <a:pt x="76202" y="0"/>
                </a:cubicBezTo>
                <a:close/>
              </a:path>
            </a:pathLst>
          </a:custGeom>
          <a:solidFill>
            <a:srgbClr val="4A5C6A">
              <a:alpha val="10196"/>
            </a:srgbClr>
          </a:solidFill>
          <a:ln w="12700">
            <a:solidFill>
              <a:srgbClr val="4A5C6A">
                <a:alpha val="30196"/>
              </a:srgbClr>
            </a:solidFill>
            <a:prstDash val="solid"/>
          </a:ln>
        </p:spPr>
      </p:sp>
      <p:sp>
        <p:nvSpPr>
          <p:cNvPr id="37" name="Text 34"/>
          <p:cNvSpPr/>
          <p:nvPr/>
        </p:nvSpPr>
        <p:spPr>
          <a:xfrm>
            <a:off x="6898035" y="4752975"/>
            <a:ext cx="4838700" cy="266700"/>
          </a:xfrm>
          <a:prstGeom prst="rect">
            <a:avLst/>
          </a:prstGeom>
          <a:noFill/>
        </p:spPr>
        <p:txBody>
          <a:bodyPr wrap="square" lIns="0" tIns="0" rIns="0" bIns="0" rtlCol="0" anchor="ctr"/>
          <a:lstStyle/>
          <a:p>
            <a:pPr>
              <a:lnSpc>
                <a:spcPct val="130000"/>
              </a:lnSpc>
            </a:pPr>
            <a:r>
              <a:rPr lang="en-US" sz="13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Q1 OpEx Breakdown</a:t>
            </a:r>
            <a:endParaRPr lang="en-US" sz="1600" dirty="0"/>
          </a:p>
        </p:txBody>
      </p:sp>
      <p:sp>
        <p:nvSpPr>
          <p:cNvPr id="38" name="Text 35"/>
          <p:cNvSpPr/>
          <p:nvPr/>
        </p:nvSpPr>
        <p:spPr>
          <a:xfrm>
            <a:off x="6898035" y="5133975"/>
            <a:ext cx="1295400"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Sales &amp; Marketing</a:t>
            </a:r>
            <a:endParaRPr lang="en-US" sz="1600" dirty="0"/>
          </a:p>
        </p:txBody>
      </p:sp>
      <p:sp>
        <p:nvSpPr>
          <p:cNvPr id="39" name="Text 36"/>
          <p:cNvSpPr/>
          <p:nvPr/>
        </p:nvSpPr>
        <p:spPr>
          <a:xfrm>
            <a:off x="11349856" y="5133975"/>
            <a:ext cx="371475" cy="228600"/>
          </a:xfrm>
          <a:prstGeom prst="rect">
            <a:avLst/>
          </a:prstGeom>
          <a:noFill/>
        </p:spPr>
        <p:txBody>
          <a:bodyPr wrap="square" lIns="0" tIns="0" rIns="0" bIns="0" rtlCol="0" anchor="ctr"/>
          <a:lstStyle/>
          <a:p>
            <a:pPr>
              <a:lnSpc>
                <a:spcPct val="130000"/>
              </a:lnSpc>
            </a:pPr>
            <a:r>
              <a:rPr lang="en-US" sz="1200" b="1" dirty="0">
                <a:solidFill>
                  <a:srgbClr val="B89A6A"/>
                </a:solidFill>
                <a:latin typeface="Liter" panose="02000503030000020004" pitchFamily="34" charset="0"/>
                <a:ea typeface="Liter" panose="02000503030000020004" pitchFamily="34" charset="-122"/>
                <a:cs typeface="Liter" panose="02000503030000020004" pitchFamily="34" charset="-120"/>
              </a:rPr>
              <a:t>42%</a:t>
            </a:r>
            <a:endParaRPr lang="en-US" sz="1600" dirty="0"/>
          </a:p>
        </p:txBody>
      </p:sp>
      <p:sp>
        <p:nvSpPr>
          <p:cNvPr id="40" name="Shape 37"/>
          <p:cNvSpPr/>
          <p:nvPr/>
        </p:nvSpPr>
        <p:spPr>
          <a:xfrm>
            <a:off x="6898035" y="5400675"/>
            <a:ext cx="4752975" cy="76200"/>
          </a:xfrm>
          <a:custGeom>
            <a:avLst/>
            <a:gdLst/>
            <a:ahLst/>
            <a:cxnLst/>
            <a:rect l="l" t="t" r="r" b="b"/>
            <a:pathLst>
              <a:path w="4752975" h="76200">
                <a:moveTo>
                  <a:pt x="38100" y="0"/>
                </a:moveTo>
                <a:lnTo>
                  <a:pt x="4714875" y="0"/>
                </a:lnTo>
                <a:cubicBezTo>
                  <a:pt x="4735903" y="0"/>
                  <a:pt x="4752975" y="17072"/>
                  <a:pt x="4752975" y="38100"/>
                </a:cubicBezTo>
                <a:lnTo>
                  <a:pt x="4752975" y="38100"/>
                </a:lnTo>
                <a:cubicBezTo>
                  <a:pt x="4752975" y="59128"/>
                  <a:pt x="4735903" y="76200"/>
                  <a:pt x="4714875" y="76200"/>
                </a:cubicBezTo>
                <a:lnTo>
                  <a:pt x="38100" y="76200"/>
                </a:lnTo>
                <a:cubicBezTo>
                  <a:pt x="17072" y="76200"/>
                  <a:pt x="0" y="59128"/>
                  <a:pt x="0" y="38100"/>
                </a:cubicBezTo>
                <a:lnTo>
                  <a:pt x="0" y="38100"/>
                </a:lnTo>
                <a:cubicBezTo>
                  <a:pt x="0" y="17072"/>
                  <a:pt x="17072" y="0"/>
                  <a:pt x="38100" y="0"/>
                </a:cubicBezTo>
                <a:close/>
              </a:path>
            </a:pathLst>
          </a:custGeom>
          <a:solidFill>
            <a:srgbClr val="4A5C6A">
              <a:alpha val="30196"/>
            </a:srgbClr>
          </a:solidFill>
        </p:spPr>
      </p:sp>
      <p:sp>
        <p:nvSpPr>
          <p:cNvPr id="41" name="Shape 38"/>
          <p:cNvSpPr/>
          <p:nvPr/>
        </p:nvSpPr>
        <p:spPr>
          <a:xfrm>
            <a:off x="6898035" y="5400675"/>
            <a:ext cx="1990725" cy="76200"/>
          </a:xfrm>
          <a:custGeom>
            <a:avLst/>
            <a:gdLst/>
            <a:ahLst/>
            <a:cxnLst/>
            <a:rect l="l" t="t" r="r" b="b"/>
            <a:pathLst>
              <a:path w="1990725" h="76200">
                <a:moveTo>
                  <a:pt x="38100" y="0"/>
                </a:moveTo>
                <a:lnTo>
                  <a:pt x="1952625" y="0"/>
                </a:lnTo>
                <a:cubicBezTo>
                  <a:pt x="1973653" y="0"/>
                  <a:pt x="1990725" y="17072"/>
                  <a:pt x="1990725" y="38100"/>
                </a:cubicBezTo>
                <a:lnTo>
                  <a:pt x="1990725" y="38100"/>
                </a:lnTo>
                <a:cubicBezTo>
                  <a:pt x="1990725" y="59128"/>
                  <a:pt x="1973653" y="76200"/>
                  <a:pt x="1952625" y="76200"/>
                </a:cubicBezTo>
                <a:lnTo>
                  <a:pt x="38100" y="76200"/>
                </a:lnTo>
                <a:cubicBezTo>
                  <a:pt x="17072" y="76200"/>
                  <a:pt x="0" y="59128"/>
                  <a:pt x="0" y="38100"/>
                </a:cubicBezTo>
                <a:lnTo>
                  <a:pt x="0" y="38100"/>
                </a:lnTo>
                <a:cubicBezTo>
                  <a:pt x="0" y="17072"/>
                  <a:pt x="17072" y="0"/>
                  <a:pt x="38100" y="0"/>
                </a:cubicBezTo>
                <a:close/>
              </a:path>
            </a:pathLst>
          </a:custGeom>
          <a:solidFill>
            <a:srgbClr val="B89A6A"/>
          </a:solidFill>
        </p:spPr>
      </p:sp>
      <p:sp>
        <p:nvSpPr>
          <p:cNvPr id="42" name="Text 39"/>
          <p:cNvSpPr/>
          <p:nvPr/>
        </p:nvSpPr>
        <p:spPr>
          <a:xfrm>
            <a:off x="6898035" y="5553075"/>
            <a:ext cx="390525"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R&amp;D</a:t>
            </a:r>
            <a:endParaRPr lang="en-US" sz="1600" dirty="0"/>
          </a:p>
        </p:txBody>
      </p:sp>
      <p:sp>
        <p:nvSpPr>
          <p:cNvPr id="43" name="Text 40"/>
          <p:cNvSpPr/>
          <p:nvPr/>
        </p:nvSpPr>
        <p:spPr>
          <a:xfrm>
            <a:off x="11350451" y="5553075"/>
            <a:ext cx="371475" cy="228600"/>
          </a:xfrm>
          <a:prstGeom prst="rect">
            <a:avLst/>
          </a:prstGeom>
          <a:noFill/>
        </p:spPr>
        <p:txBody>
          <a:bodyPr wrap="square" lIns="0" tIns="0" rIns="0" bIns="0" rtlCol="0" anchor="ctr"/>
          <a:lstStyle/>
          <a:p>
            <a:pPr>
              <a:lnSpc>
                <a:spcPct val="130000"/>
              </a:lnSpc>
            </a:pPr>
            <a:r>
              <a:rPr lang="en-US" sz="1200" b="1" dirty="0">
                <a:solidFill>
                  <a:srgbClr val="4A5C6A"/>
                </a:solidFill>
                <a:latin typeface="Liter" panose="02000503030000020004" pitchFamily="34" charset="0"/>
                <a:ea typeface="Liter" panose="02000503030000020004" pitchFamily="34" charset="-122"/>
                <a:cs typeface="Liter" panose="02000503030000020004" pitchFamily="34" charset="-120"/>
              </a:rPr>
              <a:t>35%</a:t>
            </a:r>
            <a:endParaRPr lang="en-US" sz="1600" dirty="0"/>
          </a:p>
        </p:txBody>
      </p:sp>
      <p:sp>
        <p:nvSpPr>
          <p:cNvPr id="44" name="Shape 41"/>
          <p:cNvSpPr/>
          <p:nvPr/>
        </p:nvSpPr>
        <p:spPr>
          <a:xfrm>
            <a:off x="6898035" y="5819775"/>
            <a:ext cx="4752975" cy="76200"/>
          </a:xfrm>
          <a:custGeom>
            <a:avLst/>
            <a:gdLst/>
            <a:ahLst/>
            <a:cxnLst/>
            <a:rect l="l" t="t" r="r" b="b"/>
            <a:pathLst>
              <a:path w="4752975" h="76200">
                <a:moveTo>
                  <a:pt x="38100" y="0"/>
                </a:moveTo>
                <a:lnTo>
                  <a:pt x="4714875" y="0"/>
                </a:lnTo>
                <a:cubicBezTo>
                  <a:pt x="4735903" y="0"/>
                  <a:pt x="4752975" y="17072"/>
                  <a:pt x="4752975" y="38100"/>
                </a:cubicBezTo>
                <a:lnTo>
                  <a:pt x="4752975" y="38100"/>
                </a:lnTo>
                <a:cubicBezTo>
                  <a:pt x="4752975" y="59128"/>
                  <a:pt x="4735903" y="76200"/>
                  <a:pt x="4714875" y="76200"/>
                </a:cubicBezTo>
                <a:lnTo>
                  <a:pt x="38100" y="76200"/>
                </a:lnTo>
                <a:cubicBezTo>
                  <a:pt x="17072" y="76200"/>
                  <a:pt x="0" y="59128"/>
                  <a:pt x="0" y="38100"/>
                </a:cubicBezTo>
                <a:lnTo>
                  <a:pt x="0" y="38100"/>
                </a:lnTo>
                <a:cubicBezTo>
                  <a:pt x="0" y="17072"/>
                  <a:pt x="17072" y="0"/>
                  <a:pt x="38100" y="0"/>
                </a:cubicBezTo>
                <a:close/>
              </a:path>
            </a:pathLst>
          </a:custGeom>
          <a:solidFill>
            <a:srgbClr val="4A5C6A">
              <a:alpha val="30196"/>
            </a:srgbClr>
          </a:solidFill>
        </p:spPr>
      </p:sp>
      <p:sp>
        <p:nvSpPr>
          <p:cNvPr id="45" name="Shape 42"/>
          <p:cNvSpPr/>
          <p:nvPr/>
        </p:nvSpPr>
        <p:spPr>
          <a:xfrm>
            <a:off x="6898035" y="5819775"/>
            <a:ext cx="1666875" cy="76200"/>
          </a:xfrm>
          <a:custGeom>
            <a:avLst/>
            <a:gdLst/>
            <a:ahLst/>
            <a:cxnLst/>
            <a:rect l="l" t="t" r="r" b="b"/>
            <a:pathLst>
              <a:path w="1666875" h="76200">
                <a:moveTo>
                  <a:pt x="38100" y="0"/>
                </a:moveTo>
                <a:lnTo>
                  <a:pt x="1628775" y="0"/>
                </a:lnTo>
                <a:cubicBezTo>
                  <a:pt x="1649803" y="0"/>
                  <a:pt x="1666875" y="17072"/>
                  <a:pt x="1666875" y="38100"/>
                </a:cubicBezTo>
                <a:lnTo>
                  <a:pt x="1666875" y="38100"/>
                </a:lnTo>
                <a:cubicBezTo>
                  <a:pt x="1666875" y="59128"/>
                  <a:pt x="1649803" y="76200"/>
                  <a:pt x="1628775" y="76200"/>
                </a:cubicBezTo>
                <a:lnTo>
                  <a:pt x="38100" y="76200"/>
                </a:lnTo>
                <a:cubicBezTo>
                  <a:pt x="17072" y="76200"/>
                  <a:pt x="0" y="59128"/>
                  <a:pt x="0" y="38100"/>
                </a:cubicBezTo>
                <a:lnTo>
                  <a:pt x="0" y="38100"/>
                </a:lnTo>
                <a:cubicBezTo>
                  <a:pt x="0" y="17072"/>
                  <a:pt x="17072" y="0"/>
                  <a:pt x="38100" y="0"/>
                </a:cubicBezTo>
                <a:close/>
              </a:path>
            </a:pathLst>
          </a:custGeom>
          <a:solidFill>
            <a:srgbClr val="4A5C6A"/>
          </a:solidFill>
        </p:spPr>
      </p:sp>
      <p:sp>
        <p:nvSpPr>
          <p:cNvPr id="46" name="Text 43"/>
          <p:cNvSpPr/>
          <p:nvPr/>
        </p:nvSpPr>
        <p:spPr>
          <a:xfrm>
            <a:off x="6898035" y="5972175"/>
            <a:ext cx="400050"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G&amp;A</a:t>
            </a:r>
            <a:endParaRPr lang="en-US" sz="1600" dirty="0"/>
          </a:p>
        </p:txBody>
      </p:sp>
      <p:sp>
        <p:nvSpPr>
          <p:cNvPr id="47" name="Text 44"/>
          <p:cNvSpPr/>
          <p:nvPr/>
        </p:nvSpPr>
        <p:spPr>
          <a:xfrm>
            <a:off x="11349707" y="5972175"/>
            <a:ext cx="371475" cy="228600"/>
          </a:xfrm>
          <a:prstGeom prst="rect">
            <a:avLst/>
          </a:prstGeom>
          <a:noFill/>
        </p:spPr>
        <p:txBody>
          <a:bodyPr wrap="square" lIns="0" tIns="0" rIns="0" bIns="0" rtlCol="0" anchor="ctr"/>
          <a:lstStyle/>
          <a:p>
            <a:pPr>
              <a:lnSpc>
                <a:spcPct val="130000"/>
              </a:lnSpc>
            </a:pPr>
            <a:r>
              <a:rPr lang="en-US" sz="1200" b="1" dirty="0">
                <a:solidFill>
                  <a:srgbClr val="78828A"/>
                </a:solidFill>
                <a:latin typeface="Liter" panose="02000503030000020004" pitchFamily="34" charset="0"/>
                <a:ea typeface="Liter" panose="02000503030000020004" pitchFamily="34" charset="-122"/>
                <a:cs typeface="Liter" panose="02000503030000020004" pitchFamily="34" charset="-120"/>
              </a:rPr>
              <a:t>23%</a:t>
            </a:r>
            <a:endParaRPr lang="en-US" sz="1600" dirty="0"/>
          </a:p>
        </p:txBody>
      </p:sp>
      <p:sp>
        <p:nvSpPr>
          <p:cNvPr id="48" name="Shape 45"/>
          <p:cNvSpPr/>
          <p:nvPr/>
        </p:nvSpPr>
        <p:spPr>
          <a:xfrm>
            <a:off x="6898035" y="6238875"/>
            <a:ext cx="4752975" cy="76200"/>
          </a:xfrm>
          <a:custGeom>
            <a:avLst/>
            <a:gdLst/>
            <a:ahLst/>
            <a:cxnLst/>
            <a:rect l="l" t="t" r="r" b="b"/>
            <a:pathLst>
              <a:path w="4752975" h="76200">
                <a:moveTo>
                  <a:pt x="38100" y="0"/>
                </a:moveTo>
                <a:lnTo>
                  <a:pt x="4714875" y="0"/>
                </a:lnTo>
                <a:cubicBezTo>
                  <a:pt x="4735903" y="0"/>
                  <a:pt x="4752975" y="17072"/>
                  <a:pt x="4752975" y="38100"/>
                </a:cubicBezTo>
                <a:lnTo>
                  <a:pt x="4752975" y="38100"/>
                </a:lnTo>
                <a:cubicBezTo>
                  <a:pt x="4752975" y="59128"/>
                  <a:pt x="4735903" y="76200"/>
                  <a:pt x="4714875" y="76200"/>
                </a:cubicBezTo>
                <a:lnTo>
                  <a:pt x="38100" y="76200"/>
                </a:lnTo>
                <a:cubicBezTo>
                  <a:pt x="17072" y="76200"/>
                  <a:pt x="0" y="59128"/>
                  <a:pt x="0" y="38100"/>
                </a:cubicBezTo>
                <a:lnTo>
                  <a:pt x="0" y="38100"/>
                </a:lnTo>
                <a:cubicBezTo>
                  <a:pt x="0" y="17072"/>
                  <a:pt x="17072" y="0"/>
                  <a:pt x="38100" y="0"/>
                </a:cubicBezTo>
                <a:close/>
              </a:path>
            </a:pathLst>
          </a:custGeom>
          <a:solidFill>
            <a:srgbClr val="4A5C6A">
              <a:alpha val="30196"/>
            </a:srgbClr>
          </a:solidFill>
        </p:spPr>
      </p:sp>
      <p:sp>
        <p:nvSpPr>
          <p:cNvPr id="49" name="Shape 46"/>
          <p:cNvSpPr/>
          <p:nvPr/>
        </p:nvSpPr>
        <p:spPr>
          <a:xfrm>
            <a:off x="6898035" y="6238875"/>
            <a:ext cx="1095375" cy="76200"/>
          </a:xfrm>
          <a:custGeom>
            <a:avLst/>
            <a:gdLst/>
            <a:ahLst/>
            <a:cxnLst/>
            <a:rect l="l" t="t" r="r" b="b"/>
            <a:pathLst>
              <a:path w="1095375" h="76200">
                <a:moveTo>
                  <a:pt x="38100" y="0"/>
                </a:moveTo>
                <a:lnTo>
                  <a:pt x="1057275" y="0"/>
                </a:lnTo>
                <a:cubicBezTo>
                  <a:pt x="1078303" y="0"/>
                  <a:pt x="1095375" y="17072"/>
                  <a:pt x="1095375" y="38100"/>
                </a:cubicBezTo>
                <a:lnTo>
                  <a:pt x="1095375" y="38100"/>
                </a:lnTo>
                <a:cubicBezTo>
                  <a:pt x="1095375" y="59128"/>
                  <a:pt x="1078303" y="76200"/>
                  <a:pt x="1057275" y="76200"/>
                </a:cubicBezTo>
                <a:lnTo>
                  <a:pt x="38100" y="76200"/>
                </a:lnTo>
                <a:cubicBezTo>
                  <a:pt x="17072" y="76200"/>
                  <a:pt x="0" y="59128"/>
                  <a:pt x="0" y="38100"/>
                </a:cubicBezTo>
                <a:lnTo>
                  <a:pt x="0" y="38100"/>
                </a:lnTo>
                <a:cubicBezTo>
                  <a:pt x="0" y="17072"/>
                  <a:pt x="17072" y="0"/>
                  <a:pt x="38100" y="0"/>
                </a:cubicBezTo>
                <a:close/>
              </a:path>
            </a:pathLst>
          </a:custGeom>
          <a:solidFill>
            <a:srgbClr val="78828A"/>
          </a:solidFill>
        </p:spPr>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sp>
        <p:nvSpPr>
          <p:cNvPr id="2" name="Shape 0"/>
          <p:cNvSpPr/>
          <p:nvPr/>
        </p:nvSpPr>
        <p:spPr>
          <a:xfrm>
            <a:off x="381000" y="495300"/>
            <a:ext cx="57150" cy="381000"/>
          </a:xfrm>
          <a:custGeom>
            <a:avLst/>
            <a:gdLst/>
            <a:ahLst/>
            <a:cxnLst/>
            <a:rect l="l" t="t" r="r" b="b"/>
            <a:pathLst>
              <a:path w="57150" h="381000">
                <a:moveTo>
                  <a:pt x="0" y="0"/>
                </a:moveTo>
                <a:lnTo>
                  <a:pt x="57150" y="0"/>
                </a:lnTo>
                <a:lnTo>
                  <a:pt x="57150" y="381000"/>
                </a:lnTo>
                <a:lnTo>
                  <a:pt x="0" y="381000"/>
                </a:lnTo>
                <a:lnTo>
                  <a:pt x="0" y="0"/>
                </a:lnTo>
                <a:close/>
              </a:path>
            </a:pathLst>
          </a:custGeom>
          <a:solidFill>
            <a:srgbClr val="B89A6A"/>
          </a:solidFill>
        </p:spPr>
      </p:sp>
      <p:sp>
        <p:nvSpPr>
          <p:cNvPr id="3" name="Text 1"/>
          <p:cNvSpPr/>
          <p:nvPr/>
        </p:nvSpPr>
        <p:spPr>
          <a:xfrm>
            <a:off x="552450" y="381000"/>
            <a:ext cx="3933825" cy="228600"/>
          </a:xfrm>
          <a:prstGeom prst="rect">
            <a:avLst/>
          </a:prstGeom>
          <a:noFill/>
        </p:spPr>
        <p:txBody>
          <a:bodyPr wrap="square" lIns="0" tIns="0" rIns="0" bIns="0" rtlCol="0" anchor="ctr"/>
          <a:lstStyle/>
          <a:p>
            <a:pPr>
              <a:lnSpc>
                <a:spcPct val="130000"/>
              </a:lnSpc>
            </a:pPr>
            <a:r>
              <a:rPr lang="en-US" sz="1200" b="1" kern="0" spc="60" dirty="0">
                <a:solidFill>
                  <a:srgbClr val="B89A6A"/>
                </a:solidFill>
                <a:latin typeface="Liter" panose="02000503030000020004" pitchFamily="34" charset="0"/>
                <a:ea typeface="Liter" panose="02000503030000020004" pitchFamily="34" charset="-122"/>
                <a:cs typeface="Liter" panose="02000503030000020004" pitchFamily="34" charset="-120"/>
              </a:rPr>
              <a:t>LIQUIDITY MANAGEMENT</a:t>
            </a:r>
            <a:endParaRPr lang="en-US" sz="1600" dirty="0"/>
          </a:p>
        </p:txBody>
      </p:sp>
      <p:sp>
        <p:nvSpPr>
          <p:cNvPr id="4" name="Text 2"/>
          <p:cNvSpPr/>
          <p:nvPr/>
        </p:nvSpPr>
        <p:spPr>
          <a:xfrm>
            <a:off x="552450" y="609600"/>
            <a:ext cx="4029075" cy="381000"/>
          </a:xfrm>
          <a:prstGeom prst="rect">
            <a:avLst/>
          </a:prstGeom>
          <a:noFill/>
        </p:spPr>
        <p:txBody>
          <a:bodyPr wrap="square" lIns="0" tIns="0" rIns="0" bIns="0" rtlCol="0" anchor="ctr"/>
          <a:lstStyle/>
          <a:p>
            <a:pPr>
              <a:lnSpc>
                <a:spcPct val="90000"/>
              </a:lnSpc>
            </a:pPr>
            <a:r>
              <a:rPr lang="en-US" sz="27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Cash Runway &amp; Burn Rate</a:t>
            </a:r>
            <a:endParaRPr lang="en-US" sz="1600" dirty="0"/>
          </a:p>
        </p:txBody>
      </p:sp>
      <p:sp>
        <p:nvSpPr>
          <p:cNvPr id="5" name="Shape 3"/>
          <p:cNvSpPr/>
          <p:nvPr/>
        </p:nvSpPr>
        <p:spPr>
          <a:xfrm>
            <a:off x="390525" y="1152525"/>
            <a:ext cx="4495800" cy="2990850"/>
          </a:xfrm>
          <a:custGeom>
            <a:avLst/>
            <a:gdLst/>
            <a:ahLst/>
            <a:cxnLst/>
            <a:rect l="l" t="t" r="r" b="b"/>
            <a:pathLst>
              <a:path w="4495800" h="2990850">
                <a:moveTo>
                  <a:pt x="76207" y="0"/>
                </a:moveTo>
                <a:lnTo>
                  <a:pt x="4419593" y="0"/>
                </a:lnTo>
                <a:cubicBezTo>
                  <a:pt x="4461681" y="0"/>
                  <a:pt x="4495800" y="34119"/>
                  <a:pt x="4495800" y="76207"/>
                </a:cubicBezTo>
                <a:lnTo>
                  <a:pt x="4495800" y="2914643"/>
                </a:lnTo>
                <a:cubicBezTo>
                  <a:pt x="4495800" y="2956731"/>
                  <a:pt x="4461681" y="2990850"/>
                  <a:pt x="4419593" y="2990850"/>
                </a:cubicBezTo>
                <a:lnTo>
                  <a:pt x="76207" y="2990850"/>
                </a:lnTo>
                <a:cubicBezTo>
                  <a:pt x="34119" y="2990850"/>
                  <a:pt x="0" y="2956731"/>
                  <a:pt x="0" y="2914643"/>
                </a:cubicBezTo>
                <a:lnTo>
                  <a:pt x="0" y="76207"/>
                </a:lnTo>
                <a:cubicBezTo>
                  <a:pt x="0" y="34147"/>
                  <a:pt x="34147" y="0"/>
                  <a:pt x="76207" y="0"/>
                </a:cubicBezTo>
                <a:close/>
              </a:path>
            </a:pathLst>
          </a:custGeom>
          <a:gradFill flip="none" rotWithShape="1">
            <a:gsLst>
              <a:gs pos="0">
                <a:srgbClr val="B89A6A">
                  <a:alpha val="20000"/>
                </a:srgbClr>
              </a:gs>
              <a:gs pos="100000">
                <a:srgbClr val="B89A6A">
                  <a:alpha val="5000"/>
                </a:srgbClr>
              </a:gs>
            </a:gsLst>
            <a:lin ang="2700000" scaled="1"/>
          </a:gradFill>
          <a:ln w="25400">
            <a:solidFill>
              <a:srgbClr val="B89A6A">
                <a:alpha val="40000"/>
              </a:srgbClr>
            </a:solidFill>
            <a:prstDash val="solid"/>
          </a:ln>
        </p:spPr>
      </p:sp>
      <p:sp>
        <p:nvSpPr>
          <p:cNvPr id="6" name="Shape 4"/>
          <p:cNvSpPr/>
          <p:nvPr/>
        </p:nvSpPr>
        <p:spPr>
          <a:xfrm>
            <a:off x="2486471" y="1428750"/>
            <a:ext cx="300038" cy="342900"/>
          </a:xfrm>
          <a:custGeom>
            <a:avLst/>
            <a:gdLst/>
            <a:ahLst/>
            <a:cxnLst/>
            <a:rect l="l" t="t" r="r" b="b"/>
            <a:pathLst>
              <a:path w="300038" h="342900">
                <a:moveTo>
                  <a:pt x="85725" y="0"/>
                </a:moveTo>
                <a:cubicBezTo>
                  <a:pt x="97579" y="0"/>
                  <a:pt x="107156" y="9577"/>
                  <a:pt x="107156" y="21431"/>
                </a:cubicBezTo>
                <a:lnTo>
                  <a:pt x="107156" y="42863"/>
                </a:lnTo>
                <a:lnTo>
                  <a:pt x="192881" y="42863"/>
                </a:lnTo>
                <a:lnTo>
                  <a:pt x="192881" y="21431"/>
                </a:lnTo>
                <a:cubicBezTo>
                  <a:pt x="192881" y="9577"/>
                  <a:pt x="202458" y="0"/>
                  <a:pt x="214313" y="0"/>
                </a:cubicBezTo>
                <a:cubicBezTo>
                  <a:pt x="226167" y="0"/>
                  <a:pt x="235744" y="9577"/>
                  <a:pt x="235744" y="21431"/>
                </a:cubicBezTo>
                <a:lnTo>
                  <a:pt x="235744" y="42863"/>
                </a:lnTo>
                <a:lnTo>
                  <a:pt x="257175" y="42863"/>
                </a:lnTo>
                <a:cubicBezTo>
                  <a:pt x="280816" y="42863"/>
                  <a:pt x="300038" y="62084"/>
                  <a:pt x="300038" y="85725"/>
                </a:cubicBezTo>
                <a:lnTo>
                  <a:pt x="300038" y="278606"/>
                </a:lnTo>
                <a:cubicBezTo>
                  <a:pt x="300038" y="302248"/>
                  <a:pt x="280816" y="321469"/>
                  <a:pt x="257175" y="321469"/>
                </a:cubicBezTo>
                <a:lnTo>
                  <a:pt x="42863" y="321469"/>
                </a:lnTo>
                <a:cubicBezTo>
                  <a:pt x="19221" y="321469"/>
                  <a:pt x="0" y="302248"/>
                  <a:pt x="0" y="278606"/>
                </a:cubicBezTo>
                <a:lnTo>
                  <a:pt x="0" y="85725"/>
                </a:lnTo>
                <a:cubicBezTo>
                  <a:pt x="0" y="62084"/>
                  <a:pt x="19221" y="42863"/>
                  <a:pt x="42863" y="42863"/>
                </a:cubicBezTo>
                <a:lnTo>
                  <a:pt x="64294" y="42863"/>
                </a:lnTo>
                <a:lnTo>
                  <a:pt x="64294" y="21431"/>
                </a:lnTo>
                <a:cubicBezTo>
                  <a:pt x="64294" y="9577"/>
                  <a:pt x="73871" y="0"/>
                  <a:pt x="85725" y="0"/>
                </a:cubicBezTo>
                <a:close/>
                <a:moveTo>
                  <a:pt x="42863" y="160734"/>
                </a:moveTo>
                <a:lnTo>
                  <a:pt x="42863" y="182166"/>
                </a:lnTo>
                <a:cubicBezTo>
                  <a:pt x="42863" y="188059"/>
                  <a:pt x="47685" y="192881"/>
                  <a:pt x="53578" y="192881"/>
                </a:cubicBezTo>
                <a:lnTo>
                  <a:pt x="75009" y="192881"/>
                </a:lnTo>
                <a:cubicBezTo>
                  <a:pt x="80903" y="192881"/>
                  <a:pt x="85725" y="188059"/>
                  <a:pt x="85725" y="182166"/>
                </a:cubicBezTo>
                <a:lnTo>
                  <a:pt x="85725" y="160734"/>
                </a:lnTo>
                <a:cubicBezTo>
                  <a:pt x="85725" y="154841"/>
                  <a:pt x="80903" y="150019"/>
                  <a:pt x="75009" y="150019"/>
                </a:cubicBezTo>
                <a:lnTo>
                  <a:pt x="53578" y="150019"/>
                </a:lnTo>
                <a:cubicBezTo>
                  <a:pt x="47685" y="150019"/>
                  <a:pt x="42863" y="154841"/>
                  <a:pt x="42863" y="160734"/>
                </a:cubicBezTo>
                <a:close/>
                <a:moveTo>
                  <a:pt x="128588" y="160734"/>
                </a:moveTo>
                <a:lnTo>
                  <a:pt x="128588" y="182166"/>
                </a:lnTo>
                <a:cubicBezTo>
                  <a:pt x="128588" y="188059"/>
                  <a:pt x="133410" y="192881"/>
                  <a:pt x="139303" y="192881"/>
                </a:cubicBezTo>
                <a:lnTo>
                  <a:pt x="160734" y="192881"/>
                </a:lnTo>
                <a:cubicBezTo>
                  <a:pt x="166628" y="192881"/>
                  <a:pt x="171450" y="188059"/>
                  <a:pt x="171450" y="182166"/>
                </a:cubicBezTo>
                <a:lnTo>
                  <a:pt x="171450" y="160734"/>
                </a:lnTo>
                <a:cubicBezTo>
                  <a:pt x="171450" y="154841"/>
                  <a:pt x="166628" y="150019"/>
                  <a:pt x="160734" y="150019"/>
                </a:cubicBezTo>
                <a:lnTo>
                  <a:pt x="139303" y="150019"/>
                </a:lnTo>
                <a:cubicBezTo>
                  <a:pt x="133410" y="150019"/>
                  <a:pt x="128588" y="154841"/>
                  <a:pt x="128588" y="160734"/>
                </a:cubicBezTo>
                <a:close/>
                <a:moveTo>
                  <a:pt x="225028" y="150019"/>
                </a:moveTo>
                <a:cubicBezTo>
                  <a:pt x="219135" y="150019"/>
                  <a:pt x="214313" y="154841"/>
                  <a:pt x="214313" y="160734"/>
                </a:cubicBezTo>
                <a:lnTo>
                  <a:pt x="214313" y="182166"/>
                </a:lnTo>
                <a:cubicBezTo>
                  <a:pt x="214313" y="188059"/>
                  <a:pt x="219135" y="192881"/>
                  <a:pt x="225028" y="192881"/>
                </a:cubicBezTo>
                <a:lnTo>
                  <a:pt x="246459" y="192881"/>
                </a:lnTo>
                <a:cubicBezTo>
                  <a:pt x="252353" y="192881"/>
                  <a:pt x="257175" y="188059"/>
                  <a:pt x="257175" y="182166"/>
                </a:cubicBezTo>
                <a:lnTo>
                  <a:pt x="257175" y="160734"/>
                </a:lnTo>
                <a:cubicBezTo>
                  <a:pt x="257175" y="154841"/>
                  <a:pt x="252353" y="150019"/>
                  <a:pt x="246459" y="150019"/>
                </a:cubicBezTo>
                <a:lnTo>
                  <a:pt x="225028" y="150019"/>
                </a:lnTo>
                <a:close/>
                <a:moveTo>
                  <a:pt x="42863" y="246459"/>
                </a:moveTo>
                <a:lnTo>
                  <a:pt x="42863" y="267891"/>
                </a:lnTo>
                <a:cubicBezTo>
                  <a:pt x="42863" y="273784"/>
                  <a:pt x="47685" y="278606"/>
                  <a:pt x="53578" y="278606"/>
                </a:cubicBezTo>
                <a:lnTo>
                  <a:pt x="75009" y="278606"/>
                </a:lnTo>
                <a:cubicBezTo>
                  <a:pt x="80903" y="278606"/>
                  <a:pt x="85725" y="273784"/>
                  <a:pt x="85725" y="267891"/>
                </a:cubicBezTo>
                <a:lnTo>
                  <a:pt x="85725" y="246459"/>
                </a:lnTo>
                <a:cubicBezTo>
                  <a:pt x="85725" y="240566"/>
                  <a:pt x="80903" y="235744"/>
                  <a:pt x="75009" y="235744"/>
                </a:cubicBezTo>
                <a:lnTo>
                  <a:pt x="53578" y="235744"/>
                </a:lnTo>
                <a:cubicBezTo>
                  <a:pt x="47685" y="235744"/>
                  <a:pt x="42863" y="240566"/>
                  <a:pt x="42863" y="246459"/>
                </a:cubicBezTo>
                <a:close/>
                <a:moveTo>
                  <a:pt x="139303" y="235744"/>
                </a:moveTo>
                <a:cubicBezTo>
                  <a:pt x="133410" y="235744"/>
                  <a:pt x="128588" y="240566"/>
                  <a:pt x="128588" y="246459"/>
                </a:cubicBezTo>
                <a:lnTo>
                  <a:pt x="128588" y="267891"/>
                </a:lnTo>
                <a:cubicBezTo>
                  <a:pt x="128588" y="273784"/>
                  <a:pt x="133410" y="278606"/>
                  <a:pt x="139303" y="278606"/>
                </a:cubicBezTo>
                <a:lnTo>
                  <a:pt x="160734" y="278606"/>
                </a:lnTo>
                <a:cubicBezTo>
                  <a:pt x="166628" y="278606"/>
                  <a:pt x="171450" y="273784"/>
                  <a:pt x="171450" y="267891"/>
                </a:cubicBezTo>
                <a:lnTo>
                  <a:pt x="171450" y="246459"/>
                </a:lnTo>
                <a:cubicBezTo>
                  <a:pt x="171450" y="240566"/>
                  <a:pt x="166628" y="235744"/>
                  <a:pt x="160734" y="235744"/>
                </a:cubicBezTo>
                <a:lnTo>
                  <a:pt x="139303" y="235744"/>
                </a:lnTo>
                <a:close/>
                <a:moveTo>
                  <a:pt x="214313" y="246459"/>
                </a:moveTo>
                <a:lnTo>
                  <a:pt x="214313" y="267891"/>
                </a:lnTo>
                <a:cubicBezTo>
                  <a:pt x="214313" y="273784"/>
                  <a:pt x="219135" y="278606"/>
                  <a:pt x="225028" y="278606"/>
                </a:cubicBezTo>
                <a:lnTo>
                  <a:pt x="246459" y="278606"/>
                </a:lnTo>
                <a:cubicBezTo>
                  <a:pt x="252353" y="278606"/>
                  <a:pt x="257175" y="273784"/>
                  <a:pt x="257175" y="267891"/>
                </a:cubicBezTo>
                <a:lnTo>
                  <a:pt x="257175" y="246459"/>
                </a:lnTo>
                <a:cubicBezTo>
                  <a:pt x="257175" y="240566"/>
                  <a:pt x="252353" y="235744"/>
                  <a:pt x="246459" y="235744"/>
                </a:cubicBezTo>
                <a:lnTo>
                  <a:pt x="225028" y="235744"/>
                </a:lnTo>
                <a:cubicBezTo>
                  <a:pt x="219135" y="235744"/>
                  <a:pt x="214313" y="240566"/>
                  <a:pt x="214313" y="246459"/>
                </a:cubicBezTo>
                <a:close/>
              </a:path>
            </a:pathLst>
          </a:custGeom>
          <a:solidFill>
            <a:srgbClr val="B89A6A"/>
          </a:solidFill>
        </p:spPr>
      </p:sp>
      <p:sp>
        <p:nvSpPr>
          <p:cNvPr id="7" name="Text 5"/>
          <p:cNvSpPr/>
          <p:nvPr/>
        </p:nvSpPr>
        <p:spPr>
          <a:xfrm>
            <a:off x="1612032" y="1924050"/>
            <a:ext cx="2047875" cy="228600"/>
          </a:xfrm>
          <a:prstGeom prst="rect">
            <a:avLst/>
          </a:prstGeom>
          <a:noFill/>
        </p:spPr>
        <p:txBody>
          <a:bodyPr wrap="square" lIns="0" tIns="0" rIns="0" bIns="0" rtlCol="0" anchor="ctr"/>
          <a:lstStyle/>
          <a:p>
            <a:pPr algn="ctr">
              <a:lnSpc>
                <a:spcPct val="130000"/>
              </a:lnSpc>
            </a:pPr>
            <a:r>
              <a:rPr lang="en-US" sz="1200" kern="0" spc="60" dirty="0">
                <a:solidFill>
                  <a:srgbClr val="78828A"/>
                </a:solidFill>
                <a:latin typeface="Liter" panose="02000503030000020004" pitchFamily="34" charset="0"/>
                <a:ea typeface="Liter" panose="02000503030000020004" pitchFamily="34" charset="-122"/>
                <a:cs typeface="Liter" panose="02000503030000020004" pitchFamily="34" charset="-120"/>
              </a:rPr>
              <a:t>Current Cash Runway</a:t>
            </a:r>
            <a:endParaRPr lang="en-US" sz="1600" dirty="0"/>
          </a:p>
        </p:txBody>
      </p:sp>
      <p:sp>
        <p:nvSpPr>
          <p:cNvPr id="8" name="Text 6"/>
          <p:cNvSpPr/>
          <p:nvPr/>
        </p:nvSpPr>
        <p:spPr>
          <a:xfrm>
            <a:off x="1596628" y="2228850"/>
            <a:ext cx="1040383" cy="757238"/>
          </a:xfrm>
          <a:prstGeom prst="rect">
            <a:avLst/>
          </a:prstGeom>
          <a:noFill/>
        </p:spPr>
        <p:txBody>
          <a:bodyPr wrap="square" lIns="0" tIns="0" rIns="0" bIns="0" rtlCol="0" anchor="ctr"/>
          <a:lstStyle/>
          <a:p>
            <a:pPr algn="ctr">
              <a:lnSpc>
                <a:spcPct val="80000"/>
              </a:lnSpc>
            </a:pPr>
            <a:r>
              <a:rPr lang="en-US" sz="5400"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24</a:t>
            </a:r>
            <a:endParaRPr lang="en-US" sz="1600" dirty="0"/>
          </a:p>
        </p:txBody>
      </p:sp>
      <p:sp>
        <p:nvSpPr>
          <p:cNvPr id="9" name="Text 7"/>
          <p:cNvSpPr/>
          <p:nvPr/>
        </p:nvSpPr>
        <p:spPr>
          <a:xfrm>
            <a:off x="2500833" y="2566988"/>
            <a:ext cx="1075581" cy="319088"/>
          </a:xfrm>
          <a:prstGeom prst="rect">
            <a:avLst/>
          </a:prstGeom>
          <a:noFill/>
        </p:spPr>
        <p:txBody>
          <a:bodyPr wrap="square" lIns="0" tIns="0" rIns="0" bIns="0" rtlCol="0" anchor="ctr"/>
          <a:lstStyle/>
          <a:p>
            <a:pPr algn="ctr">
              <a:lnSpc>
                <a:spcPct val="100000"/>
              </a:lnSpc>
            </a:pPr>
            <a:r>
              <a:rPr lang="en-US" sz="2250"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months</a:t>
            </a:r>
            <a:endParaRPr lang="en-US" sz="1600" dirty="0"/>
          </a:p>
        </p:txBody>
      </p:sp>
      <p:sp>
        <p:nvSpPr>
          <p:cNvPr id="10" name="Text 8"/>
          <p:cNvSpPr/>
          <p:nvPr/>
        </p:nvSpPr>
        <p:spPr>
          <a:xfrm>
            <a:off x="1861691" y="3067050"/>
            <a:ext cx="1552575" cy="266700"/>
          </a:xfrm>
          <a:prstGeom prst="rect">
            <a:avLst/>
          </a:prstGeom>
          <a:noFill/>
        </p:spPr>
        <p:txBody>
          <a:bodyPr wrap="square" lIns="0" tIns="0" rIns="0" bIns="0" rtlCol="0" anchor="ctr"/>
          <a:lstStyle/>
          <a:p>
            <a:pPr algn="ctr">
              <a:lnSpc>
                <a:spcPct val="130000"/>
              </a:lnSpc>
            </a:pPr>
            <a:r>
              <a:rPr lang="en-US" sz="1350" dirty="0">
                <a:solidFill>
                  <a:srgbClr val="78828A"/>
                </a:solidFill>
                <a:latin typeface="Liter" panose="02000503030000020004" pitchFamily="34" charset="0"/>
                <a:ea typeface="Liter" panose="02000503030000020004" pitchFamily="34" charset="-122"/>
                <a:cs typeface="Liter" panose="02000503030000020004" pitchFamily="34" charset="-120"/>
              </a:rPr>
              <a:t>At current burn rate</a:t>
            </a:r>
            <a:endParaRPr lang="en-US" sz="1600" dirty="0"/>
          </a:p>
        </p:txBody>
      </p:sp>
      <p:sp>
        <p:nvSpPr>
          <p:cNvPr id="11" name="Shape 9"/>
          <p:cNvSpPr/>
          <p:nvPr/>
        </p:nvSpPr>
        <p:spPr>
          <a:xfrm>
            <a:off x="1429271" y="3486150"/>
            <a:ext cx="2409825" cy="381000"/>
          </a:xfrm>
          <a:custGeom>
            <a:avLst/>
            <a:gdLst/>
            <a:ahLst/>
            <a:cxnLst/>
            <a:rect l="l" t="t" r="r" b="b"/>
            <a:pathLst>
              <a:path w="2409825" h="381000">
                <a:moveTo>
                  <a:pt x="76200" y="0"/>
                </a:moveTo>
                <a:lnTo>
                  <a:pt x="2333625" y="0"/>
                </a:lnTo>
                <a:cubicBezTo>
                  <a:pt x="2375681" y="0"/>
                  <a:pt x="2409825" y="34144"/>
                  <a:pt x="2409825" y="76200"/>
                </a:cubicBezTo>
                <a:lnTo>
                  <a:pt x="2409825" y="304800"/>
                </a:lnTo>
                <a:cubicBezTo>
                  <a:pt x="2409825" y="346856"/>
                  <a:pt x="2375681" y="381000"/>
                  <a:pt x="2333625" y="381000"/>
                </a:cubicBezTo>
                <a:lnTo>
                  <a:pt x="76200" y="381000"/>
                </a:lnTo>
                <a:cubicBezTo>
                  <a:pt x="34144" y="381000"/>
                  <a:pt x="0" y="346856"/>
                  <a:pt x="0" y="304800"/>
                </a:cubicBezTo>
                <a:lnTo>
                  <a:pt x="0" y="76200"/>
                </a:lnTo>
                <a:cubicBezTo>
                  <a:pt x="0" y="34144"/>
                  <a:pt x="34144" y="0"/>
                  <a:pt x="76200" y="0"/>
                </a:cubicBezTo>
                <a:close/>
              </a:path>
            </a:pathLst>
          </a:custGeom>
          <a:solidFill>
            <a:srgbClr val="B89A6A">
              <a:alpha val="20000"/>
            </a:srgbClr>
          </a:solidFill>
        </p:spPr>
      </p:sp>
      <p:sp>
        <p:nvSpPr>
          <p:cNvPr id="12" name="Text 10"/>
          <p:cNvSpPr/>
          <p:nvPr/>
        </p:nvSpPr>
        <p:spPr>
          <a:xfrm>
            <a:off x="1543571" y="3562350"/>
            <a:ext cx="2181225" cy="228600"/>
          </a:xfrm>
          <a:prstGeom prst="rect">
            <a:avLst/>
          </a:prstGeom>
          <a:noFill/>
        </p:spPr>
        <p:txBody>
          <a:bodyPr wrap="square" lIns="0" tIns="0" rIns="0" bIns="0" rtlCol="0" anchor="ctr"/>
          <a:lstStyle/>
          <a:p>
            <a:pPr algn="ctr">
              <a:lnSpc>
                <a:spcPct val="130000"/>
              </a:lnSpc>
            </a:pPr>
            <a:r>
              <a:rPr lang="en-US" sz="1200" b="1" dirty="0">
                <a:solidFill>
                  <a:srgbClr val="B89A6A"/>
                </a:solidFill>
                <a:latin typeface="Liter" panose="02000503030000020004" pitchFamily="34" charset="0"/>
                <a:ea typeface="Liter" panose="02000503030000020004" pitchFamily="34" charset="-122"/>
                <a:cs typeface="Liter" panose="02000503030000020004" pitchFamily="34" charset="-120"/>
              </a:rPr>
              <a:t>✓ Financial Stability Maintained</a:t>
            </a:r>
            <a:endParaRPr lang="en-US" sz="1600" dirty="0"/>
          </a:p>
        </p:txBody>
      </p:sp>
      <p:sp>
        <p:nvSpPr>
          <p:cNvPr id="13" name="Shape 11"/>
          <p:cNvSpPr/>
          <p:nvPr/>
        </p:nvSpPr>
        <p:spPr>
          <a:xfrm>
            <a:off x="385763" y="4271963"/>
            <a:ext cx="4505325" cy="1190625"/>
          </a:xfrm>
          <a:custGeom>
            <a:avLst/>
            <a:gdLst/>
            <a:ahLst/>
            <a:cxnLst/>
            <a:rect l="l" t="t" r="r" b="b"/>
            <a:pathLst>
              <a:path w="4505325" h="1190625">
                <a:moveTo>
                  <a:pt x="76200" y="0"/>
                </a:moveTo>
                <a:lnTo>
                  <a:pt x="4429125" y="0"/>
                </a:lnTo>
                <a:cubicBezTo>
                  <a:pt x="4471181" y="0"/>
                  <a:pt x="4505325" y="34144"/>
                  <a:pt x="4505325" y="76200"/>
                </a:cubicBezTo>
                <a:lnTo>
                  <a:pt x="4505325" y="1114425"/>
                </a:lnTo>
                <a:cubicBezTo>
                  <a:pt x="4505325" y="1156481"/>
                  <a:pt x="4471181" y="1190625"/>
                  <a:pt x="4429125" y="1190625"/>
                </a:cubicBezTo>
                <a:lnTo>
                  <a:pt x="76200" y="1190625"/>
                </a:lnTo>
                <a:cubicBezTo>
                  <a:pt x="34144" y="1190625"/>
                  <a:pt x="0" y="1156481"/>
                  <a:pt x="0" y="1114425"/>
                </a:cubicBezTo>
                <a:lnTo>
                  <a:pt x="0" y="76200"/>
                </a:lnTo>
                <a:cubicBezTo>
                  <a:pt x="0" y="34144"/>
                  <a:pt x="34144" y="0"/>
                  <a:pt x="76200" y="0"/>
                </a:cubicBezTo>
                <a:close/>
              </a:path>
            </a:pathLst>
          </a:custGeom>
          <a:solidFill>
            <a:srgbClr val="4A5C6A">
              <a:alpha val="20000"/>
            </a:srgbClr>
          </a:solidFill>
          <a:ln w="12700">
            <a:solidFill>
              <a:srgbClr val="4A5C6A">
                <a:alpha val="30196"/>
              </a:srgbClr>
            </a:solidFill>
            <a:prstDash val="solid"/>
          </a:ln>
        </p:spPr>
      </p:sp>
      <p:sp>
        <p:nvSpPr>
          <p:cNvPr id="14" name="Shape 12"/>
          <p:cNvSpPr/>
          <p:nvPr/>
        </p:nvSpPr>
        <p:spPr>
          <a:xfrm>
            <a:off x="542925" y="446722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B89A6A">
              <a:alpha val="20000"/>
            </a:srgbClr>
          </a:solidFill>
        </p:spPr>
      </p:sp>
      <p:sp>
        <p:nvSpPr>
          <p:cNvPr id="15" name="Shape 13"/>
          <p:cNvSpPr/>
          <p:nvPr/>
        </p:nvSpPr>
        <p:spPr>
          <a:xfrm>
            <a:off x="700088" y="4600575"/>
            <a:ext cx="142875" cy="190500"/>
          </a:xfrm>
          <a:custGeom>
            <a:avLst/>
            <a:gdLst/>
            <a:ahLst/>
            <a:cxnLst/>
            <a:rect l="l" t="t" r="r" b="b"/>
            <a:pathLst>
              <a:path w="142875" h="190500">
                <a:moveTo>
                  <a:pt x="57150" y="11125"/>
                </a:moveTo>
                <a:lnTo>
                  <a:pt x="63103" y="3200"/>
                </a:lnTo>
                <a:cubicBezTo>
                  <a:pt x="64591" y="1191"/>
                  <a:pt x="66973" y="0"/>
                  <a:pt x="69466" y="0"/>
                </a:cubicBezTo>
                <a:cubicBezTo>
                  <a:pt x="73819" y="0"/>
                  <a:pt x="77391" y="3572"/>
                  <a:pt x="77391" y="7925"/>
                </a:cubicBezTo>
                <a:lnTo>
                  <a:pt x="77391" y="16148"/>
                </a:lnTo>
                <a:cubicBezTo>
                  <a:pt x="77391" y="21022"/>
                  <a:pt x="79400" y="25710"/>
                  <a:pt x="82934" y="29059"/>
                </a:cubicBezTo>
                <a:lnTo>
                  <a:pt x="114449" y="59159"/>
                </a:lnTo>
                <a:cubicBezTo>
                  <a:pt x="132606" y="76498"/>
                  <a:pt x="142875" y="100533"/>
                  <a:pt x="142875" y="125648"/>
                </a:cubicBezTo>
                <a:cubicBezTo>
                  <a:pt x="142875" y="161479"/>
                  <a:pt x="113854" y="190500"/>
                  <a:pt x="78023" y="190500"/>
                </a:cubicBezTo>
                <a:lnTo>
                  <a:pt x="71438" y="190500"/>
                </a:lnTo>
                <a:cubicBezTo>
                  <a:pt x="31998" y="190500"/>
                  <a:pt x="0" y="158502"/>
                  <a:pt x="0" y="119063"/>
                </a:cubicBezTo>
                <a:lnTo>
                  <a:pt x="0" y="117649"/>
                </a:lnTo>
                <a:cubicBezTo>
                  <a:pt x="0" y="99492"/>
                  <a:pt x="7218" y="82079"/>
                  <a:pt x="20055" y="69242"/>
                </a:cubicBezTo>
                <a:lnTo>
                  <a:pt x="21357" y="67940"/>
                </a:lnTo>
                <a:cubicBezTo>
                  <a:pt x="22920" y="66377"/>
                  <a:pt x="25078" y="65484"/>
                  <a:pt x="27310" y="65484"/>
                </a:cubicBezTo>
                <a:cubicBezTo>
                  <a:pt x="31961" y="65484"/>
                  <a:pt x="35719" y="69242"/>
                  <a:pt x="35719" y="73893"/>
                </a:cubicBezTo>
                <a:lnTo>
                  <a:pt x="35719" y="107156"/>
                </a:lnTo>
                <a:cubicBezTo>
                  <a:pt x="35719" y="120290"/>
                  <a:pt x="46397" y="130969"/>
                  <a:pt x="59531" y="130969"/>
                </a:cubicBezTo>
                <a:cubicBezTo>
                  <a:pt x="72665" y="130969"/>
                  <a:pt x="83344" y="120290"/>
                  <a:pt x="83344" y="107156"/>
                </a:cubicBezTo>
                <a:lnTo>
                  <a:pt x="83344" y="105705"/>
                </a:lnTo>
                <a:cubicBezTo>
                  <a:pt x="83344" y="99008"/>
                  <a:pt x="80665" y="92571"/>
                  <a:pt x="75940" y="87846"/>
                </a:cubicBezTo>
                <a:lnTo>
                  <a:pt x="61578" y="73484"/>
                </a:lnTo>
                <a:cubicBezTo>
                  <a:pt x="52648" y="64554"/>
                  <a:pt x="47625" y="52388"/>
                  <a:pt x="47625" y="39737"/>
                </a:cubicBezTo>
                <a:cubicBezTo>
                  <a:pt x="47625" y="29431"/>
                  <a:pt x="50974" y="19348"/>
                  <a:pt x="57150" y="11125"/>
                </a:cubicBezTo>
                <a:close/>
              </a:path>
            </a:pathLst>
          </a:custGeom>
          <a:solidFill>
            <a:srgbClr val="B89A6A"/>
          </a:solidFill>
        </p:spPr>
      </p:sp>
      <p:sp>
        <p:nvSpPr>
          <p:cNvPr id="16" name="Text 14"/>
          <p:cNvSpPr/>
          <p:nvPr/>
        </p:nvSpPr>
        <p:spPr>
          <a:xfrm>
            <a:off x="1114425" y="4429125"/>
            <a:ext cx="124777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Monthly Burn Rate</a:t>
            </a:r>
            <a:endParaRPr lang="en-US" sz="1600" dirty="0"/>
          </a:p>
        </p:txBody>
      </p:sp>
      <p:sp>
        <p:nvSpPr>
          <p:cNvPr id="17" name="Text 15"/>
          <p:cNvSpPr/>
          <p:nvPr/>
        </p:nvSpPr>
        <p:spPr>
          <a:xfrm>
            <a:off x="1114425" y="4619625"/>
            <a:ext cx="1323975" cy="342900"/>
          </a:xfrm>
          <a:prstGeom prst="rect">
            <a:avLst/>
          </a:prstGeom>
          <a:noFill/>
        </p:spPr>
        <p:txBody>
          <a:bodyPr wrap="square" lIns="0" tIns="0" rIns="0" bIns="0" rtlCol="0" anchor="ctr"/>
          <a:lstStyle/>
          <a:p>
            <a:pPr>
              <a:lnSpc>
                <a:spcPct val="100000"/>
              </a:lnSpc>
            </a:pPr>
            <a:r>
              <a:rPr lang="en-US" sz="22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28.5M </a:t>
            </a:r>
            <a:r>
              <a:rPr lang="en-US" sz="1350" b="1" dirty="0">
                <a:solidFill>
                  <a:srgbClr val="78828A"/>
                </a:solidFill>
                <a:latin typeface="Quattrocento Sans" panose="020B0502050000020003" pitchFamily="34" charset="0"/>
                <a:ea typeface="Quattrocento Sans" panose="020B0502050000020003" pitchFamily="34" charset="-122"/>
                <a:cs typeface="Quattrocento Sans" panose="020B0502050000020003" pitchFamily="34" charset="-120"/>
              </a:rPr>
              <a:t>RMB</a:t>
            </a:r>
            <a:endParaRPr lang="en-US" sz="1600" dirty="0"/>
          </a:p>
        </p:txBody>
      </p:sp>
      <p:sp>
        <p:nvSpPr>
          <p:cNvPr id="18" name="Shape 16"/>
          <p:cNvSpPr/>
          <p:nvPr/>
        </p:nvSpPr>
        <p:spPr>
          <a:xfrm>
            <a:off x="578644" y="5124450"/>
            <a:ext cx="100013" cy="133350"/>
          </a:xfrm>
          <a:custGeom>
            <a:avLst/>
            <a:gdLst/>
            <a:ahLst/>
            <a:cxnLst/>
            <a:rect l="l" t="t" r="r" b="b"/>
            <a:pathLst>
              <a:path w="100013" h="133350">
                <a:moveTo>
                  <a:pt x="44120" y="130902"/>
                </a:moveTo>
                <a:cubicBezTo>
                  <a:pt x="47376" y="134157"/>
                  <a:pt x="52663" y="134157"/>
                  <a:pt x="55918" y="130902"/>
                </a:cubicBezTo>
                <a:lnTo>
                  <a:pt x="97590" y="89230"/>
                </a:lnTo>
                <a:cubicBezTo>
                  <a:pt x="100846" y="85974"/>
                  <a:pt x="100846" y="80687"/>
                  <a:pt x="97590" y="77432"/>
                </a:cubicBezTo>
                <a:cubicBezTo>
                  <a:pt x="94335" y="74176"/>
                  <a:pt x="89048" y="74176"/>
                  <a:pt x="85792" y="77432"/>
                </a:cubicBezTo>
                <a:lnTo>
                  <a:pt x="58341" y="104883"/>
                </a:lnTo>
                <a:lnTo>
                  <a:pt x="58341" y="8334"/>
                </a:lnTo>
                <a:cubicBezTo>
                  <a:pt x="58341" y="3724"/>
                  <a:pt x="54616" y="0"/>
                  <a:pt x="50006" y="0"/>
                </a:cubicBezTo>
                <a:cubicBezTo>
                  <a:pt x="45396" y="0"/>
                  <a:pt x="41672" y="3724"/>
                  <a:pt x="41672" y="8334"/>
                </a:cubicBezTo>
                <a:lnTo>
                  <a:pt x="41672" y="104883"/>
                </a:lnTo>
                <a:lnTo>
                  <a:pt x="14221" y="77432"/>
                </a:lnTo>
                <a:cubicBezTo>
                  <a:pt x="10965" y="74176"/>
                  <a:pt x="5678" y="74176"/>
                  <a:pt x="2422" y="77432"/>
                </a:cubicBezTo>
                <a:cubicBezTo>
                  <a:pt x="-833" y="80687"/>
                  <a:pt x="-833" y="85974"/>
                  <a:pt x="2422" y="89230"/>
                </a:cubicBezTo>
                <a:lnTo>
                  <a:pt x="44094" y="130902"/>
                </a:lnTo>
                <a:close/>
              </a:path>
            </a:pathLst>
          </a:custGeom>
          <a:solidFill>
            <a:srgbClr val="B89A6A"/>
          </a:solidFill>
        </p:spPr>
      </p:sp>
      <p:sp>
        <p:nvSpPr>
          <p:cNvPr id="19" name="Text 17"/>
          <p:cNvSpPr/>
          <p:nvPr/>
        </p:nvSpPr>
        <p:spPr>
          <a:xfrm>
            <a:off x="785813" y="5076825"/>
            <a:ext cx="1371600" cy="228600"/>
          </a:xfrm>
          <a:prstGeom prst="rect">
            <a:avLst/>
          </a:prstGeom>
          <a:noFill/>
        </p:spPr>
        <p:txBody>
          <a:bodyPr wrap="square" lIns="0" tIns="0" rIns="0" bIns="0" rtlCol="0" anchor="ctr"/>
          <a:lstStyle/>
          <a:p>
            <a:pPr>
              <a:lnSpc>
                <a:spcPct val="130000"/>
              </a:lnSpc>
            </a:pPr>
            <a:r>
              <a:rPr lang="en-US" sz="1200" b="1" dirty="0">
                <a:solidFill>
                  <a:srgbClr val="B89A6A"/>
                </a:solidFill>
                <a:latin typeface="Liter" panose="02000503030000020004" pitchFamily="34" charset="0"/>
                <a:ea typeface="Liter" panose="02000503030000020004" pitchFamily="34" charset="-122"/>
                <a:cs typeface="Liter" panose="02000503030000020004" pitchFamily="34" charset="-120"/>
              </a:rPr>
              <a:t>-12.3% vs. Q4 2025</a:t>
            </a:r>
            <a:endParaRPr lang="en-US" sz="1600" dirty="0"/>
          </a:p>
        </p:txBody>
      </p:sp>
      <p:sp>
        <p:nvSpPr>
          <p:cNvPr id="20" name="Shape 18"/>
          <p:cNvSpPr/>
          <p:nvPr/>
        </p:nvSpPr>
        <p:spPr>
          <a:xfrm>
            <a:off x="5049217" y="1147763"/>
            <a:ext cx="6753225" cy="3076575"/>
          </a:xfrm>
          <a:custGeom>
            <a:avLst/>
            <a:gdLst/>
            <a:ahLst/>
            <a:cxnLst/>
            <a:rect l="l" t="t" r="r" b="b"/>
            <a:pathLst>
              <a:path w="6753225" h="3076575">
                <a:moveTo>
                  <a:pt x="76207" y="0"/>
                </a:moveTo>
                <a:lnTo>
                  <a:pt x="6677018" y="0"/>
                </a:lnTo>
                <a:cubicBezTo>
                  <a:pt x="6719106" y="0"/>
                  <a:pt x="6753225" y="34119"/>
                  <a:pt x="6753225" y="76207"/>
                </a:cubicBezTo>
                <a:lnTo>
                  <a:pt x="6753225" y="3000368"/>
                </a:lnTo>
                <a:cubicBezTo>
                  <a:pt x="6753225" y="3042456"/>
                  <a:pt x="6719106" y="3076575"/>
                  <a:pt x="6677018" y="3076575"/>
                </a:cubicBezTo>
                <a:lnTo>
                  <a:pt x="76207" y="3076575"/>
                </a:lnTo>
                <a:cubicBezTo>
                  <a:pt x="34119" y="3076575"/>
                  <a:pt x="0" y="3042456"/>
                  <a:pt x="0" y="3000368"/>
                </a:cubicBezTo>
                <a:lnTo>
                  <a:pt x="0" y="76207"/>
                </a:lnTo>
                <a:cubicBezTo>
                  <a:pt x="0" y="34119"/>
                  <a:pt x="34119" y="0"/>
                  <a:pt x="76207" y="0"/>
                </a:cubicBezTo>
                <a:close/>
              </a:path>
            </a:pathLst>
          </a:custGeom>
          <a:solidFill>
            <a:srgbClr val="4A5C6A">
              <a:alpha val="10196"/>
            </a:srgbClr>
          </a:solidFill>
          <a:ln w="12700">
            <a:solidFill>
              <a:srgbClr val="4A5C6A">
                <a:alpha val="30196"/>
              </a:srgbClr>
            </a:solidFill>
            <a:prstDash val="solid"/>
          </a:ln>
        </p:spPr>
      </p:sp>
      <p:sp>
        <p:nvSpPr>
          <p:cNvPr id="21" name="Shape 19"/>
          <p:cNvSpPr/>
          <p:nvPr/>
        </p:nvSpPr>
        <p:spPr>
          <a:xfrm>
            <a:off x="5230192" y="1343025"/>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B89A6A"/>
          </a:solidFill>
        </p:spPr>
      </p:sp>
      <p:sp>
        <p:nvSpPr>
          <p:cNvPr id="22" name="Text 20"/>
          <p:cNvSpPr/>
          <p:nvPr/>
        </p:nvSpPr>
        <p:spPr>
          <a:xfrm>
            <a:off x="5444505" y="1304925"/>
            <a:ext cx="6296025" cy="266700"/>
          </a:xfrm>
          <a:prstGeom prst="rect">
            <a:avLst/>
          </a:prstGeom>
          <a:noFill/>
        </p:spPr>
        <p:txBody>
          <a:bodyPr wrap="square" lIns="0" tIns="0" rIns="0" bIns="0" rtlCol="0" anchor="ctr"/>
          <a:lstStyle/>
          <a:p>
            <a:pP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Cash Position Trajectory</a:t>
            </a:r>
            <a:endParaRPr lang="en-US" sz="1600" dirty="0"/>
          </a:p>
        </p:txBody>
      </p:sp>
      <p:pic>
        <p:nvPicPr>
          <p:cNvPr id="23" name="Image 0" descr="https://kimi-img.moonshot.cn/pub/slides/26-03-22-16:22:39-d6vqdjoh8njsshggi6sg.png"/>
          <p:cNvPicPr>
            <a:picLocks noChangeAspect="1"/>
          </p:cNvPicPr>
          <p:nvPr/>
        </p:nvPicPr>
        <p:blipFill>
          <a:blip r:embed="rId1"/>
          <a:srcRect/>
          <a:stretch>
            <a:fillRect/>
          </a:stretch>
        </p:blipFill>
        <p:spPr>
          <a:xfrm>
            <a:off x="5206380" y="1685925"/>
            <a:ext cx="6438900" cy="2381250"/>
          </a:xfrm>
          <a:prstGeom prst="roundRect">
            <a:avLst>
              <a:gd name="adj" fmla="val 0"/>
            </a:avLst>
          </a:prstGeom>
        </p:spPr>
      </p:pic>
      <p:sp>
        <p:nvSpPr>
          <p:cNvPr id="24" name="Shape 21"/>
          <p:cNvSpPr/>
          <p:nvPr/>
        </p:nvSpPr>
        <p:spPr>
          <a:xfrm>
            <a:off x="5049217" y="4348163"/>
            <a:ext cx="6753225" cy="1114425"/>
          </a:xfrm>
          <a:custGeom>
            <a:avLst/>
            <a:gdLst/>
            <a:ahLst/>
            <a:cxnLst/>
            <a:rect l="l" t="t" r="r" b="b"/>
            <a:pathLst>
              <a:path w="6753225" h="1114425">
                <a:moveTo>
                  <a:pt x="76204" y="0"/>
                </a:moveTo>
                <a:lnTo>
                  <a:pt x="6677021" y="0"/>
                </a:lnTo>
                <a:cubicBezTo>
                  <a:pt x="6719107" y="0"/>
                  <a:pt x="6753225" y="34118"/>
                  <a:pt x="6753225" y="76204"/>
                </a:cubicBezTo>
                <a:lnTo>
                  <a:pt x="6753225" y="1038221"/>
                </a:lnTo>
                <a:cubicBezTo>
                  <a:pt x="6753225" y="1080307"/>
                  <a:pt x="6719107" y="1114425"/>
                  <a:pt x="6677021" y="1114425"/>
                </a:cubicBezTo>
                <a:lnTo>
                  <a:pt x="76204" y="1114425"/>
                </a:lnTo>
                <a:cubicBezTo>
                  <a:pt x="34118" y="1114425"/>
                  <a:pt x="0" y="1080307"/>
                  <a:pt x="0" y="1038221"/>
                </a:cubicBezTo>
                <a:lnTo>
                  <a:pt x="0" y="76204"/>
                </a:lnTo>
                <a:cubicBezTo>
                  <a:pt x="0" y="34146"/>
                  <a:pt x="34146" y="0"/>
                  <a:pt x="76204" y="0"/>
                </a:cubicBezTo>
                <a:close/>
              </a:path>
            </a:pathLst>
          </a:custGeom>
          <a:solidFill>
            <a:srgbClr val="B89A6A">
              <a:alpha val="10196"/>
            </a:srgbClr>
          </a:solidFill>
          <a:ln w="12700">
            <a:solidFill>
              <a:srgbClr val="B89A6A">
                <a:alpha val="30196"/>
              </a:srgbClr>
            </a:solidFill>
            <a:prstDash val="solid"/>
          </a:ln>
        </p:spPr>
      </p:sp>
      <p:sp>
        <p:nvSpPr>
          <p:cNvPr id="25" name="Shape 22"/>
          <p:cNvSpPr/>
          <p:nvPr/>
        </p:nvSpPr>
        <p:spPr>
          <a:xfrm>
            <a:off x="5208761" y="4552950"/>
            <a:ext cx="214313" cy="171450"/>
          </a:xfrm>
          <a:custGeom>
            <a:avLst/>
            <a:gdLst/>
            <a:ahLst/>
            <a:cxnLst/>
            <a:rect l="l" t="t" r="r" b="b"/>
            <a:pathLst>
              <a:path w="214313" h="171450">
                <a:moveTo>
                  <a:pt x="139270" y="70489"/>
                </a:moveTo>
                <a:cubicBezTo>
                  <a:pt x="143355" y="69384"/>
                  <a:pt x="147641" y="71326"/>
                  <a:pt x="149483" y="75110"/>
                </a:cubicBezTo>
                <a:lnTo>
                  <a:pt x="155711" y="87701"/>
                </a:lnTo>
                <a:cubicBezTo>
                  <a:pt x="159161" y="88170"/>
                  <a:pt x="162543" y="89107"/>
                  <a:pt x="165724" y="90413"/>
                </a:cubicBezTo>
                <a:lnTo>
                  <a:pt x="177444" y="82611"/>
                </a:lnTo>
                <a:cubicBezTo>
                  <a:pt x="180960" y="80267"/>
                  <a:pt x="185615" y="80736"/>
                  <a:pt x="188595" y="83716"/>
                </a:cubicBezTo>
                <a:lnTo>
                  <a:pt x="195024" y="90145"/>
                </a:lnTo>
                <a:cubicBezTo>
                  <a:pt x="198005" y="93125"/>
                  <a:pt x="198473" y="97814"/>
                  <a:pt x="196129" y="101296"/>
                </a:cubicBezTo>
                <a:lnTo>
                  <a:pt x="188327" y="112983"/>
                </a:lnTo>
                <a:cubicBezTo>
                  <a:pt x="188963" y="114557"/>
                  <a:pt x="189533" y="116198"/>
                  <a:pt x="190001" y="117905"/>
                </a:cubicBezTo>
                <a:cubicBezTo>
                  <a:pt x="190470" y="119613"/>
                  <a:pt x="190772" y="121287"/>
                  <a:pt x="191006" y="122995"/>
                </a:cubicBezTo>
                <a:lnTo>
                  <a:pt x="203630" y="129224"/>
                </a:lnTo>
                <a:cubicBezTo>
                  <a:pt x="207414" y="131099"/>
                  <a:pt x="209357" y="135385"/>
                  <a:pt x="208251" y="139437"/>
                </a:cubicBezTo>
                <a:lnTo>
                  <a:pt x="205907" y="148210"/>
                </a:lnTo>
                <a:cubicBezTo>
                  <a:pt x="204802" y="152262"/>
                  <a:pt x="201018" y="155008"/>
                  <a:pt x="196799" y="154740"/>
                </a:cubicBezTo>
                <a:lnTo>
                  <a:pt x="182735" y="153836"/>
                </a:lnTo>
                <a:cubicBezTo>
                  <a:pt x="180625" y="156549"/>
                  <a:pt x="178181" y="159060"/>
                  <a:pt x="175401" y="161203"/>
                </a:cubicBezTo>
                <a:lnTo>
                  <a:pt x="176306" y="175234"/>
                </a:lnTo>
                <a:cubicBezTo>
                  <a:pt x="176573" y="179453"/>
                  <a:pt x="173828" y="183271"/>
                  <a:pt x="169776" y="184342"/>
                </a:cubicBezTo>
                <a:lnTo>
                  <a:pt x="161002" y="186686"/>
                </a:lnTo>
                <a:cubicBezTo>
                  <a:pt x="156917" y="187791"/>
                  <a:pt x="152664" y="185849"/>
                  <a:pt x="150789" y="182065"/>
                </a:cubicBezTo>
                <a:lnTo>
                  <a:pt x="144560" y="169474"/>
                </a:lnTo>
                <a:cubicBezTo>
                  <a:pt x="141111" y="169005"/>
                  <a:pt x="137729" y="168068"/>
                  <a:pt x="134548" y="166762"/>
                </a:cubicBezTo>
                <a:lnTo>
                  <a:pt x="122828" y="174564"/>
                </a:lnTo>
                <a:cubicBezTo>
                  <a:pt x="119312" y="176908"/>
                  <a:pt x="114657" y="176439"/>
                  <a:pt x="111677" y="173459"/>
                </a:cubicBezTo>
                <a:lnTo>
                  <a:pt x="105248" y="167030"/>
                </a:lnTo>
                <a:cubicBezTo>
                  <a:pt x="102267" y="164050"/>
                  <a:pt x="101798" y="159395"/>
                  <a:pt x="104142" y="155879"/>
                </a:cubicBezTo>
                <a:lnTo>
                  <a:pt x="111945" y="144159"/>
                </a:lnTo>
                <a:cubicBezTo>
                  <a:pt x="111309" y="142585"/>
                  <a:pt x="110739" y="140944"/>
                  <a:pt x="110270" y="139236"/>
                </a:cubicBezTo>
                <a:cubicBezTo>
                  <a:pt x="109802" y="137528"/>
                  <a:pt x="109500" y="135821"/>
                  <a:pt x="109266" y="134146"/>
                </a:cubicBezTo>
                <a:lnTo>
                  <a:pt x="96642" y="127918"/>
                </a:lnTo>
                <a:cubicBezTo>
                  <a:pt x="92858" y="126043"/>
                  <a:pt x="90949" y="121756"/>
                  <a:pt x="92020" y="117704"/>
                </a:cubicBezTo>
                <a:lnTo>
                  <a:pt x="94364" y="108931"/>
                </a:lnTo>
                <a:cubicBezTo>
                  <a:pt x="95470" y="104879"/>
                  <a:pt x="99253" y="102133"/>
                  <a:pt x="103473" y="102401"/>
                </a:cubicBezTo>
                <a:lnTo>
                  <a:pt x="117504" y="103305"/>
                </a:lnTo>
                <a:cubicBezTo>
                  <a:pt x="119613" y="100593"/>
                  <a:pt x="122058" y="98081"/>
                  <a:pt x="124837" y="95938"/>
                </a:cubicBezTo>
                <a:lnTo>
                  <a:pt x="123933" y="81941"/>
                </a:lnTo>
                <a:cubicBezTo>
                  <a:pt x="123665" y="77722"/>
                  <a:pt x="126411" y="73904"/>
                  <a:pt x="130463" y="72833"/>
                </a:cubicBezTo>
                <a:lnTo>
                  <a:pt x="139236" y="70489"/>
                </a:lnTo>
                <a:close/>
                <a:moveTo>
                  <a:pt x="150153" y="113854"/>
                </a:moveTo>
                <a:cubicBezTo>
                  <a:pt x="142021" y="113863"/>
                  <a:pt x="135426" y="120472"/>
                  <a:pt x="135435" y="128604"/>
                </a:cubicBezTo>
                <a:cubicBezTo>
                  <a:pt x="135445" y="136736"/>
                  <a:pt x="142054" y="143331"/>
                  <a:pt x="150186" y="143321"/>
                </a:cubicBezTo>
                <a:cubicBezTo>
                  <a:pt x="158318" y="143312"/>
                  <a:pt x="164913" y="136703"/>
                  <a:pt x="164903" y="128571"/>
                </a:cubicBezTo>
                <a:cubicBezTo>
                  <a:pt x="164894" y="120439"/>
                  <a:pt x="158285" y="113844"/>
                  <a:pt x="150153" y="113854"/>
                </a:cubicBezTo>
                <a:close/>
                <a:moveTo>
                  <a:pt x="75311" y="-15236"/>
                </a:moveTo>
                <a:lnTo>
                  <a:pt x="84084" y="-12892"/>
                </a:lnTo>
                <a:cubicBezTo>
                  <a:pt x="88136" y="-11787"/>
                  <a:pt x="90882" y="-7970"/>
                  <a:pt x="90614" y="-3784"/>
                </a:cubicBezTo>
                <a:lnTo>
                  <a:pt x="89710" y="10213"/>
                </a:lnTo>
                <a:cubicBezTo>
                  <a:pt x="92489" y="12356"/>
                  <a:pt x="94934" y="14834"/>
                  <a:pt x="97043" y="17580"/>
                </a:cubicBezTo>
                <a:lnTo>
                  <a:pt x="111108" y="16676"/>
                </a:lnTo>
                <a:cubicBezTo>
                  <a:pt x="115293" y="16408"/>
                  <a:pt x="119111" y="19154"/>
                  <a:pt x="120216" y="23206"/>
                </a:cubicBezTo>
                <a:lnTo>
                  <a:pt x="122560" y="31979"/>
                </a:lnTo>
                <a:cubicBezTo>
                  <a:pt x="123632" y="36031"/>
                  <a:pt x="121723" y="40318"/>
                  <a:pt x="117939" y="42193"/>
                </a:cubicBezTo>
                <a:lnTo>
                  <a:pt x="105315" y="48421"/>
                </a:lnTo>
                <a:cubicBezTo>
                  <a:pt x="105080" y="50129"/>
                  <a:pt x="104745" y="51837"/>
                  <a:pt x="104310" y="53511"/>
                </a:cubicBezTo>
                <a:cubicBezTo>
                  <a:pt x="103875" y="55185"/>
                  <a:pt x="103272" y="56860"/>
                  <a:pt x="102636" y="58434"/>
                </a:cubicBezTo>
                <a:lnTo>
                  <a:pt x="110438" y="70154"/>
                </a:lnTo>
                <a:cubicBezTo>
                  <a:pt x="112782" y="73670"/>
                  <a:pt x="112313" y="78325"/>
                  <a:pt x="109333" y="81305"/>
                </a:cubicBezTo>
                <a:lnTo>
                  <a:pt x="102903" y="87734"/>
                </a:lnTo>
                <a:cubicBezTo>
                  <a:pt x="99923" y="90714"/>
                  <a:pt x="95269" y="91183"/>
                  <a:pt x="91753" y="88839"/>
                </a:cubicBezTo>
                <a:lnTo>
                  <a:pt x="80032" y="81037"/>
                </a:lnTo>
                <a:cubicBezTo>
                  <a:pt x="76851" y="82343"/>
                  <a:pt x="73469" y="83280"/>
                  <a:pt x="70020" y="83749"/>
                </a:cubicBezTo>
                <a:lnTo>
                  <a:pt x="63791" y="96340"/>
                </a:lnTo>
                <a:cubicBezTo>
                  <a:pt x="61916" y="100124"/>
                  <a:pt x="57630" y="102033"/>
                  <a:pt x="53578" y="100961"/>
                </a:cubicBezTo>
                <a:lnTo>
                  <a:pt x="44805" y="98617"/>
                </a:lnTo>
                <a:cubicBezTo>
                  <a:pt x="40719" y="97512"/>
                  <a:pt x="38007" y="93695"/>
                  <a:pt x="38275" y="89509"/>
                </a:cubicBezTo>
                <a:lnTo>
                  <a:pt x="39179" y="75478"/>
                </a:lnTo>
                <a:cubicBezTo>
                  <a:pt x="36400" y="73335"/>
                  <a:pt x="33955" y="70857"/>
                  <a:pt x="31845" y="68111"/>
                </a:cubicBezTo>
                <a:lnTo>
                  <a:pt x="17781" y="69015"/>
                </a:lnTo>
                <a:cubicBezTo>
                  <a:pt x="13595" y="69283"/>
                  <a:pt x="9778" y="66537"/>
                  <a:pt x="8673" y="62485"/>
                </a:cubicBezTo>
                <a:lnTo>
                  <a:pt x="6329" y="53712"/>
                </a:lnTo>
                <a:cubicBezTo>
                  <a:pt x="5257" y="49660"/>
                  <a:pt x="7166" y="45374"/>
                  <a:pt x="10950" y="43499"/>
                </a:cubicBezTo>
                <a:lnTo>
                  <a:pt x="23574" y="37270"/>
                </a:lnTo>
                <a:cubicBezTo>
                  <a:pt x="23809" y="35562"/>
                  <a:pt x="24144" y="33888"/>
                  <a:pt x="24579" y="32180"/>
                </a:cubicBezTo>
                <a:cubicBezTo>
                  <a:pt x="25048" y="30473"/>
                  <a:pt x="25584" y="28832"/>
                  <a:pt x="26253" y="27258"/>
                </a:cubicBezTo>
                <a:lnTo>
                  <a:pt x="18451" y="15571"/>
                </a:lnTo>
                <a:cubicBezTo>
                  <a:pt x="16107" y="12055"/>
                  <a:pt x="16576" y="7400"/>
                  <a:pt x="19556" y="4420"/>
                </a:cubicBezTo>
                <a:lnTo>
                  <a:pt x="25985" y="-2009"/>
                </a:lnTo>
                <a:cubicBezTo>
                  <a:pt x="28966" y="-4989"/>
                  <a:pt x="33620" y="-5458"/>
                  <a:pt x="37136" y="-3114"/>
                </a:cubicBezTo>
                <a:lnTo>
                  <a:pt x="48857" y="4688"/>
                </a:lnTo>
                <a:cubicBezTo>
                  <a:pt x="52038" y="3382"/>
                  <a:pt x="55420" y="2445"/>
                  <a:pt x="58869" y="1976"/>
                </a:cubicBezTo>
                <a:lnTo>
                  <a:pt x="65097" y="-10615"/>
                </a:lnTo>
                <a:cubicBezTo>
                  <a:pt x="66973" y="-14399"/>
                  <a:pt x="71225" y="-16308"/>
                  <a:pt x="75311" y="-15236"/>
                </a:cubicBezTo>
                <a:close/>
                <a:moveTo>
                  <a:pt x="64428" y="28129"/>
                </a:moveTo>
                <a:cubicBezTo>
                  <a:pt x="56296" y="28129"/>
                  <a:pt x="49694" y="34731"/>
                  <a:pt x="49694" y="42863"/>
                </a:cubicBezTo>
                <a:cubicBezTo>
                  <a:pt x="49694" y="50994"/>
                  <a:pt x="56296" y="57596"/>
                  <a:pt x="64428" y="57596"/>
                </a:cubicBezTo>
                <a:cubicBezTo>
                  <a:pt x="72560" y="57596"/>
                  <a:pt x="79162" y="50994"/>
                  <a:pt x="79162" y="42863"/>
                </a:cubicBezTo>
                <a:cubicBezTo>
                  <a:pt x="79162" y="34731"/>
                  <a:pt x="72560" y="28129"/>
                  <a:pt x="64428" y="28129"/>
                </a:cubicBezTo>
                <a:close/>
              </a:path>
            </a:pathLst>
          </a:custGeom>
          <a:solidFill>
            <a:srgbClr val="B89A6A"/>
          </a:solidFill>
        </p:spPr>
      </p:sp>
      <p:sp>
        <p:nvSpPr>
          <p:cNvPr id="26" name="Text 23"/>
          <p:cNvSpPr/>
          <p:nvPr/>
        </p:nvSpPr>
        <p:spPr>
          <a:xfrm>
            <a:off x="5425455" y="4505325"/>
            <a:ext cx="6305550" cy="266700"/>
          </a:xfrm>
          <a:prstGeom prst="rect">
            <a:avLst/>
          </a:prstGeom>
          <a:noFill/>
        </p:spPr>
        <p:txBody>
          <a:bodyPr wrap="square" lIns="0" tIns="0" rIns="0" bIns="0" rtlCol="0" anchor="ctr"/>
          <a:lstStyle/>
          <a:p>
            <a:pPr>
              <a:lnSpc>
                <a:spcPct val="130000"/>
              </a:lnSpc>
            </a:pPr>
            <a:r>
              <a:rPr lang="en-US" sz="13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Burn Rate Optimization Initiatives</a:t>
            </a:r>
            <a:endParaRPr lang="en-US" sz="1600" dirty="0"/>
          </a:p>
        </p:txBody>
      </p:sp>
      <p:sp>
        <p:nvSpPr>
          <p:cNvPr id="27" name="Shape 24"/>
          <p:cNvSpPr/>
          <p:nvPr/>
        </p:nvSpPr>
        <p:spPr>
          <a:xfrm>
            <a:off x="5206380" y="4905375"/>
            <a:ext cx="304800" cy="304800"/>
          </a:xfrm>
          <a:custGeom>
            <a:avLst/>
            <a:gdLst/>
            <a:ahLst/>
            <a:cxnLst/>
            <a:rect l="l" t="t" r="r" b="b"/>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B89A6A">
              <a:alpha val="20000"/>
            </a:srgbClr>
          </a:solidFill>
        </p:spPr>
      </p:sp>
      <p:sp>
        <p:nvSpPr>
          <p:cNvPr id="28" name="Shape 25"/>
          <p:cNvSpPr/>
          <p:nvPr/>
        </p:nvSpPr>
        <p:spPr>
          <a:xfrm>
            <a:off x="5302821" y="49911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B89A6A"/>
          </a:solidFill>
        </p:spPr>
      </p:sp>
      <p:sp>
        <p:nvSpPr>
          <p:cNvPr id="29" name="Text 26"/>
          <p:cNvSpPr/>
          <p:nvPr/>
        </p:nvSpPr>
        <p:spPr>
          <a:xfrm>
            <a:off x="5625480" y="4886325"/>
            <a:ext cx="1990725"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Software License Reduction</a:t>
            </a:r>
            <a:endParaRPr lang="en-US" sz="1600" dirty="0"/>
          </a:p>
        </p:txBody>
      </p:sp>
      <p:sp>
        <p:nvSpPr>
          <p:cNvPr id="30" name="Text 27"/>
          <p:cNvSpPr/>
          <p:nvPr/>
        </p:nvSpPr>
        <p:spPr>
          <a:xfrm>
            <a:off x="5625480" y="5114925"/>
            <a:ext cx="1981200"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Consolidated 15 third-party tools</a:t>
            </a:r>
            <a:endParaRPr lang="en-US" sz="1600" dirty="0"/>
          </a:p>
        </p:txBody>
      </p:sp>
      <p:sp>
        <p:nvSpPr>
          <p:cNvPr id="31" name="Shape 28"/>
          <p:cNvSpPr/>
          <p:nvPr/>
        </p:nvSpPr>
        <p:spPr>
          <a:xfrm>
            <a:off x="8484840" y="4905375"/>
            <a:ext cx="304800" cy="304800"/>
          </a:xfrm>
          <a:custGeom>
            <a:avLst/>
            <a:gdLst/>
            <a:ahLst/>
            <a:cxnLst/>
            <a:rect l="l" t="t" r="r" b="b"/>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B89A6A">
              <a:alpha val="20000"/>
            </a:srgbClr>
          </a:solidFill>
        </p:spPr>
      </p:sp>
      <p:sp>
        <p:nvSpPr>
          <p:cNvPr id="32" name="Shape 29"/>
          <p:cNvSpPr/>
          <p:nvPr/>
        </p:nvSpPr>
        <p:spPr>
          <a:xfrm>
            <a:off x="8581281" y="49911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B89A6A"/>
          </a:solidFill>
        </p:spPr>
      </p:sp>
      <p:sp>
        <p:nvSpPr>
          <p:cNvPr id="33" name="Text 30"/>
          <p:cNvSpPr/>
          <p:nvPr/>
        </p:nvSpPr>
        <p:spPr>
          <a:xfrm>
            <a:off x="8903940" y="4886325"/>
            <a:ext cx="1914525"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Vendor Consolidation</a:t>
            </a:r>
            <a:endParaRPr lang="en-US" sz="1600" dirty="0"/>
          </a:p>
        </p:txBody>
      </p:sp>
      <p:sp>
        <p:nvSpPr>
          <p:cNvPr id="34" name="Text 31"/>
          <p:cNvSpPr/>
          <p:nvPr/>
        </p:nvSpPr>
        <p:spPr>
          <a:xfrm>
            <a:off x="8903940" y="5114925"/>
            <a:ext cx="1905000"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Renegotiated 8 major contracts</a:t>
            </a:r>
            <a:endParaRPr lang="en-US" sz="1600" dirty="0"/>
          </a:p>
        </p:txBody>
      </p:sp>
      <p:sp>
        <p:nvSpPr>
          <p:cNvPr id="35" name="Shape 32"/>
          <p:cNvSpPr/>
          <p:nvPr/>
        </p:nvSpPr>
        <p:spPr>
          <a:xfrm>
            <a:off x="385763" y="5548313"/>
            <a:ext cx="2762250" cy="923925"/>
          </a:xfrm>
          <a:custGeom>
            <a:avLst/>
            <a:gdLst/>
            <a:ahLst/>
            <a:cxnLst/>
            <a:rect l="l" t="t" r="r" b="b"/>
            <a:pathLst>
              <a:path w="2762250" h="923925">
                <a:moveTo>
                  <a:pt x="76196" y="0"/>
                </a:moveTo>
                <a:lnTo>
                  <a:pt x="2686054" y="0"/>
                </a:lnTo>
                <a:cubicBezTo>
                  <a:pt x="2728136" y="0"/>
                  <a:pt x="2762250" y="34114"/>
                  <a:pt x="2762250" y="76196"/>
                </a:cubicBezTo>
                <a:lnTo>
                  <a:pt x="2762250" y="847729"/>
                </a:lnTo>
                <a:cubicBezTo>
                  <a:pt x="2762250" y="889811"/>
                  <a:pt x="2728136" y="923925"/>
                  <a:pt x="2686054" y="923925"/>
                </a:cubicBezTo>
                <a:lnTo>
                  <a:pt x="76196" y="923925"/>
                </a:lnTo>
                <a:cubicBezTo>
                  <a:pt x="34114" y="923925"/>
                  <a:pt x="0" y="889811"/>
                  <a:pt x="0" y="847729"/>
                </a:cubicBezTo>
                <a:lnTo>
                  <a:pt x="0" y="76196"/>
                </a:lnTo>
                <a:cubicBezTo>
                  <a:pt x="0" y="34114"/>
                  <a:pt x="34114" y="0"/>
                  <a:pt x="76196" y="0"/>
                </a:cubicBezTo>
                <a:close/>
              </a:path>
            </a:pathLst>
          </a:custGeom>
          <a:solidFill>
            <a:srgbClr val="4A5C6A">
              <a:alpha val="20000"/>
            </a:srgbClr>
          </a:solidFill>
          <a:ln w="12700">
            <a:solidFill>
              <a:srgbClr val="4A5C6A">
                <a:alpha val="30196"/>
              </a:srgbClr>
            </a:solidFill>
            <a:prstDash val="solid"/>
          </a:ln>
        </p:spPr>
      </p:sp>
      <p:sp>
        <p:nvSpPr>
          <p:cNvPr id="36" name="Text 33"/>
          <p:cNvSpPr/>
          <p:nvPr/>
        </p:nvSpPr>
        <p:spPr>
          <a:xfrm>
            <a:off x="471488" y="5667375"/>
            <a:ext cx="2590800" cy="190500"/>
          </a:xfrm>
          <a:prstGeom prst="rect">
            <a:avLst/>
          </a:prstGeom>
          <a:noFill/>
        </p:spPr>
        <p:txBody>
          <a:bodyPr wrap="square" lIns="0" tIns="0" rIns="0" bIns="0" rtlCol="0" anchor="ctr"/>
          <a:lstStyle/>
          <a:p>
            <a:pPr algn="ct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Cash Reserves</a:t>
            </a:r>
            <a:endParaRPr lang="en-US" sz="1600" dirty="0"/>
          </a:p>
        </p:txBody>
      </p:sp>
      <p:sp>
        <p:nvSpPr>
          <p:cNvPr id="37" name="Text 34"/>
          <p:cNvSpPr/>
          <p:nvPr/>
        </p:nvSpPr>
        <p:spPr>
          <a:xfrm>
            <a:off x="447675" y="5895975"/>
            <a:ext cx="2638425" cy="304800"/>
          </a:xfrm>
          <a:prstGeom prst="rect">
            <a:avLst/>
          </a:prstGeom>
          <a:noFill/>
        </p:spPr>
        <p:txBody>
          <a:bodyPr wrap="square" lIns="0" tIns="0" rIns="0" bIns="0" rtlCol="0" anchor="ctr"/>
          <a:lstStyle/>
          <a:p>
            <a:pPr algn="ctr">
              <a:lnSpc>
                <a:spcPct val="110000"/>
              </a:lnSpc>
            </a:pPr>
            <a:r>
              <a:rPr lang="en-US" sz="18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684M</a:t>
            </a:r>
            <a:endParaRPr lang="en-US" sz="1600" dirty="0"/>
          </a:p>
        </p:txBody>
      </p:sp>
      <p:sp>
        <p:nvSpPr>
          <p:cNvPr id="38" name="Text 35"/>
          <p:cNvSpPr/>
          <p:nvPr/>
        </p:nvSpPr>
        <p:spPr>
          <a:xfrm>
            <a:off x="476250" y="6200775"/>
            <a:ext cx="2581275" cy="152400"/>
          </a:xfrm>
          <a:prstGeom prst="rect">
            <a:avLst/>
          </a:prstGeom>
          <a:noFill/>
        </p:spPr>
        <p:txBody>
          <a:bodyPr wrap="square" lIns="0" tIns="0" rIns="0" bIns="0" rtlCol="0" anchor="ctr"/>
          <a:lstStyle/>
          <a:p>
            <a:pPr algn="ctr">
              <a:lnSpc>
                <a:spcPct val="110000"/>
              </a:lnSpc>
            </a:pPr>
            <a:r>
              <a:rPr lang="en-US" sz="900" dirty="0">
                <a:solidFill>
                  <a:srgbClr val="78828A"/>
                </a:solidFill>
                <a:latin typeface="Liter" panose="02000503030000020004" pitchFamily="34" charset="0"/>
                <a:ea typeface="Liter" panose="02000503030000020004" pitchFamily="34" charset="-122"/>
                <a:cs typeface="Liter" panose="02000503030000020004" pitchFamily="34" charset="-120"/>
              </a:rPr>
              <a:t>RMB</a:t>
            </a:r>
            <a:endParaRPr lang="en-US" sz="1600" dirty="0"/>
          </a:p>
        </p:txBody>
      </p:sp>
      <p:sp>
        <p:nvSpPr>
          <p:cNvPr id="39" name="Shape 36"/>
          <p:cNvSpPr/>
          <p:nvPr/>
        </p:nvSpPr>
        <p:spPr>
          <a:xfrm>
            <a:off x="3271838" y="5548313"/>
            <a:ext cx="2762250" cy="923925"/>
          </a:xfrm>
          <a:custGeom>
            <a:avLst/>
            <a:gdLst/>
            <a:ahLst/>
            <a:cxnLst/>
            <a:rect l="l" t="t" r="r" b="b"/>
            <a:pathLst>
              <a:path w="2762250" h="923925">
                <a:moveTo>
                  <a:pt x="76196" y="0"/>
                </a:moveTo>
                <a:lnTo>
                  <a:pt x="2686054" y="0"/>
                </a:lnTo>
                <a:cubicBezTo>
                  <a:pt x="2728136" y="0"/>
                  <a:pt x="2762250" y="34114"/>
                  <a:pt x="2762250" y="76196"/>
                </a:cubicBezTo>
                <a:lnTo>
                  <a:pt x="2762250" y="847729"/>
                </a:lnTo>
                <a:cubicBezTo>
                  <a:pt x="2762250" y="889811"/>
                  <a:pt x="2728136" y="923925"/>
                  <a:pt x="2686054" y="923925"/>
                </a:cubicBezTo>
                <a:lnTo>
                  <a:pt x="76196" y="923925"/>
                </a:lnTo>
                <a:cubicBezTo>
                  <a:pt x="34114" y="923925"/>
                  <a:pt x="0" y="889811"/>
                  <a:pt x="0" y="847729"/>
                </a:cubicBezTo>
                <a:lnTo>
                  <a:pt x="0" y="76196"/>
                </a:lnTo>
                <a:cubicBezTo>
                  <a:pt x="0" y="34114"/>
                  <a:pt x="34114" y="0"/>
                  <a:pt x="76196" y="0"/>
                </a:cubicBezTo>
                <a:close/>
              </a:path>
            </a:pathLst>
          </a:custGeom>
          <a:solidFill>
            <a:srgbClr val="4A5C6A">
              <a:alpha val="20000"/>
            </a:srgbClr>
          </a:solidFill>
          <a:ln w="12700">
            <a:solidFill>
              <a:srgbClr val="4A5C6A">
                <a:alpha val="30196"/>
              </a:srgbClr>
            </a:solidFill>
            <a:prstDash val="solid"/>
          </a:ln>
        </p:spPr>
      </p:sp>
      <p:sp>
        <p:nvSpPr>
          <p:cNvPr id="40" name="Text 37"/>
          <p:cNvSpPr/>
          <p:nvPr/>
        </p:nvSpPr>
        <p:spPr>
          <a:xfrm>
            <a:off x="3357563" y="5667375"/>
            <a:ext cx="2590800" cy="190500"/>
          </a:xfrm>
          <a:prstGeom prst="rect">
            <a:avLst/>
          </a:prstGeom>
          <a:noFill/>
        </p:spPr>
        <p:txBody>
          <a:bodyPr wrap="square" lIns="0" tIns="0" rIns="0" bIns="0" rtlCol="0" anchor="ctr"/>
          <a:lstStyle/>
          <a:p>
            <a:pPr algn="ct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Monthly Revenue</a:t>
            </a:r>
            <a:endParaRPr lang="en-US" sz="1600" dirty="0"/>
          </a:p>
        </p:txBody>
      </p:sp>
      <p:sp>
        <p:nvSpPr>
          <p:cNvPr id="41" name="Text 38"/>
          <p:cNvSpPr/>
          <p:nvPr/>
        </p:nvSpPr>
        <p:spPr>
          <a:xfrm>
            <a:off x="3333750" y="5895975"/>
            <a:ext cx="2638425" cy="304800"/>
          </a:xfrm>
          <a:prstGeom prst="rect">
            <a:avLst/>
          </a:prstGeom>
          <a:noFill/>
        </p:spPr>
        <p:txBody>
          <a:bodyPr wrap="square" lIns="0" tIns="0" rIns="0" bIns="0" rtlCol="0" anchor="ctr"/>
          <a:lstStyle/>
          <a:p>
            <a:pPr algn="ctr">
              <a:lnSpc>
                <a:spcPct val="110000"/>
              </a:lnSpc>
            </a:pPr>
            <a:r>
              <a:rPr lang="en-US" sz="18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117M</a:t>
            </a:r>
            <a:endParaRPr lang="en-US" sz="1600" dirty="0"/>
          </a:p>
        </p:txBody>
      </p:sp>
      <p:sp>
        <p:nvSpPr>
          <p:cNvPr id="42" name="Text 39"/>
          <p:cNvSpPr/>
          <p:nvPr/>
        </p:nvSpPr>
        <p:spPr>
          <a:xfrm>
            <a:off x="3362325" y="6200775"/>
            <a:ext cx="2581275" cy="152400"/>
          </a:xfrm>
          <a:prstGeom prst="rect">
            <a:avLst/>
          </a:prstGeom>
          <a:noFill/>
        </p:spPr>
        <p:txBody>
          <a:bodyPr wrap="square" lIns="0" tIns="0" rIns="0" bIns="0" rtlCol="0" anchor="ctr"/>
          <a:lstStyle/>
          <a:p>
            <a:pPr algn="ctr">
              <a:lnSpc>
                <a:spcPct val="110000"/>
              </a:lnSpc>
            </a:pPr>
            <a:r>
              <a:rPr lang="en-US" sz="900" dirty="0">
                <a:solidFill>
                  <a:srgbClr val="78828A"/>
                </a:solidFill>
                <a:latin typeface="Liter" panose="02000503030000020004" pitchFamily="34" charset="0"/>
                <a:ea typeface="Liter" panose="02000503030000020004" pitchFamily="34" charset="-122"/>
                <a:cs typeface="Liter" panose="02000503030000020004" pitchFamily="34" charset="-120"/>
              </a:rPr>
              <a:t>RMB</a:t>
            </a:r>
            <a:endParaRPr lang="en-US" sz="1600" dirty="0"/>
          </a:p>
        </p:txBody>
      </p:sp>
      <p:sp>
        <p:nvSpPr>
          <p:cNvPr id="43" name="Shape 40"/>
          <p:cNvSpPr/>
          <p:nvPr/>
        </p:nvSpPr>
        <p:spPr>
          <a:xfrm>
            <a:off x="6157913" y="5548313"/>
            <a:ext cx="2762250" cy="923925"/>
          </a:xfrm>
          <a:custGeom>
            <a:avLst/>
            <a:gdLst/>
            <a:ahLst/>
            <a:cxnLst/>
            <a:rect l="l" t="t" r="r" b="b"/>
            <a:pathLst>
              <a:path w="2762250" h="923925">
                <a:moveTo>
                  <a:pt x="76196" y="0"/>
                </a:moveTo>
                <a:lnTo>
                  <a:pt x="2686054" y="0"/>
                </a:lnTo>
                <a:cubicBezTo>
                  <a:pt x="2728136" y="0"/>
                  <a:pt x="2762250" y="34114"/>
                  <a:pt x="2762250" y="76196"/>
                </a:cubicBezTo>
                <a:lnTo>
                  <a:pt x="2762250" y="847729"/>
                </a:lnTo>
                <a:cubicBezTo>
                  <a:pt x="2762250" y="889811"/>
                  <a:pt x="2728136" y="923925"/>
                  <a:pt x="2686054" y="923925"/>
                </a:cubicBezTo>
                <a:lnTo>
                  <a:pt x="76196" y="923925"/>
                </a:lnTo>
                <a:cubicBezTo>
                  <a:pt x="34114" y="923925"/>
                  <a:pt x="0" y="889811"/>
                  <a:pt x="0" y="847729"/>
                </a:cubicBezTo>
                <a:lnTo>
                  <a:pt x="0" y="76196"/>
                </a:lnTo>
                <a:cubicBezTo>
                  <a:pt x="0" y="34114"/>
                  <a:pt x="34114" y="0"/>
                  <a:pt x="76196" y="0"/>
                </a:cubicBezTo>
                <a:close/>
              </a:path>
            </a:pathLst>
          </a:custGeom>
          <a:solidFill>
            <a:srgbClr val="4A5C6A">
              <a:alpha val="20000"/>
            </a:srgbClr>
          </a:solidFill>
          <a:ln w="12700">
            <a:solidFill>
              <a:srgbClr val="4A5C6A">
                <a:alpha val="30196"/>
              </a:srgbClr>
            </a:solidFill>
            <a:prstDash val="solid"/>
          </a:ln>
        </p:spPr>
      </p:sp>
      <p:sp>
        <p:nvSpPr>
          <p:cNvPr id="44" name="Text 41"/>
          <p:cNvSpPr/>
          <p:nvPr/>
        </p:nvSpPr>
        <p:spPr>
          <a:xfrm>
            <a:off x="6243638" y="5667375"/>
            <a:ext cx="2590800" cy="190500"/>
          </a:xfrm>
          <a:prstGeom prst="rect">
            <a:avLst/>
          </a:prstGeom>
          <a:noFill/>
        </p:spPr>
        <p:txBody>
          <a:bodyPr wrap="square" lIns="0" tIns="0" rIns="0" bIns="0" rtlCol="0" anchor="ctr"/>
          <a:lstStyle/>
          <a:p>
            <a:pPr algn="ct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Net Burn</a:t>
            </a:r>
            <a:endParaRPr lang="en-US" sz="1600" dirty="0"/>
          </a:p>
        </p:txBody>
      </p:sp>
      <p:sp>
        <p:nvSpPr>
          <p:cNvPr id="45" name="Text 42"/>
          <p:cNvSpPr/>
          <p:nvPr/>
        </p:nvSpPr>
        <p:spPr>
          <a:xfrm>
            <a:off x="6219825" y="5895975"/>
            <a:ext cx="2638425" cy="304800"/>
          </a:xfrm>
          <a:prstGeom prst="rect">
            <a:avLst/>
          </a:prstGeom>
          <a:noFill/>
        </p:spPr>
        <p:txBody>
          <a:bodyPr wrap="square" lIns="0" tIns="0" rIns="0" bIns="0" rtlCol="0" anchor="ctr"/>
          <a:lstStyle/>
          <a:p>
            <a:pPr algn="ctr">
              <a:lnSpc>
                <a:spcPct val="110000"/>
              </a:lnSpc>
            </a:pPr>
            <a:r>
              <a:rPr lang="en-US" sz="1800"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-8.5M</a:t>
            </a:r>
            <a:endParaRPr lang="en-US" sz="1600" dirty="0"/>
          </a:p>
        </p:txBody>
      </p:sp>
      <p:sp>
        <p:nvSpPr>
          <p:cNvPr id="46" name="Text 43"/>
          <p:cNvSpPr/>
          <p:nvPr/>
        </p:nvSpPr>
        <p:spPr>
          <a:xfrm>
            <a:off x="6248400" y="6200775"/>
            <a:ext cx="2581275" cy="152400"/>
          </a:xfrm>
          <a:prstGeom prst="rect">
            <a:avLst/>
          </a:prstGeom>
          <a:noFill/>
        </p:spPr>
        <p:txBody>
          <a:bodyPr wrap="square" lIns="0" tIns="0" rIns="0" bIns="0" rtlCol="0" anchor="ctr"/>
          <a:lstStyle/>
          <a:p>
            <a:pPr algn="ctr">
              <a:lnSpc>
                <a:spcPct val="110000"/>
              </a:lnSpc>
            </a:pPr>
            <a:r>
              <a:rPr lang="en-US" sz="900" dirty="0">
                <a:solidFill>
                  <a:srgbClr val="78828A"/>
                </a:solidFill>
                <a:latin typeface="Liter" panose="02000503030000020004" pitchFamily="34" charset="0"/>
                <a:ea typeface="Liter" panose="02000503030000020004" pitchFamily="34" charset="-122"/>
                <a:cs typeface="Liter" panose="02000503030000020004" pitchFamily="34" charset="-120"/>
              </a:rPr>
              <a:t>RMB/month</a:t>
            </a:r>
            <a:endParaRPr lang="en-US" sz="1600" dirty="0"/>
          </a:p>
        </p:txBody>
      </p:sp>
      <p:sp>
        <p:nvSpPr>
          <p:cNvPr id="47" name="Shape 44"/>
          <p:cNvSpPr/>
          <p:nvPr/>
        </p:nvSpPr>
        <p:spPr>
          <a:xfrm>
            <a:off x="9043988" y="5548313"/>
            <a:ext cx="2762250" cy="923925"/>
          </a:xfrm>
          <a:custGeom>
            <a:avLst/>
            <a:gdLst/>
            <a:ahLst/>
            <a:cxnLst/>
            <a:rect l="l" t="t" r="r" b="b"/>
            <a:pathLst>
              <a:path w="2762250" h="923925">
                <a:moveTo>
                  <a:pt x="76196" y="0"/>
                </a:moveTo>
                <a:lnTo>
                  <a:pt x="2686054" y="0"/>
                </a:lnTo>
                <a:cubicBezTo>
                  <a:pt x="2728136" y="0"/>
                  <a:pt x="2762250" y="34114"/>
                  <a:pt x="2762250" y="76196"/>
                </a:cubicBezTo>
                <a:lnTo>
                  <a:pt x="2762250" y="847729"/>
                </a:lnTo>
                <a:cubicBezTo>
                  <a:pt x="2762250" y="889811"/>
                  <a:pt x="2728136" y="923925"/>
                  <a:pt x="2686054" y="923925"/>
                </a:cubicBezTo>
                <a:lnTo>
                  <a:pt x="76196" y="923925"/>
                </a:lnTo>
                <a:cubicBezTo>
                  <a:pt x="34114" y="923925"/>
                  <a:pt x="0" y="889811"/>
                  <a:pt x="0" y="847729"/>
                </a:cubicBezTo>
                <a:lnTo>
                  <a:pt x="0" y="76196"/>
                </a:lnTo>
                <a:cubicBezTo>
                  <a:pt x="0" y="34114"/>
                  <a:pt x="34114" y="0"/>
                  <a:pt x="76196" y="0"/>
                </a:cubicBezTo>
                <a:close/>
              </a:path>
            </a:pathLst>
          </a:custGeom>
          <a:solidFill>
            <a:srgbClr val="4A5C6A">
              <a:alpha val="20000"/>
            </a:srgbClr>
          </a:solidFill>
          <a:ln w="12700">
            <a:solidFill>
              <a:srgbClr val="4A5C6A">
                <a:alpha val="30196"/>
              </a:srgbClr>
            </a:solidFill>
            <a:prstDash val="solid"/>
          </a:ln>
        </p:spPr>
      </p:sp>
      <p:sp>
        <p:nvSpPr>
          <p:cNvPr id="48" name="Text 45"/>
          <p:cNvSpPr/>
          <p:nvPr/>
        </p:nvSpPr>
        <p:spPr>
          <a:xfrm>
            <a:off x="9129713" y="5667375"/>
            <a:ext cx="2590800" cy="190500"/>
          </a:xfrm>
          <a:prstGeom prst="rect">
            <a:avLst/>
          </a:prstGeom>
          <a:noFill/>
        </p:spPr>
        <p:txBody>
          <a:bodyPr wrap="square" lIns="0" tIns="0" rIns="0" bIns="0" rtlCol="0" anchor="ctr"/>
          <a:lstStyle/>
          <a:p>
            <a:pPr algn="ct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Runway Target</a:t>
            </a:r>
            <a:endParaRPr lang="en-US" sz="1600" dirty="0"/>
          </a:p>
        </p:txBody>
      </p:sp>
      <p:sp>
        <p:nvSpPr>
          <p:cNvPr id="49" name="Text 46"/>
          <p:cNvSpPr/>
          <p:nvPr/>
        </p:nvSpPr>
        <p:spPr>
          <a:xfrm>
            <a:off x="9105900" y="5895975"/>
            <a:ext cx="2638425" cy="304800"/>
          </a:xfrm>
          <a:prstGeom prst="rect">
            <a:avLst/>
          </a:prstGeom>
          <a:noFill/>
        </p:spPr>
        <p:txBody>
          <a:bodyPr wrap="square" lIns="0" tIns="0" rIns="0" bIns="0" rtlCol="0" anchor="ctr"/>
          <a:lstStyle/>
          <a:p>
            <a:pPr algn="ctr">
              <a:lnSpc>
                <a:spcPct val="110000"/>
              </a:lnSpc>
            </a:pPr>
            <a:r>
              <a:rPr lang="en-US" sz="18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18+</a:t>
            </a:r>
            <a:endParaRPr lang="en-US" sz="1600" dirty="0"/>
          </a:p>
        </p:txBody>
      </p:sp>
      <p:sp>
        <p:nvSpPr>
          <p:cNvPr id="50" name="Text 47"/>
          <p:cNvSpPr/>
          <p:nvPr/>
        </p:nvSpPr>
        <p:spPr>
          <a:xfrm>
            <a:off x="9134475" y="6200775"/>
            <a:ext cx="2581275" cy="152400"/>
          </a:xfrm>
          <a:prstGeom prst="rect">
            <a:avLst/>
          </a:prstGeom>
          <a:noFill/>
        </p:spPr>
        <p:txBody>
          <a:bodyPr wrap="square" lIns="0" tIns="0" rIns="0" bIns="0" rtlCol="0" anchor="ctr"/>
          <a:lstStyle/>
          <a:p>
            <a:pPr algn="ctr">
              <a:lnSpc>
                <a:spcPct val="110000"/>
              </a:lnSpc>
            </a:pPr>
            <a:r>
              <a:rPr lang="en-US" sz="900" dirty="0">
                <a:solidFill>
                  <a:srgbClr val="78828A"/>
                </a:solidFill>
                <a:latin typeface="Liter" panose="02000503030000020004" pitchFamily="34" charset="0"/>
                <a:ea typeface="Liter" panose="02000503030000020004" pitchFamily="34" charset="-122"/>
                <a:cs typeface="Liter" panose="02000503030000020004" pitchFamily="34" charset="-120"/>
              </a:rPr>
              <a:t>months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sp>
        <p:nvSpPr>
          <p:cNvPr id="2" name="Shape 0"/>
          <p:cNvSpPr/>
          <p:nvPr/>
        </p:nvSpPr>
        <p:spPr>
          <a:xfrm>
            <a:off x="381000" y="495300"/>
            <a:ext cx="57150" cy="381000"/>
          </a:xfrm>
          <a:custGeom>
            <a:avLst/>
            <a:gdLst/>
            <a:ahLst/>
            <a:cxnLst/>
            <a:rect l="l" t="t" r="r" b="b"/>
            <a:pathLst>
              <a:path w="57150" h="381000">
                <a:moveTo>
                  <a:pt x="0" y="0"/>
                </a:moveTo>
                <a:lnTo>
                  <a:pt x="57150" y="0"/>
                </a:lnTo>
                <a:lnTo>
                  <a:pt x="57150" y="381000"/>
                </a:lnTo>
                <a:lnTo>
                  <a:pt x="0" y="381000"/>
                </a:lnTo>
                <a:lnTo>
                  <a:pt x="0" y="0"/>
                </a:lnTo>
                <a:close/>
              </a:path>
            </a:pathLst>
          </a:custGeom>
          <a:solidFill>
            <a:srgbClr val="B89A6A"/>
          </a:solidFill>
        </p:spPr>
      </p:sp>
      <p:sp>
        <p:nvSpPr>
          <p:cNvPr id="3" name="Text 1"/>
          <p:cNvSpPr/>
          <p:nvPr/>
        </p:nvSpPr>
        <p:spPr>
          <a:xfrm>
            <a:off x="552450" y="381000"/>
            <a:ext cx="4648200" cy="228600"/>
          </a:xfrm>
          <a:prstGeom prst="rect">
            <a:avLst/>
          </a:prstGeom>
          <a:noFill/>
        </p:spPr>
        <p:txBody>
          <a:bodyPr wrap="square" lIns="0" tIns="0" rIns="0" bIns="0" rtlCol="0" anchor="ctr"/>
          <a:lstStyle/>
          <a:p>
            <a:pPr>
              <a:lnSpc>
                <a:spcPct val="130000"/>
              </a:lnSpc>
            </a:pPr>
            <a:r>
              <a:rPr lang="en-US" sz="1200" b="1" kern="0" spc="60" dirty="0">
                <a:solidFill>
                  <a:srgbClr val="B89A6A"/>
                </a:solidFill>
                <a:latin typeface="Liter" panose="02000503030000020004" pitchFamily="34" charset="0"/>
                <a:ea typeface="Liter" panose="02000503030000020004" pitchFamily="34" charset="-122"/>
                <a:cs typeface="Liter" panose="02000503030000020004" pitchFamily="34" charset="-120"/>
              </a:rPr>
              <a:t>WORKING CAPITAL</a:t>
            </a:r>
            <a:endParaRPr lang="en-US" sz="1600" dirty="0"/>
          </a:p>
        </p:txBody>
      </p:sp>
      <p:sp>
        <p:nvSpPr>
          <p:cNvPr id="4" name="Text 2"/>
          <p:cNvSpPr/>
          <p:nvPr/>
        </p:nvSpPr>
        <p:spPr>
          <a:xfrm>
            <a:off x="552450" y="609600"/>
            <a:ext cx="4743450" cy="381000"/>
          </a:xfrm>
          <a:prstGeom prst="rect">
            <a:avLst/>
          </a:prstGeom>
          <a:noFill/>
        </p:spPr>
        <p:txBody>
          <a:bodyPr wrap="square" lIns="0" tIns="0" rIns="0" bIns="0" rtlCol="0" anchor="ctr"/>
          <a:lstStyle/>
          <a:p>
            <a:pPr>
              <a:lnSpc>
                <a:spcPct val="90000"/>
              </a:lnSpc>
            </a:pPr>
            <a:r>
              <a:rPr lang="en-US" sz="27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Receivables &amp; Collection Cycle</a:t>
            </a:r>
            <a:endParaRPr lang="en-US" sz="1600" dirty="0"/>
          </a:p>
        </p:txBody>
      </p:sp>
      <p:sp>
        <p:nvSpPr>
          <p:cNvPr id="5" name="Shape 3"/>
          <p:cNvSpPr/>
          <p:nvPr/>
        </p:nvSpPr>
        <p:spPr>
          <a:xfrm>
            <a:off x="390525" y="1152525"/>
            <a:ext cx="3686175" cy="1943100"/>
          </a:xfrm>
          <a:custGeom>
            <a:avLst/>
            <a:gdLst/>
            <a:ahLst/>
            <a:cxnLst/>
            <a:rect l="l" t="t" r="r" b="b"/>
            <a:pathLst>
              <a:path w="3686175" h="1943100">
                <a:moveTo>
                  <a:pt x="76208" y="0"/>
                </a:moveTo>
                <a:lnTo>
                  <a:pt x="3609967" y="0"/>
                </a:lnTo>
                <a:cubicBezTo>
                  <a:pt x="3652055" y="0"/>
                  <a:pt x="3686175" y="34120"/>
                  <a:pt x="3686175" y="76208"/>
                </a:cubicBezTo>
                <a:lnTo>
                  <a:pt x="3686175" y="1866892"/>
                </a:lnTo>
                <a:cubicBezTo>
                  <a:pt x="3686175" y="1908980"/>
                  <a:pt x="3652055" y="1943100"/>
                  <a:pt x="3609967" y="1943100"/>
                </a:cubicBezTo>
                <a:lnTo>
                  <a:pt x="76208" y="1943100"/>
                </a:lnTo>
                <a:cubicBezTo>
                  <a:pt x="34120" y="1943100"/>
                  <a:pt x="0" y="1908980"/>
                  <a:pt x="0" y="1866892"/>
                </a:cubicBezTo>
                <a:lnTo>
                  <a:pt x="0" y="76208"/>
                </a:lnTo>
                <a:cubicBezTo>
                  <a:pt x="0" y="34148"/>
                  <a:pt x="34148" y="0"/>
                  <a:pt x="76208" y="0"/>
                </a:cubicBezTo>
                <a:close/>
              </a:path>
            </a:pathLst>
          </a:custGeom>
          <a:solidFill>
            <a:srgbClr val="B89A6A">
              <a:alpha val="10196"/>
            </a:srgbClr>
          </a:solidFill>
          <a:ln w="25400">
            <a:solidFill>
              <a:srgbClr val="B89A6A">
                <a:alpha val="40000"/>
              </a:srgbClr>
            </a:solidFill>
            <a:prstDash val="solid"/>
          </a:ln>
        </p:spPr>
      </p:sp>
      <p:sp>
        <p:nvSpPr>
          <p:cNvPr id="6" name="Shape 4"/>
          <p:cNvSpPr/>
          <p:nvPr/>
        </p:nvSpPr>
        <p:spPr>
          <a:xfrm>
            <a:off x="2094681" y="1314450"/>
            <a:ext cx="285750" cy="285750"/>
          </a:xfrm>
          <a:custGeom>
            <a:avLst/>
            <a:gdLst/>
            <a:ahLst/>
            <a:cxnLst/>
            <a:rect l="l" t="t" r="r" b="b"/>
            <a:pathLst>
              <a:path w="285750" h="285750">
                <a:moveTo>
                  <a:pt x="142875" y="0"/>
                </a:moveTo>
                <a:cubicBezTo>
                  <a:pt x="221730" y="0"/>
                  <a:pt x="285750" y="64020"/>
                  <a:pt x="285750" y="142875"/>
                </a:cubicBezTo>
                <a:cubicBezTo>
                  <a:pt x="285750" y="221730"/>
                  <a:pt x="221730" y="285750"/>
                  <a:pt x="142875" y="285750"/>
                </a:cubicBezTo>
                <a:cubicBezTo>
                  <a:pt x="64020" y="285750"/>
                  <a:pt x="0" y="221730"/>
                  <a:pt x="0" y="142875"/>
                </a:cubicBezTo>
                <a:cubicBezTo>
                  <a:pt x="0" y="64020"/>
                  <a:pt x="64020" y="0"/>
                  <a:pt x="142875" y="0"/>
                </a:cubicBezTo>
                <a:close/>
                <a:moveTo>
                  <a:pt x="129480" y="66973"/>
                </a:moveTo>
                <a:lnTo>
                  <a:pt x="129480" y="142875"/>
                </a:lnTo>
                <a:cubicBezTo>
                  <a:pt x="129480" y="147340"/>
                  <a:pt x="131713" y="151526"/>
                  <a:pt x="135452" y="154037"/>
                </a:cubicBezTo>
                <a:lnTo>
                  <a:pt x="189030" y="189756"/>
                </a:lnTo>
                <a:cubicBezTo>
                  <a:pt x="195169" y="193886"/>
                  <a:pt x="203485" y="192212"/>
                  <a:pt x="207615" y="186017"/>
                </a:cubicBezTo>
                <a:cubicBezTo>
                  <a:pt x="211745" y="179822"/>
                  <a:pt x="210071" y="171562"/>
                  <a:pt x="203876" y="167432"/>
                </a:cubicBezTo>
                <a:lnTo>
                  <a:pt x="156270" y="135731"/>
                </a:lnTo>
                <a:lnTo>
                  <a:pt x="156270" y="66973"/>
                </a:lnTo>
                <a:cubicBezTo>
                  <a:pt x="156270" y="59550"/>
                  <a:pt x="150298" y="53578"/>
                  <a:pt x="142875" y="53578"/>
                </a:cubicBezTo>
                <a:cubicBezTo>
                  <a:pt x="135452" y="53578"/>
                  <a:pt x="129480" y="59550"/>
                  <a:pt x="129480" y="66973"/>
                </a:cubicBezTo>
                <a:close/>
              </a:path>
            </a:pathLst>
          </a:custGeom>
          <a:solidFill>
            <a:srgbClr val="B89A6A"/>
          </a:solidFill>
        </p:spPr>
      </p:sp>
      <p:sp>
        <p:nvSpPr>
          <p:cNvPr id="7" name="Text 5"/>
          <p:cNvSpPr/>
          <p:nvPr/>
        </p:nvSpPr>
        <p:spPr>
          <a:xfrm>
            <a:off x="1116806" y="1714500"/>
            <a:ext cx="2238375" cy="228600"/>
          </a:xfrm>
          <a:prstGeom prst="rect">
            <a:avLst/>
          </a:prstGeom>
          <a:noFill/>
        </p:spPr>
        <p:txBody>
          <a:bodyPr wrap="square" lIns="0" tIns="0" rIns="0" bIns="0" rtlCol="0" anchor="ctr"/>
          <a:lstStyle/>
          <a:p>
            <a:pPr algn="ctr">
              <a:lnSpc>
                <a:spcPct val="130000"/>
              </a:lnSpc>
            </a:pPr>
            <a:r>
              <a:rPr lang="en-US" sz="1200" kern="0" spc="60" dirty="0">
                <a:solidFill>
                  <a:srgbClr val="78828A"/>
                </a:solidFill>
                <a:latin typeface="Liter" panose="02000503030000020004" pitchFamily="34" charset="0"/>
                <a:ea typeface="Liter" panose="02000503030000020004" pitchFamily="34" charset="-122"/>
                <a:cs typeface="Liter" panose="02000503030000020004" pitchFamily="34" charset="-120"/>
              </a:rPr>
              <a:t>Days Sales Outstanding</a:t>
            </a:r>
            <a:endParaRPr lang="en-US" sz="1600" dirty="0"/>
          </a:p>
        </p:txBody>
      </p:sp>
      <p:sp>
        <p:nvSpPr>
          <p:cNvPr id="8" name="Text 6"/>
          <p:cNvSpPr/>
          <p:nvPr/>
        </p:nvSpPr>
        <p:spPr>
          <a:xfrm>
            <a:off x="1495351" y="1985963"/>
            <a:ext cx="908149" cy="633413"/>
          </a:xfrm>
          <a:prstGeom prst="rect">
            <a:avLst/>
          </a:prstGeom>
          <a:noFill/>
        </p:spPr>
        <p:txBody>
          <a:bodyPr wrap="square" lIns="0" tIns="0" rIns="0" bIns="0" rtlCol="0" anchor="ctr"/>
          <a:lstStyle/>
          <a:p>
            <a:pPr algn="ctr">
              <a:lnSpc>
                <a:spcPct val="80000"/>
              </a:lnSpc>
            </a:pPr>
            <a:r>
              <a:rPr lang="en-US" sz="4500"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65</a:t>
            </a:r>
            <a:endParaRPr lang="en-US" sz="1600" dirty="0"/>
          </a:p>
        </p:txBody>
      </p:sp>
      <p:sp>
        <p:nvSpPr>
          <p:cNvPr id="9" name="Text 7"/>
          <p:cNvSpPr/>
          <p:nvPr/>
        </p:nvSpPr>
        <p:spPr>
          <a:xfrm>
            <a:off x="2310185" y="2276475"/>
            <a:ext cx="579090" cy="252413"/>
          </a:xfrm>
          <a:prstGeom prst="rect">
            <a:avLst/>
          </a:prstGeom>
          <a:noFill/>
        </p:spPr>
        <p:txBody>
          <a:bodyPr wrap="square" lIns="0" tIns="0" rIns="0" bIns="0" rtlCol="0" anchor="ctr"/>
          <a:lstStyle/>
          <a:p>
            <a:pPr algn="ctr">
              <a:lnSpc>
                <a:spcPct val="110000"/>
              </a:lnSpc>
            </a:pPr>
            <a:r>
              <a:rPr lang="en-US" sz="1800"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days</a:t>
            </a:r>
            <a:endParaRPr lang="en-US" sz="1600" dirty="0"/>
          </a:p>
        </p:txBody>
      </p:sp>
      <p:sp>
        <p:nvSpPr>
          <p:cNvPr id="10" name="Shape 8"/>
          <p:cNvSpPr/>
          <p:nvPr/>
        </p:nvSpPr>
        <p:spPr>
          <a:xfrm>
            <a:off x="1625873" y="2667000"/>
            <a:ext cx="1219200" cy="266700"/>
          </a:xfrm>
          <a:custGeom>
            <a:avLst/>
            <a:gdLst/>
            <a:ahLst/>
            <a:cxnLst/>
            <a:rect l="l" t="t" r="r" b="b"/>
            <a:pathLst>
              <a:path w="1219200" h="266700">
                <a:moveTo>
                  <a:pt x="76199" y="0"/>
                </a:moveTo>
                <a:lnTo>
                  <a:pt x="1143001" y="0"/>
                </a:lnTo>
                <a:cubicBezTo>
                  <a:pt x="1185056" y="0"/>
                  <a:pt x="1219200" y="34144"/>
                  <a:pt x="1219200" y="76199"/>
                </a:cubicBezTo>
                <a:lnTo>
                  <a:pt x="1219200" y="190501"/>
                </a:lnTo>
                <a:cubicBezTo>
                  <a:pt x="1219200" y="232556"/>
                  <a:pt x="1185056" y="266700"/>
                  <a:pt x="1143001" y="266700"/>
                </a:cubicBezTo>
                <a:lnTo>
                  <a:pt x="76199" y="266700"/>
                </a:lnTo>
                <a:cubicBezTo>
                  <a:pt x="34144" y="266700"/>
                  <a:pt x="0" y="232556"/>
                  <a:pt x="0" y="190501"/>
                </a:cubicBezTo>
                <a:lnTo>
                  <a:pt x="0" y="76199"/>
                </a:lnTo>
                <a:cubicBezTo>
                  <a:pt x="0" y="34144"/>
                  <a:pt x="34144" y="0"/>
                  <a:pt x="76199" y="0"/>
                </a:cubicBezTo>
                <a:close/>
              </a:path>
            </a:pathLst>
          </a:custGeom>
          <a:solidFill>
            <a:srgbClr val="B89A6A">
              <a:alpha val="20000"/>
            </a:srgbClr>
          </a:solidFill>
        </p:spPr>
      </p:sp>
      <p:sp>
        <p:nvSpPr>
          <p:cNvPr id="11" name="Text 9"/>
          <p:cNvSpPr/>
          <p:nvPr/>
        </p:nvSpPr>
        <p:spPr>
          <a:xfrm>
            <a:off x="1706835" y="2705100"/>
            <a:ext cx="1057275" cy="190500"/>
          </a:xfrm>
          <a:prstGeom prst="rect">
            <a:avLst/>
          </a:prstGeom>
          <a:noFill/>
        </p:spPr>
        <p:txBody>
          <a:bodyPr wrap="square" lIns="0" tIns="0" rIns="0" bIns="0" rtlCol="0" anchor="ctr"/>
          <a:lstStyle/>
          <a:p>
            <a:pPr algn="ctr">
              <a:lnSpc>
                <a:spcPct val="120000"/>
              </a:lnSpc>
            </a:pPr>
            <a:r>
              <a:rPr lang="en-US" sz="1050" b="1" dirty="0">
                <a:solidFill>
                  <a:srgbClr val="B89A6A"/>
                </a:solidFill>
                <a:latin typeface="Liter" panose="02000503030000020004" pitchFamily="34" charset="0"/>
                <a:ea typeface="Liter" panose="02000503030000020004" pitchFamily="34" charset="-122"/>
                <a:cs typeface="Liter" panose="02000503030000020004" pitchFamily="34" charset="-120"/>
              </a:rPr>
              <a:t>↑ 12 days vs. Q4</a:t>
            </a:r>
            <a:endParaRPr lang="en-US" sz="1600" dirty="0"/>
          </a:p>
        </p:txBody>
      </p:sp>
      <p:sp>
        <p:nvSpPr>
          <p:cNvPr id="12" name="Shape 10"/>
          <p:cNvSpPr/>
          <p:nvPr/>
        </p:nvSpPr>
        <p:spPr>
          <a:xfrm>
            <a:off x="4246513" y="1147763"/>
            <a:ext cx="3695700" cy="1952625"/>
          </a:xfrm>
          <a:custGeom>
            <a:avLst/>
            <a:gdLst/>
            <a:ahLst/>
            <a:cxnLst/>
            <a:rect l="l" t="t" r="r" b="b"/>
            <a:pathLst>
              <a:path w="3695700" h="1952625">
                <a:moveTo>
                  <a:pt x="76191" y="0"/>
                </a:moveTo>
                <a:lnTo>
                  <a:pt x="3619509" y="0"/>
                </a:lnTo>
                <a:cubicBezTo>
                  <a:pt x="3661560" y="0"/>
                  <a:pt x="3695700" y="34140"/>
                  <a:pt x="3695700" y="76191"/>
                </a:cubicBezTo>
                <a:lnTo>
                  <a:pt x="3695700" y="1876434"/>
                </a:lnTo>
                <a:cubicBezTo>
                  <a:pt x="3695700" y="1918485"/>
                  <a:pt x="3661560" y="1952625"/>
                  <a:pt x="3619509" y="1952625"/>
                </a:cubicBezTo>
                <a:lnTo>
                  <a:pt x="76191" y="1952625"/>
                </a:lnTo>
                <a:cubicBezTo>
                  <a:pt x="34140" y="1952625"/>
                  <a:pt x="0" y="1918485"/>
                  <a:pt x="0" y="1876434"/>
                </a:cubicBezTo>
                <a:lnTo>
                  <a:pt x="0" y="76191"/>
                </a:lnTo>
                <a:cubicBezTo>
                  <a:pt x="0" y="34140"/>
                  <a:pt x="34140" y="0"/>
                  <a:pt x="76191" y="0"/>
                </a:cubicBezTo>
                <a:close/>
              </a:path>
            </a:pathLst>
          </a:custGeom>
          <a:solidFill>
            <a:srgbClr val="4A5C6A">
              <a:alpha val="20000"/>
            </a:srgbClr>
          </a:solidFill>
          <a:ln w="12700">
            <a:solidFill>
              <a:srgbClr val="4A5C6A">
                <a:alpha val="30196"/>
              </a:srgbClr>
            </a:solidFill>
            <a:prstDash val="solid"/>
          </a:ln>
        </p:spPr>
      </p:sp>
      <p:sp>
        <p:nvSpPr>
          <p:cNvPr id="13" name="Shape 11"/>
          <p:cNvSpPr/>
          <p:nvPr/>
        </p:nvSpPr>
        <p:spPr>
          <a:xfrm>
            <a:off x="5991151" y="1371600"/>
            <a:ext cx="214313" cy="285750"/>
          </a:xfrm>
          <a:custGeom>
            <a:avLst/>
            <a:gdLst/>
            <a:ahLst/>
            <a:cxnLst/>
            <a:rect l="l" t="t" r="r" b="b"/>
            <a:pathLst>
              <a:path w="214313" h="285750">
                <a:moveTo>
                  <a:pt x="0" y="35719"/>
                </a:moveTo>
                <a:cubicBezTo>
                  <a:pt x="0" y="16018"/>
                  <a:pt x="16018" y="0"/>
                  <a:pt x="35719" y="0"/>
                </a:cubicBezTo>
                <a:lnTo>
                  <a:pt x="119156" y="0"/>
                </a:lnTo>
                <a:cubicBezTo>
                  <a:pt x="128643" y="0"/>
                  <a:pt x="137740" y="3739"/>
                  <a:pt x="144438" y="10437"/>
                </a:cubicBezTo>
                <a:lnTo>
                  <a:pt x="203876" y="69931"/>
                </a:lnTo>
                <a:cubicBezTo>
                  <a:pt x="210573" y="76628"/>
                  <a:pt x="214313" y="85725"/>
                  <a:pt x="214313" y="95213"/>
                </a:cubicBezTo>
                <a:lnTo>
                  <a:pt x="214313" y="250031"/>
                </a:lnTo>
                <a:cubicBezTo>
                  <a:pt x="214313" y="269732"/>
                  <a:pt x="198295" y="285750"/>
                  <a:pt x="178594" y="285750"/>
                </a:cubicBezTo>
                <a:lnTo>
                  <a:pt x="35719" y="285750"/>
                </a:lnTo>
                <a:cubicBezTo>
                  <a:pt x="16018" y="285750"/>
                  <a:pt x="0" y="269732"/>
                  <a:pt x="0" y="250031"/>
                </a:cubicBezTo>
                <a:lnTo>
                  <a:pt x="0" y="35719"/>
                </a:lnTo>
                <a:close/>
                <a:moveTo>
                  <a:pt x="116086" y="32649"/>
                </a:moveTo>
                <a:lnTo>
                  <a:pt x="116086" y="84832"/>
                </a:lnTo>
                <a:cubicBezTo>
                  <a:pt x="116086" y="92255"/>
                  <a:pt x="122058" y="98227"/>
                  <a:pt x="129480" y="98227"/>
                </a:cubicBezTo>
                <a:lnTo>
                  <a:pt x="181663" y="98227"/>
                </a:lnTo>
                <a:lnTo>
                  <a:pt x="116086" y="32649"/>
                </a:lnTo>
                <a:close/>
                <a:moveTo>
                  <a:pt x="35719" y="49113"/>
                </a:moveTo>
                <a:cubicBezTo>
                  <a:pt x="35719" y="56536"/>
                  <a:pt x="41690" y="62508"/>
                  <a:pt x="49113" y="62508"/>
                </a:cubicBezTo>
                <a:lnTo>
                  <a:pt x="75902" y="62508"/>
                </a:lnTo>
                <a:cubicBezTo>
                  <a:pt x="83325" y="62508"/>
                  <a:pt x="89297" y="56536"/>
                  <a:pt x="89297" y="49113"/>
                </a:cubicBezTo>
                <a:cubicBezTo>
                  <a:pt x="89297" y="41690"/>
                  <a:pt x="83325" y="35719"/>
                  <a:pt x="75902" y="35719"/>
                </a:cubicBezTo>
                <a:lnTo>
                  <a:pt x="49113" y="35719"/>
                </a:lnTo>
                <a:cubicBezTo>
                  <a:pt x="41690" y="35719"/>
                  <a:pt x="35719" y="41690"/>
                  <a:pt x="35719" y="49113"/>
                </a:cubicBezTo>
                <a:close/>
                <a:moveTo>
                  <a:pt x="35719" y="102691"/>
                </a:moveTo>
                <a:cubicBezTo>
                  <a:pt x="35719" y="110114"/>
                  <a:pt x="41690" y="116086"/>
                  <a:pt x="49113" y="116086"/>
                </a:cubicBezTo>
                <a:lnTo>
                  <a:pt x="75902" y="116086"/>
                </a:lnTo>
                <a:cubicBezTo>
                  <a:pt x="83325" y="116086"/>
                  <a:pt x="89297" y="110114"/>
                  <a:pt x="89297" y="102691"/>
                </a:cubicBezTo>
                <a:cubicBezTo>
                  <a:pt x="89297" y="95269"/>
                  <a:pt x="83325" y="89297"/>
                  <a:pt x="75902" y="89297"/>
                </a:cubicBezTo>
                <a:lnTo>
                  <a:pt x="49113" y="89297"/>
                </a:lnTo>
                <a:cubicBezTo>
                  <a:pt x="41690" y="89297"/>
                  <a:pt x="35719" y="95269"/>
                  <a:pt x="35719" y="102691"/>
                </a:cubicBezTo>
                <a:close/>
                <a:moveTo>
                  <a:pt x="98227" y="145107"/>
                </a:moveTo>
                <a:lnTo>
                  <a:pt x="98227" y="147340"/>
                </a:lnTo>
                <a:cubicBezTo>
                  <a:pt x="82153" y="147507"/>
                  <a:pt x="69205" y="160567"/>
                  <a:pt x="69205" y="176640"/>
                </a:cubicBezTo>
                <a:cubicBezTo>
                  <a:pt x="69205" y="190984"/>
                  <a:pt x="79530" y="203206"/>
                  <a:pt x="93706" y="205550"/>
                </a:cubicBezTo>
                <a:lnTo>
                  <a:pt x="116979" y="209457"/>
                </a:lnTo>
                <a:cubicBezTo>
                  <a:pt x="120328" y="210015"/>
                  <a:pt x="122783" y="212917"/>
                  <a:pt x="122783" y="216322"/>
                </a:cubicBezTo>
                <a:cubicBezTo>
                  <a:pt x="122783" y="220173"/>
                  <a:pt x="119658" y="223298"/>
                  <a:pt x="115807" y="223298"/>
                </a:cubicBezTo>
                <a:lnTo>
                  <a:pt x="84832" y="223242"/>
                </a:lnTo>
                <a:cubicBezTo>
                  <a:pt x="78693" y="223242"/>
                  <a:pt x="73670" y="228265"/>
                  <a:pt x="73670" y="234404"/>
                </a:cubicBezTo>
                <a:cubicBezTo>
                  <a:pt x="73670" y="240543"/>
                  <a:pt x="78693" y="245566"/>
                  <a:pt x="84832" y="245566"/>
                </a:cubicBezTo>
                <a:lnTo>
                  <a:pt x="98227" y="245566"/>
                </a:lnTo>
                <a:lnTo>
                  <a:pt x="98227" y="247799"/>
                </a:lnTo>
                <a:cubicBezTo>
                  <a:pt x="98227" y="253938"/>
                  <a:pt x="103250" y="258961"/>
                  <a:pt x="109389" y="258961"/>
                </a:cubicBezTo>
                <a:cubicBezTo>
                  <a:pt x="115528" y="258961"/>
                  <a:pt x="120551" y="253938"/>
                  <a:pt x="120551" y="247799"/>
                </a:cubicBezTo>
                <a:lnTo>
                  <a:pt x="120551" y="245176"/>
                </a:lnTo>
                <a:cubicBezTo>
                  <a:pt x="134503" y="242888"/>
                  <a:pt x="145107" y="230832"/>
                  <a:pt x="145107" y="216266"/>
                </a:cubicBezTo>
                <a:cubicBezTo>
                  <a:pt x="145107" y="201923"/>
                  <a:pt x="134782" y="189700"/>
                  <a:pt x="120607" y="187356"/>
                </a:cubicBezTo>
                <a:lnTo>
                  <a:pt x="97334" y="183449"/>
                </a:lnTo>
                <a:cubicBezTo>
                  <a:pt x="93985" y="182891"/>
                  <a:pt x="91529" y="179989"/>
                  <a:pt x="91529" y="176585"/>
                </a:cubicBezTo>
                <a:cubicBezTo>
                  <a:pt x="91529" y="172734"/>
                  <a:pt x="94655" y="169608"/>
                  <a:pt x="98506" y="169608"/>
                </a:cubicBezTo>
                <a:lnTo>
                  <a:pt x="125016" y="169608"/>
                </a:lnTo>
                <a:cubicBezTo>
                  <a:pt x="131155" y="169608"/>
                  <a:pt x="136178" y="164585"/>
                  <a:pt x="136178" y="158446"/>
                </a:cubicBezTo>
                <a:cubicBezTo>
                  <a:pt x="136178" y="152307"/>
                  <a:pt x="131155" y="147284"/>
                  <a:pt x="125016" y="147284"/>
                </a:cubicBezTo>
                <a:lnTo>
                  <a:pt x="120551" y="147284"/>
                </a:lnTo>
                <a:lnTo>
                  <a:pt x="120551" y="145052"/>
                </a:lnTo>
                <a:cubicBezTo>
                  <a:pt x="120551" y="138912"/>
                  <a:pt x="115528" y="133890"/>
                  <a:pt x="109389" y="133890"/>
                </a:cubicBezTo>
                <a:cubicBezTo>
                  <a:pt x="103250" y="133890"/>
                  <a:pt x="98227" y="138912"/>
                  <a:pt x="98227" y="145052"/>
                </a:cubicBezTo>
                <a:close/>
              </a:path>
            </a:pathLst>
          </a:custGeom>
          <a:solidFill>
            <a:srgbClr val="B89A6A"/>
          </a:solidFill>
        </p:spPr>
      </p:sp>
      <p:sp>
        <p:nvSpPr>
          <p:cNvPr id="14" name="Text 12"/>
          <p:cNvSpPr/>
          <p:nvPr/>
        </p:nvSpPr>
        <p:spPr>
          <a:xfrm>
            <a:off x="5282803" y="1771650"/>
            <a:ext cx="1628775" cy="228600"/>
          </a:xfrm>
          <a:prstGeom prst="rect">
            <a:avLst/>
          </a:prstGeom>
          <a:noFill/>
        </p:spPr>
        <p:txBody>
          <a:bodyPr wrap="square" lIns="0" tIns="0" rIns="0" bIns="0" rtlCol="0" anchor="ctr"/>
          <a:lstStyle/>
          <a:p>
            <a:pPr algn="ctr">
              <a:lnSpc>
                <a:spcPct val="130000"/>
              </a:lnSpc>
            </a:pPr>
            <a:r>
              <a:rPr lang="en-US" sz="1200" kern="0" spc="60" dirty="0">
                <a:solidFill>
                  <a:srgbClr val="78828A"/>
                </a:solidFill>
                <a:latin typeface="Liter" panose="02000503030000020004" pitchFamily="34" charset="0"/>
                <a:ea typeface="Liter" panose="02000503030000020004" pitchFamily="34" charset="-122"/>
                <a:cs typeface="Liter" panose="02000503030000020004" pitchFamily="34" charset="-120"/>
              </a:rPr>
              <a:t>Total AR Balance</a:t>
            </a:r>
            <a:endParaRPr lang="en-US" sz="1600" dirty="0"/>
          </a:p>
        </p:txBody>
      </p:sp>
      <p:sp>
        <p:nvSpPr>
          <p:cNvPr id="15" name="Text 13"/>
          <p:cNvSpPr/>
          <p:nvPr/>
        </p:nvSpPr>
        <p:spPr>
          <a:xfrm>
            <a:off x="5297984" y="2052637"/>
            <a:ext cx="939552" cy="504825"/>
          </a:xfrm>
          <a:prstGeom prst="rect">
            <a:avLst/>
          </a:prstGeom>
          <a:noFill/>
        </p:spPr>
        <p:txBody>
          <a:bodyPr wrap="square" lIns="0" tIns="0" rIns="0" bIns="0" rtlCol="0" anchor="ctr"/>
          <a:lstStyle/>
          <a:p>
            <a:pPr algn="ctr">
              <a:lnSpc>
                <a:spcPct val="80000"/>
              </a:lnSpc>
            </a:pPr>
            <a:r>
              <a:rPr lang="en-US" sz="36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245</a:t>
            </a:r>
            <a:endParaRPr lang="en-US" sz="1600" dirty="0"/>
          </a:p>
        </p:txBody>
      </p:sp>
      <p:sp>
        <p:nvSpPr>
          <p:cNvPr id="16" name="Text 14"/>
          <p:cNvSpPr/>
          <p:nvPr/>
        </p:nvSpPr>
        <p:spPr>
          <a:xfrm>
            <a:off x="6144220" y="2276475"/>
            <a:ext cx="682972" cy="209550"/>
          </a:xfrm>
          <a:prstGeom prst="rect">
            <a:avLst/>
          </a:prstGeom>
          <a:noFill/>
        </p:spPr>
        <p:txBody>
          <a:bodyPr wrap="square" lIns="0" tIns="0" rIns="0" bIns="0" rtlCol="0" anchor="ctr"/>
          <a:lstStyle/>
          <a:p>
            <a:pPr algn="ctr">
              <a:lnSpc>
                <a:spcPct val="120000"/>
              </a:lnSpc>
            </a:pPr>
            <a:r>
              <a:rPr lang="en-US" sz="1500" dirty="0">
                <a:solidFill>
                  <a:srgbClr val="78828A"/>
                </a:solidFill>
                <a:latin typeface="Quattrocento Sans" panose="020B0502050000020003" pitchFamily="34" charset="0"/>
                <a:ea typeface="Quattrocento Sans" panose="020B0502050000020003" pitchFamily="34" charset="-122"/>
                <a:cs typeface="Quattrocento Sans" panose="020B0502050000020003" pitchFamily="34" charset="-120"/>
              </a:rPr>
              <a:t>M RMB</a:t>
            </a:r>
            <a:endParaRPr lang="en-US" sz="1600" dirty="0"/>
          </a:p>
        </p:txBody>
      </p:sp>
      <p:sp>
        <p:nvSpPr>
          <p:cNvPr id="17" name="Shape 15"/>
          <p:cNvSpPr/>
          <p:nvPr/>
        </p:nvSpPr>
        <p:spPr>
          <a:xfrm>
            <a:off x="5627861" y="2609850"/>
            <a:ext cx="933450" cy="266700"/>
          </a:xfrm>
          <a:custGeom>
            <a:avLst/>
            <a:gdLst/>
            <a:ahLst/>
            <a:cxnLst/>
            <a:rect l="l" t="t" r="r" b="b"/>
            <a:pathLst>
              <a:path w="933450" h="266700">
                <a:moveTo>
                  <a:pt x="76199" y="0"/>
                </a:moveTo>
                <a:lnTo>
                  <a:pt x="857251" y="0"/>
                </a:lnTo>
                <a:cubicBezTo>
                  <a:pt x="899306" y="0"/>
                  <a:pt x="933450" y="34144"/>
                  <a:pt x="933450" y="76199"/>
                </a:cubicBezTo>
                <a:lnTo>
                  <a:pt x="933450" y="190501"/>
                </a:lnTo>
                <a:cubicBezTo>
                  <a:pt x="933450" y="232556"/>
                  <a:pt x="899306" y="266700"/>
                  <a:pt x="857251" y="266700"/>
                </a:cubicBezTo>
                <a:lnTo>
                  <a:pt x="76199" y="266700"/>
                </a:lnTo>
                <a:cubicBezTo>
                  <a:pt x="34144" y="266700"/>
                  <a:pt x="0" y="232556"/>
                  <a:pt x="0" y="190501"/>
                </a:cubicBezTo>
                <a:lnTo>
                  <a:pt x="0" y="76199"/>
                </a:lnTo>
                <a:cubicBezTo>
                  <a:pt x="0" y="34144"/>
                  <a:pt x="34144" y="0"/>
                  <a:pt x="76199" y="0"/>
                </a:cubicBezTo>
                <a:close/>
              </a:path>
            </a:pathLst>
          </a:custGeom>
          <a:solidFill>
            <a:srgbClr val="4A5C6A">
              <a:alpha val="30196"/>
            </a:srgbClr>
          </a:solidFill>
        </p:spPr>
      </p:sp>
      <p:sp>
        <p:nvSpPr>
          <p:cNvPr id="18" name="Text 16"/>
          <p:cNvSpPr/>
          <p:nvPr/>
        </p:nvSpPr>
        <p:spPr>
          <a:xfrm>
            <a:off x="5708824" y="2647950"/>
            <a:ext cx="771525" cy="190500"/>
          </a:xfrm>
          <a:prstGeom prst="rect">
            <a:avLst/>
          </a:prstGeom>
          <a:noFill/>
        </p:spPr>
        <p:txBody>
          <a:bodyPr wrap="square" lIns="0" tIns="0" rIns="0" bIns="0" rtlCol="0" anchor="ctr"/>
          <a:lstStyle/>
          <a:p>
            <a:pPr algn="ctr">
              <a:lnSpc>
                <a:spcPct val="120000"/>
              </a:lnSpc>
            </a:pPr>
            <a:r>
              <a:rPr lang="en-US" sz="1050" b="1" dirty="0">
                <a:solidFill>
                  <a:srgbClr val="78828A"/>
                </a:solidFill>
                <a:latin typeface="Liter" panose="02000503030000020004" pitchFamily="34" charset="0"/>
                <a:ea typeface="Liter" panose="02000503030000020004" pitchFamily="34" charset="-122"/>
                <a:cs typeface="Liter" panose="02000503030000020004" pitchFamily="34" charset="-120"/>
              </a:rPr>
              <a:t>+18% vs. Q4</a:t>
            </a:r>
            <a:endParaRPr lang="en-US" sz="1600" dirty="0"/>
          </a:p>
        </p:txBody>
      </p:sp>
      <p:sp>
        <p:nvSpPr>
          <p:cNvPr id="19" name="Shape 17"/>
          <p:cNvSpPr/>
          <p:nvPr/>
        </p:nvSpPr>
        <p:spPr>
          <a:xfrm>
            <a:off x="8107338" y="1147763"/>
            <a:ext cx="3695700" cy="1952625"/>
          </a:xfrm>
          <a:custGeom>
            <a:avLst/>
            <a:gdLst/>
            <a:ahLst/>
            <a:cxnLst/>
            <a:rect l="l" t="t" r="r" b="b"/>
            <a:pathLst>
              <a:path w="3695700" h="1952625">
                <a:moveTo>
                  <a:pt x="76191" y="0"/>
                </a:moveTo>
                <a:lnTo>
                  <a:pt x="3619509" y="0"/>
                </a:lnTo>
                <a:cubicBezTo>
                  <a:pt x="3661560" y="0"/>
                  <a:pt x="3695700" y="34140"/>
                  <a:pt x="3695700" y="76191"/>
                </a:cubicBezTo>
                <a:lnTo>
                  <a:pt x="3695700" y="1876434"/>
                </a:lnTo>
                <a:cubicBezTo>
                  <a:pt x="3695700" y="1918485"/>
                  <a:pt x="3661560" y="1952625"/>
                  <a:pt x="3619509" y="1952625"/>
                </a:cubicBezTo>
                <a:lnTo>
                  <a:pt x="76191" y="1952625"/>
                </a:lnTo>
                <a:cubicBezTo>
                  <a:pt x="34140" y="1952625"/>
                  <a:pt x="0" y="1918485"/>
                  <a:pt x="0" y="1876434"/>
                </a:cubicBezTo>
                <a:lnTo>
                  <a:pt x="0" y="76191"/>
                </a:lnTo>
                <a:cubicBezTo>
                  <a:pt x="0" y="34140"/>
                  <a:pt x="34140" y="0"/>
                  <a:pt x="76191" y="0"/>
                </a:cubicBezTo>
                <a:close/>
              </a:path>
            </a:pathLst>
          </a:custGeom>
          <a:solidFill>
            <a:srgbClr val="4A5C6A">
              <a:alpha val="20000"/>
            </a:srgbClr>
          </a:solidFill>
          <a:ln w="12700">
            <a:solidFill>
              <a:srgbClr val="4A5C6A">
                <a:alpha val="30196"/>
              </a:srgbClr>
            </a:solidFill>
            <a:prstDash val="solid"/>
          </a:ln>
        </p:spPr>
      </p:sp>
      <p:sp>
        <p:nvSpPr>
          <p:cNvPr id="20" name="Shape 18"/>
          <p:cNvSpPr/>
          <p:nvPr/>
        </p:nvSpPr>
        <p:spPr>
          <a:xfrm>
            <a:off x="9816257" y="1371600"/>
            <a:ext cx="285750" cy="285750"/>
          </a:xfrm>
          <a:custGeom>
            <a:avLst/>
            <a:gdLst/>
            <a:ahLst/>
            <a:cxnLst/>
            <a:rect l="l" t="t" r="r" b="b"/>
            <a:pathLst>
              <a:path w="285750" h="285750">
                <a:moveTo>
                  <a:pt x="250031" y="142875"/>
                </a:moveTo>
                <a:cubicBezTo>
                  <a:pt x="250031" y="83734"/>
                  <a:pt x="202016" y="35719"/>
                  <a:pt x="142875" y="35719"/>
                </a:cubicBezTo>
                <a:cubicBezTo>
                  <a:pt x="83734" y="35719"/>
                  <a:pt x="35719" y="83734"/>
                  <a:pt x="35719" y="142875"/>
                </a:cubicBezTo>
                <a:cubicBezTo>
                  <a:pt x="35719" y="202016"/>
                  <a:pt x="83734" y="250031"/>
                  <a:pt x="142875" y="250031"/>
                </a:cubicBezTo>
                <a:cubicBezTo>
                  <a:pt x="202016" y="250031"/>
                  <a:pt x="250031" y="202016"/>
                  <a:pt x="250031" y="142875"/>
                </a:cubicBezTo>
                <a:close/>
                <a:moveTo>
                  <a:pt x="0" y="142875"/>
                </a:moveTo>
                <a:cubicBezTo>
                  <a:pt x="0" y="64020"/>
                  <a:pt x="64020" y="0"/>
                  <a:pt x="142875" y="0"/>
                </a:cubicBezTo>
                <a:cubicBezTo>
                  <a:pt x="221730" y="0"/>
                  <a:pt x="285750" y="64020"/>
                  <a:pt x="285750" y="142875"/>
                </a:cubicBezTo>
                <a:cubicBezTo>
                  <a:pt x="285750" y="221730"/>
                  <a:pt x="221730" y="285750"/>
                  <a:pt x="142875" y="285750"/>
                </a:cubicBezTo>
                <a:cubicBezTo>
                  <a:pt x="64020" y="285750"/>
                  <a:pt x="0" y="221730"/>
                  <a:pt x="0" y="142875"/>
                </a:cubicBezTo>
                <a:close/>
                <a:moveTo>
                  <a:pt x="142875" y="187523"/>
                </a:moveTo>
                <a:cubicBezTo>
                  <a:pt x="167517" y="187523"/>
                  <a:pt x="187523" y="167517"/>
                  <a:pt x="187523" y="142875"/>
                </a:cubicBezTo>
                <a:cubicBezTo>
                  <a:pt x="187523" y="118233"/>
                  <a:pt x="167517" y="98227"/>
                  <a:pt x="142875" y="98227"/>
                </a:cubicBezTo>
                <a:cubicBezTo>
                  <a:pt x="118233" y="98227"/>
                  <a:pt x="98227" y="118233"/>
                  <a:pt x="98227" y="142875"/>
                </a:cubicBezTo>
                <a:cubicBezTo>
                  <a:pt x="98227" y="167517"/>
                  <a:pt x="118233" y="187523"/>
                  <a:pt x="142875" y="187523"/>
                </a:cubicBezTo>
                <a:close/>
                <a:moveTo>
                  <a:pt x="142875" y="62508"/>
                </a:moveTo>
                <a:cubicBezTo>
                  <a:pt x="187231" y="62508"/>
                  <a:pt x="223242" y="98519"/>
                  <a:pt x="223242" y="142875"/>
                </a:cubicBezTo>
                <a:cubicBezTo>
                  <a:pt x="223242" y="187231"/>
                  <a:pt x="187231" y="223242"/>
                  <a:pt x="142875" y="223242"/>
                </a:cubicBezTo>
                <a:cubicBezTo>
                  <a:pt x="98519" y="223242"/>
                  <a:pt x="62508" y="187231"/>
                  <a:pt x="62508" y="142875"/>
                </a:cubicBezTo>
                <a:cubicBezTo>
                  <a:pt x="62508" y="98519"/>
                  <a:pt x="98519" y="62508"/>
                  <a:pt x="142875" y="62508"/>
                </a:cubicBezTo>
                <a:close/>
                <a:moveTo>
                  <a:pt x="125016" y="142875"/>
                </a:moveTo>
                <a:cubicBezTo>
                  <a:pt x="125016" y="133018"/>
                  <a:pt x="133018" y="125016"/>
                  <a:pt x="142875" y="125016"/>
                </a:cubicBezTo>
                <a:cubicBezTo>
                  <a:pt x="152732" y="125016"/>
                  <a:pt x="160734" y="133018"/>
                  <a:pt x="160734" y="142875"/>
                </a:cubicBezTo>
                <a:cubicBezTo>
                  <a:pt x="160734" y="152732"/>
                  <a:pt x="152732" y="160734"/>
                  <a:pt x="142875" y="160734"/>
                </a:cubicBezTo>
                <a:cubicBezTo>
                  <a:pt x="133018" y="160734"/>
                  <a:pt x="125016" y="152732"/>
                  <a:pt x="125016" y="142875"/>
                </a:cubicBezTo>
                <a:close/>
              </a:path>
            </a:pathLst>
          </a:custGeom>
          <a:solidFill>
            <a:srgbClr val="B89A6A"/>
          </a:solidFill>
        </p:spPr>
      </p:sp>
      <p:sp>
        <p:nvSpPr>
          <p:cNvPr id="21" name="Text 19"/>
          <p:cNvSpPr/>
          <p:nvPr/>
        </p:nvSpPr>
        <p:spPr>
          <a:xfrm>
            <a:off x="9421862" y="1771650"/>
            <a:ext cx="1066800" cy="228600"/>
          </a:xfrm>
          <a:prstGeom prst="rect">
            <a:avLst/>
          </a:prstGeom>
          <a:noFill/>
        </p:spPr>
        <p:txBody>
          <a:bodyPr wrap="square" lIns="0" tIns="0" rIns="0" bIns="0" rtlCol="0" anchor="ctr"/>
          <a:lstStyle/>
          <a:p>
            <a:pPr algn="ctr">
              <a:lnSpc>
                <a:spcPct val="130000"/>
              </a:lnSpc>
            </a:pPr>
            <a:r>
              <a:rPr lang="en-US" sz="1200" kern="0" spc="60" dirty="0">
                <a:solidFill>
                  <a:srgbClr val="78828A"/>
                </a:solidFill>
                <a:latin typeface="Liter" panose="02000503030000020004" pitchFamily="34" charset="0"/>
                <a:ea typeface="Liter" panose="02000503030000020004" pitchFamily="34" charset="-122"/>
                <a:cs typeface="Liter" panose="02000503030000020004" pitchFamily="34" charset="-120"/>
              </a:rPr>
              <a:t>DSO Target</a:t>
            </a:r>
            <a:endParaRPr lang="en-US" sz="1600" dirty="0"/>
          </a:p>
        </p:txBody>
      </p:sp>
      <p:sp>
        <p:nvSpPr>
          <p:cNvPr id="22" name="Text 20"/>
          <p:cNvSpPr/>
          <p:nvPr/>
        </p:nvSpPr>
        <p:spPr>
          <a:xfrm>
            <a:off x="9349457" y="2052637"/>
            <a:ext cx="720551" cy="504825"/>
          </a:xfrm>
          <a:prstGeom prst="rect">
            <a:avLst/>
          </a:prstGeom>
          <a:noFill/>
        </p:spPr>
        <p:txBody>
          <a:bodyPr wrap="square" lIns="0" tIns="0" rIns="0" bIns="0" rtlCol="0" anchor="ctr"/>
          <a:lstStyle/>
          <a:p>
            <a:pPr algn="ctr">
              <a:lnSpc>
                <a:spcPct val="80000"/>
              </a:lnSpc>
            </a:pPr>
            <a:r>
              <a:rPr lang="en-US" sz="3600" b="1" dirty="0">
                <a:solidFill>
                  <a:srgbClr val="78828A"/>
                </a:solidFill>
                <a:latin typeface="Quattrocento Sans" panose="020B0502050000020003" pitchFamily="34" charset="0"/>
                <a:ea typeface="Quattrocento Sans" panose="020B0502050000020003" pitchFamily="34" charset="-122"/>
                <a:cs typeface="Quattrocento Sans" panose="020B0502050000020003" pitchFamily="34" charset="-120"/>
              </a:rPr>
              <a:t>55</a:t>
            </a:r>
            <a:endParaRPr lang="en-US" sz="1600" dirty="0"/>
          </a:p>
        </p:txBody>
      </p:sp>
      <p:sp>
        <p:nvSpPr>
          <p:cNvPr id="23" name="Text 21"/>
          <p:cNvSpPr/>
          <p:nvPr/>
        </p:nvSpPr>
        <p:spPr>
          <a:xfrm>
            <a:off x="10014793" y="2276475"/>
            <a:ext cx="482575" cy="209550"/>
          </a:xfrm>
          <a:prstGeom prst="rect">
            <a:avLst/>
          </a:prstGeom>
          <a:noFill/>
        </p:spPr>
        <p:txBody>
          <a:bodyPr wrap="square" lIns="0" tIns="0" rIns="0" bIns="0" rtlCol="0" anchor="ctr"/>
          <a:lstStyle/>
          <a:p>
            <a:pPr algn="ctr">
              <a:lnSpc>
                <a:spcPct val="120000"/>
              </a:lnSpc>
            </a:pPr>
            <a:r>
              <a:rPr lang="en-US" sz="1500" dirty="0">
                <a:solidFill>
                  <a:srgbClr val="78828A"/>
                </a:solidFill>
                <a:latin typeface="Quattrocento Sans" panose="020B0502050000020003" pitchFamily="34" charset="0"/>
                <a:ea typeface="Quattrocento Sans" panose="020B0502050000020003" pitchFamily="34" charset="-122"/>
                <a:cs typeface="Quattrocento Sans" panose="020B0502050000020003" pitchFamily="34" charset="-120"/>
              </a:rPr>
              <a:t>days</a:t>
            </a:r>
            <a:endParaRPr lang="en-US" sz="1600" dirty="0"/>
          </a:p>
        </p:txBody>
      </p:sp>
      <p:sp>
        <p:nvSpPr>
          <p:cNvPr id="24" name="Shape 22"/>
          <p:cNvSpPr/>
          <p:nvPr/>
        </p:nvSpPr>
        <p:spPr>
          <a:xfrm>
            <a:off x="9435331" y="2609850"/>
            <a:ext cx="1038225" cy="266700"/>
          </a:xfrm>
          <a:custGeom>
            <a:avLst/>
            <a:gdLst/>
            <a:ahLst/>
            <a:cxnLst/>
            <a:rect l="l" t="t" r="r" b="b"/>
            <a:pathLst>
              <a:path w="1038225" h="266700">
                <a:moveTo>
                  <a:pt x="76199" y="0"/>
                </a:moveTo>
                <a:lnTo>
                  <a:pt x="962026" y="0"/>
                </a:lnTo>
                <a:cubicBezTo>
                  <a:pt x="1004081" y="0"/>
                  <a:pt x="1038225" y="34144"/>
                  <a:pt x="1038225" y="76199"/>
                </a:cubicBezTo>
                <a:lnTo>
                  <a:pt x="1038225" y="190501"/>
                </a:lnTo>
                <a:cubicBezTo>
                  <a:pt x="1038225" y="232556"/>
                  <a:pt x="1004081" y="266700"/>
                  <a:pt x="962026" y="266700"/>
                </a:cubicBezTo>
                <a:lnTo>
                  <a:pt x="76199" y="266700"/>
                </a:lnTo>
                <a:cubicBezTo>
                  <a:pt x="34144" y="266700"/>
                  <a:pt x="0" y="232556"/>
                  <a:pt x="0" y="190501"/>
                </a:cubicBezTo>
                <a:lnTo>
                  <a:pt x="0" y="76199"/>
                </a:lnTo>
                <a:cubicBezTo>
                  <a:pt x="0" y="34144"/>
                  <a:pt x="34144" y="0"/>
                  <a:pt x="76199" y="0"/>
                </a:cubicBezTo>
                <a:close/>
              </a:path>
            </a:pathLst>
          </a:custGeom>
          <a:solidFill>
            <a:srgbClr val="78828A">
              <a:alpha val="20000"/>
            </a:srgbClr>
          </a:solidFill>
        </p:spPr>
      </p:sp>
      <p:sp>
        <p:nvSpPr>
          <p:cNvPr id="25" name="Text 23"/>
          <p:cNvSpPr/>
          <p:nvPr/>
        </p:nvSpPr>
        <p:spPr>
          <a:xfrm>
            <a:off x="9516294" y="2647950"/>
            <a:ext cx="876300" cy="190500"/>
          </a:xfrm>
          <a:prstGeom prst="rect">
            <a:avLst/>
          </a:prstGeom>
          <a:noFill/>
        </p:spPr>
        <p:txBody>
          <a:bodyPr wrap="square" lIns="0" tIns="0" rIns="0" bIns="0" rtlCol="0" anchor="ctr"/>
          <a:lstStyle/>
          <a:p>
            <a:pPr algn="ctr">
              <a:lnSpc>
                <a:spcPct val="120000"/>
              </a:lnSpc>
            </a:pPr>
            <a:r>
              <a:rPr lang="en-US" sz="1050" b="1" dirty="0">
                <a:solidFill>
                  <a:srgbClr val="78828A"/>
                </a:solidFill>
                <a:latin typeface="Liter" panose="02000503030000020004" pitchFamily="34" charset="0"/>
                <a:ea typeface="Liter" panose="02000503030000020004" pitchFamily="34" charset="-122"/>
                <a:cs typeface="Liter" panose="02000503030000020004" pitchFamily="34" charset="-120"/>
              </a:rPr>
              <a:t>Gap: +10 days</a:t>
            </a:r>
            <a:endParaRPr lang="en-US" sz="1600" dirty="0"/>
          </a:p>
        </p:txBody>
      </p:sp>
      <p:sp>
        <p:nvSpPr>
          <p:cNvPr id="26" name="Shape 24"/>
          <p:cNvSpPr/>
          <p:nvPr/>
        </p:nvSpPr>
        <p:spPr>
          <a:xfrm>
            <a:off x="385763" y="3224213"/>
            <a:ext cx="5629275" cy="3609975"/>
          </a:xfrm>
          <a:custGeom>
            <a:avLst/>
            <a:gdLst/>
            <a:ahLst/>
            <a:cxnLst/>
            <a:rect l="l" t="t" r="r" b="b"/>
            <a:pathLst>
              <a:path w="5629275" h="3609975">
                <a:moveTo>
                  <a:pt x="76207" y="0"/>
                </a:moveTo>
                <a:lnTo>
                  <a:pt x="5553068" y="0"/>
                </a:lnTo>
                <a:cubicBezTo>
                  <a:pt x="5595156" y="0"/>
                  <a:pt x="5629275" y="34119"/>
                  <a:pt x="5629275" y="76207"/>
                </a:cubicBezTo>
                <a:lnTo>
                  <a:pt x="5629275" y="3533768"/>
                </a:lnTo>
                <a:cubicBezTo>
                  <a:pt x="5629275" y="3575856"/>
                  <a:pt x="5595156" y="3609975"/>
                  <a:pt x="5553068" y="3609975"/>
                </a:cubicBezTo>
                <a:lnTo>
                  <a:pt x="76207" y="3609975"/>
                </a:lnTo>
                <a:cubicBezTo>
                  <a:pt x="34119" y="3609975"/>
                  <a:pt x="0" y="3575856"/>
                  <a:pt x="0" y="3533768"/>
                </a:cubicBezTo>
                <a:lnTo>
                  <a:pt x="0" y="76207"/>
                </a:lnTo>
                <a:cubicBezTo>
                  <a:pt x="0" y="34119"/>
                  <a:pt x="34119" y="0"/>
                  <a:pt x="76207" y="0"/>
                </a:cubicBezTo>
                <a:close/>
              </a:path>
            </a:pathLst>
          </a:custGeom>
          <a:solidFill>
            <a:srgbClr val="4A5C6A">
              <a:alpha val="10196"/>
            </a:srgbClr>
          </a:solidFill>
          <a:ln w="12700">
            <a:solidFill>
              <a:srgbClr val="4A5C6A">
                <a:alpha val="30196"/>
              </a:srgbClr>
            </a:solidFill>
            <a:prstDash val="solid"/>
          </a:ln>
        </p:spPr>
      </p:sp>
      <p:sp>
        <p:nvSpPr>
          <p:cNvPr id="27" name="Shape 25"/>
          <p:cNvSpPr/>
          <p:nvPr/>
        </p:nvSpPr>
        <p:spPr>
          <a:xfrm>
            <a:off x="566738" y="3429000"/>
            <a:ext cx="171450" cy="171450"/>
          </a:xfrm>
          <a:custGeom>
            <a:avLst/>
            <a:gdLst/>
            <a:ahLst/>
            <a:cxnLst/>
            <a:rect l="l" t="t" r="r" b="b"/>
            <a:pathLst>
              <a:path w="171450" h="171450">
                <a:moveTo>
                  <a:pt x="10716" y="10716"/>
                </a:moveTo>
                <a:cubicBezTo>
                  <a:pt x="16643" y="10716"/>
                  <a:pt x="21431" y="15504"/>
                  <a:pt x="21431" y="21431"/>
                </a:cubicBezTo>
                <a:lnTo>
                  <a:pt x="21431" y="133945"/>
                </a:lnTo>
                <a:cubicBezTo>
                  <a:pt x="21431" y="136892"/>
                  <a:pt x="23842" y="139303"/>
                  <a:pt x="26789" y="139303"/>
                </a:cubicBezTo>
                <a:lnTo>
                  <a:pt x="160734" y="139303"/>
                </a:lnTo>
                <a:cubicBezTo>
                  <a:pt x="166661" y="139303"/>
                  <a:pt x="171450" y="144092"/>
                  <a:pt x="171450" y="150019"/>
                </a:cubicBezTo>
                <a:cubicBezTo>
                  <a:pt x="171450" y="155946"/>
                  <a:pt x="166661" y="160734"/>
                  <a:pt x="160734" y="160734"/>
                </a:cubicBezTo>
                <a:lnTo>
                  <a:pt x="26789" y="160734"/>
                </a:lnTo>
                <a:cubicBezTo>
                  <a:pt x="11988" y="160734"/>
                  <a:pt x="0" y="148746"/>
                  <a:pt x="0" y="133945"/>
                </a:cubicBezTo>
                <a:lnTo>
                  <a:pt x="0" y="21431"/>
                </a:lnTo>
                <a:cubicBezTo>
                  <a:pt x="0" y="15504"/>
                  <a:pt x="4789" y="10716"/>
                  <a:pt x="10716" y="10716"/>
                </a:cubicBezTo>
                <a:close/>
                <a:moveTo>
                  <a:pt x="42863" y="32147"/>
                </a:moveTo>
                <a:cubicBezTo>
                  <a:pt x="42863" y="26220"/>
                  <a:pt x="47651" y="21431"/>
                  <a:pt x="53578" y="21431"/>
                </a:cubicBezTo>
                <a:lnTo>
                  <a:pt x="117872" y="21431"/>
                </a:lnTo>
                <a:cubicBezTo>
                  <a:pt x="123799" y="21431"/>
                  <a:pt x="128588" y="26220"/>
                  <a:pt x="128588" y="32147"/>
                </a:cubicBezTo>
                <a:cubicBezTo>
                  <a:pt x="128588" y="38074"/>
                  <a:pt x="123799" y="42863"/>
                  <a:pt x="117872" y="42863"/>
                </a:cubicBezTo>
                <a:lnTo>
                  <a:pt x="53578" y="42863"/>
                </a:lnTo>
                <a:cubicBezTo>
                  <a:pt x="47651" y="42863"/>
                  <a:pt x="42863" y="38074"/>
                  <a:pt x="42863" y="32147"/>
                </a:cubicBezTo>
                <a:close/>
                <a:moveTo>
                  <a:pt x="53578" y="58936"/>
                </a:moveTo>
                <a:lnTo>
                  <a:pt x="96441" y="58936"/>
                </a:lnTo>
                <a:cubicBezTo>
                  <a:pt x="102368" y="58936"/>
                  <a:pt x="107156" y="63724"/>
                  <a:pt x="107156" y="69652"/>
                </a:cubicBezTo>
                <a:cubicBezTo>
                  <a:pt x="107156" y="75579"/>
                  <a:pt x="102368" y="80367"/>
                  <a:pt x="96441" y="80367"/>
                </a:cubicBezTo>
                <a:lnTo>
                  <a:pt x="53578" y="80367"/>
                </a:lnTo>
                <a:cubicBezTo>
                  <a:pt x="47651" y="80367"/>
                  <a:pt x="42863" y="75579"/>
                  <a:pt x="42863" y="69652"/>
                </a:cubicBezTo>
                <a:cubicBezTo>
                  <a:pt x="42863" y="63724"/>
                  <a:pt x="47651" y="58936"/>
                  <a:pt x="53578" y="58936"/>
                </a:cubicBezTo>
                <a:close/>
                <a:moveTo>
                  <a:pt x="53578" y="96441"/>
                </a:moveTo>
                <a:lnTo>
                  <a:pt x="139303" y="96441"/>
                </a:lnTo>
                <a:cubicBezTo>
                  <a:pt x="145230" y="96441"/>
                  <a:pt x="150019" y="101229"/>
                  <a:pt x="150019" y="107156"/>
                </a:cubicBezTo>
                <a:cubicBezTo>
                  <a:pt x="150019" y="113083"/>
                  <a:pt x="145230" y="117872"/>
                  <a:pt x="139303" y="117872"/>
                </a:cubicBezTo>
                <a:lnTo>
                  <a:pt x="53578" y="117872"/>
                </a:lnTo>
                <a:cubicBezTo>
                  <a:pt x="47651" y="117872"/>
                  <a:pt x="42863" y="113083"/>
                  <a:pt x="42863" y="107156"/>
                </a:cubicBezTo>
                <a:cubicBezTo>
                  <a:pt x="42863" y="101229"/>
                  <a:pt x="47651" y="96441"/>
                  <a:pt x="53578" y="96441"/>
                </a:cubicBezTo>
                <a:close/>
              </a:path>
            </a:pathLst>
          </a:custGeom>
          <a:solidFill>
            <a:srgbClr val="B89A6A"/>
          </a:solidFill>
        </p:spPr>
      </p:sp>
      <p:sp>
        <p:nvSpPr>
          <p:cNvPr id="28" name="Text 26"/>
          <p:cNvSpPr/>
          <p:nvPr/>
        </p:nvSpPr>
        <p:spPr>
          <a:xfrm>
            <a:off x="762000" y="3381375"/>
            <a:ext cx="5181600" cy="266700"/>
          </a:xfrm>
          <a:prstGeom prst="rect">
            <a:avLst/>
          </a:prstGeom>
          <a:noFill/>
        </p:spPr>
        <p:txBody>
          <a:bodyPr wrap="square" lIns="0" tIns="0" rIns="0" bIns="0" rtlCol="0" anchor="ctr"/>
          <a:lstStyle/>
          <a:p>
            <a:pPr>
              <a:lnSpc>
                <a:spcPct val="130000"/>
              </a:lnSpc>
            </a:pPr>
            <a:r>
              <a:rPr lang="en-US" sz="13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AR Aging Analysis</a:t>
            </a:r>
            <a:endParaRPr lang="en-US" sz="1600" dirty="0"/>
          </a:p>
        </p:txBody>
      </p:sp>
      <p:pic>
        <p:nvPicPr>
          <p:cNvPr id="29" name="Image 0" descr="https://kimi-img.moonshot.cn/pub/slides/26-03-22-16:22:39-d6vqdjuqvl77079kcjrg.png"/>
          <p:cNvPicPr>
            <a:picLocks noChangeAspect="1"/>
          </p:cNvPicPr>
          <p:nvPr/>
        </p:nvPicPr>
        <p:blipFill>
          <a:blip r:embed="rId1"/>
          <a:srcRect/>
          <a:stretch>
            <a:fillRect/>
          </a:stretch>
        </p:blipFill>
        <p:spPr>
          <a:xfrm>
            <a:off x="542925" y="3724275"/>
            <a:ext cx="5314950" cy="2952750"/>
          </a:xfrm>
          <a:prstGeom prst="roundRect">
            <a:avLst>
              <a:gd name="adj" fmla="val 0"/>
            </a:avLst>
          </a:prstGeom>
        </p:spPr>
      </p:pic>
      <p:sp>
        <p:nvSpPr>
          <p:cNvPr id="30" name="Shape 27"/>
          <p:cNvSpPr/>
          <p:nvPr/>
        </p:nvSpPr>
        <p:spPr>
          <a:xfrm>
            <a:off x="6191250" y="3219450"/>
            <a:ext cx="5619750" cy="1390650"/>
          </a:xfrm>
          <a:custGeom>
            <a:avLst/>
            <a:gdLst/>
            <a:ahLst/>
            <a:cxnLst/>
            <a:rect l="l" t="t" r="r" b="b"/>
            <a:pathLst>
              <a:path w="5619750" h="1390650">
                <a:moveTo>
                  <a:pt x="0" y="0"/>
                </a:moveTo>
                <a:lnTo>
                  <a:pt x="5543556" y="0"/>
                </a:lnTo>
                <a:cubicBezTo>
                  <a:pt x="5585609" y="0"/>
                  <a:pt x="5619750" y="34141"/>
                  <a:pt x="5619750" y="76194"/>
                </a:cubicBezTo>
                <a:lnTo>
                  <a:pt x="5619750" y="1314456"/>
                </a:lnTo>
                <a:cubicBezTo>
                  <a:pt x="5619750" y="1356509"/>
                  <a:pt x="5585609" y="1390650"/>
                  <a:pt x="5543556" y="1390650"/>
                </a:cubicBezTo>
                <a:lnTo>
                  <a:pt x="0" y="1390650"/>
                </a:lnTo>
                <a:lnTo>
                  <a:pt x="0" y="0"/>
                </a:lnTo>
                <a:close/>
              </a:path>
            </a:pathLst>
          </a:custGeom>
          <a:solidFill>
            <a:srgbClr val="B89A6A">
              <a:alpha val="10196"/>
            </a:srgbClr>
          </a:solidFill>
        </p:spPr>
      </p:sp>
      <p:sp>
        <p:nvSpPr>
          <p:cNvPr id="31" name="Shape 28"/>
          <p:cNvSpPr/>
          <p:nvPr/>
        </p:nvSpPr>
        <p:spPr>
          <a:xfrm>
            <a:off x="6191250" y="3219450"/>
            <a:ext cx="38100" cy="1390650"/>
          </a:xfrm>
          <a:custGeom>
            <a:avLst/>
            <a:gdLst/>
            <a:ahLst/>
            <a:cxnLst/>
            <a:rect l="l" t="t" r="r" b="b"/>
            <a:pathLst>
              <a:path w="38100" h="1390650">
                <a:moveTo>
                  <a:pt x="0" y="0"/>
                </a:moveTo>
                <a:lnTo>
                  <a:pt x="38100" y="0"/>
                </a:lnTo>
                <a:lnTo>
                  <a:pt x="38100" y="1390650"/>
                </a:lnTo>
                <a:lnTo>
                  <a:pt x="0" y="1390650"/>
                </a:lnTo>
                <a:lnTo>
                  <a:pt x="0" y="0"/>
                </a:lnTo>
                <a:close/>
              </a:path>
            </a:pathLst>
          </a:custGeom>
          <a:solidFill>
            <a:srgbClr val="B89A6A"/>
          </a:solidFill>
        </p:spPr>
      </p:sp>
      <p:sp>
        <p:nvSpPr>
          <p:cNvPr id="32" name="Shape 29"/>
          <p:cNvSpPr/>
          <p:nvPr/>
        </p:nvSpPr>
        <p:spPr>
          <a:xfrm>
            <a:off x="6362700" y="33718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B89A6A">
              <a:alpha val="20000"/>
            </a:srgbClr>
          </a:solidFill>
        </p:spPr>
      </p:sp>
      <p:sp>
        <p:nvSpPr>
          <p:cNvPr id="33" name="Shape 30"/>
          <p:cNvSpPr/>
          <p:nvPr/>
        </p:nvSpPr>
        <p:spPr>
          <a:xfrm>
            <a:off x="6491288" y="3476625"/>
            <a:ext cx="128588" cy="171450"/>
          </a:xfrm>
          <a:custGeom>
            <a:avLst/>
            <a:gdLst/>
            <a:ahLst/>
            <a:cxnLst/>
            <a:rect l="l" t="t" r="r" b="b"/>
            <a:pathLst>
              <a:path w="128588" h="171450">
                <a:moveTo>
                  <a:pt x="21431" y="0"/>
                </a:moveTo>
                <a:cubicBezTo>
                  <a:pt x="9611" y="0"/>
                  <a:pt x="0" y="9611"/>
                  <a:pt x="0" y="21431"/>
                </a:cubicBezTo>
                <a:lnTo>
                  <a:pt x="0" y="150019"/>
                </a:lnTo>
                <a:cubicBezTo>
                  <a:pt x="0" y="161839"/>
                  <a:pt x="9611" y="171450"/>
                  <a:pt x="21431" y="171450"/>
                </a:cubicBezTo>
                <a:lnTo>
                  <a:pt x="107156" y="171450"/>
                </a:lnTo>
                <a:cubicBezTo>
                  <a:pt x="118977" y="171450"/>
                  <a:pt x="128588" y="161839"/>
                  <a:pt x="128588" y="150019"/>
                </a:cubicBezTo>
                <a:lnTo>
                  <a:pt x="128588" y="21431"/>
                </a:lnTo>
                <a:cubicBezTo>
                  <a:pt x="128588" y="9611"/>
                  <a:pt x="118977" y="0"/>
                  <a:pt x="107156" y="0"/>
                </a:cubicBezTo>
                <a:lnTo>
                  <a:pt x="21431" y="0"/>
                </a:lnTo>
                <a:close/>
                <a:moveTo>
                  <a:pt x="58936" y="117872"/>
                </a:moveTo>
                <a:lnTo>
                  <a:pt x="69652" y="117872"/>
                </a:lnTo>
                <a:cubicBezTo>
                  <a:pt x="75579" y="117872"/>
                  <a:pt x="80367" y="122660"/>
                  <a:pt x="80367" y="128588"/>
                </a:cubicBezTo>
                <a:lnTo>
                  <a:pt x="80367" y="155377"/>
                </a:lnTo>
                <a:lnTo>
                  <a:pt x="48220" y="155377"/>
                </a:lnTo>
                <a:lnTo>
                  <a:pt x="48220" y="128588"/>
                </a:lnTo>
                <a:cubicBezTo>
                  <a:pt x="48220" y="122660"/>
                  <a:pt x="53009" y="117872"/>
                  <a:pt x="58936" y="117872"/>
                </a:cubicBezTo>
                <a:close/>
                <a:moveTo>
                  <a:pt x="32147" y="37505"/>
                </a:moveTo>
                <a:cubicBezTo>
                  <a:pt x="32147" y="34558"/>
                  <a:pt x="34558" y="32147"/>
                  <a:pt x="37505" y="32147"/>
                </a:cubicBezTo>
                <a:lnTo>
                  <a:pt x="48220" y="32147"/>
                </a:lnTo>
                <a:cubicBezTo>
                  <a:pt x="51167" y="32147"/>
                  <a:pt x="53578" y="34558"/>
                  <a:pt x="53578" y="37505"/>
                </a:cubicBezTo>
                <a:lnTo>
                  <a:pt x="53578" y="48220"/>
                </a:lnTo>
                <a:cubicBezTo>
                  <a:pt x="53578" y="51167"/>
                  <a:pt x="51167" y="53578"/>
                  <a:pt x="48220" y="53578"/>
                </a:cubicBezTo>
                <a:lnTo>
                  <a:pt x="37505" y="53578"/>
                </a:lnTo>
                <a:cubicBezTo>
                  <a:pt x="34558" y="53578"/>
                  <a:pt x="32147" y="51167"/>
                  <a:pt x="32147" y="48220"/>
                </a:cubicBezTo>
                <a:lnTo>
                  <a:pt x="32147" y="37505"/>
                </a:lnTo>
                <a:close/>
                <a:moveTo>
                  <a:pt x="80367" y="32147"/>
                </a:moveTo>
                <a:lnTo>
                  <a:pt x="91083" y="32147"/>
                </a:lnTo>
                <a:cubicBezTo>
                  <a:pt x="94030" y="32147"/>
                  <a:pt x="96441" y="34558"/>
                  <a:pt x="96441" y="37505"/>
                </a:cubicBezTo>
                <a:lnTo>
                  <a:pt x="96441" y="48220"/>
                </a:lnTo>
                <a:cubicBezTo>
                  <a:pt x="96441" y="51167"/>
                  <a:pt x="94030" y="53578"/>
                  <a:pt x="91083" y="53578"/>
                </a:cubicBezTo>
                <a:lnTo>
                  <a:pt x="80367" y="53578"/>
                </a:lnTo>
                <a:cubicBezTo>
                  <a:pt x="77420" y="53578"/>
                  <a:pt x="75009" y="51167"/>
                  <a:pt x="75009" y="48220"/>
                </a:cubicBezTo>
                <a:lnTo>
                  <a:pt x="75009" y="37505"/>
                </a:lnTo>
                <a:cubicBezTo>
                  <a:pt x="75009" y="34558"/>
                  <a:pt x="77420" y="32147"/>
                  <a:pt x="80367" y="32147"/>
                </a:cubicBezTo>
                <a:close/>
                <a:moveTo>
                  <a:pt x="32147" y="80367"/>
                </a:moveTo>
                <a:cubicBezTo>
                  <a:pt x="32147" y="77420"/>
                  <a:pt x="34558" y="75009"/>
                  <a:pt x="37505" y="75009"/>
                </a:cubicBezTo>
                <a:lnTo>
                  <a:pt x="48220" y="75009"/>
                </a:lnTo>
                <a:cubicBezTo>
                  <a:pt x="51167" y="75009"/>
                  <a:pt x="53578" y="77420"/>
                  <a:pt x="53578" y="80367"/>
                </a:cubicBezTo>
                <a:lnTo>
                  <a:pt x="53578" y="91083"/>
                </a:lnTo>
                <a:cubicBezTo>
                  <a:pt x="53578" y="94030"/>
                  <a:pt x="51167" y="96441"/>
                  <a:pt x="48220" y="96441"/>
                </a:cubicBezTo>
                <a:lnTo>
                  <a:pt x="37505" y="96441"/>
                </a:lnTo>
                <a:cubicBezTo>
                  <a:pt x="34558" y="96441"/>
                  <a:pt x="32147" y="94030"/>
                  <a:pt x="32147" y="91083"/>
                </a:cubicBezTo>
                <a:lnTo>
                  <a:pt x="32147" y="80367"/>
                </a:lnTo>
                <a:close/>
                <a:moveTo>
                  <a:pt x="80367" y="75009"/>
                </a:moveTo>
                <a:lnTo>
                  <a:pt x="91083" y="75009"/>
                </a:lnTo>
                <a:cubicBezTo>
                  <a:pt x="94030" y="75009"/>
                  <a:pt x="96441" y="77420"/>
                  <a:pt x="96441" y="80367"/>
                </a:cubicBezTo>
                <a:lnTo>
                  <a:pt x="96441" y="91083"/>
                </a:lnTo>
                <a:cubicBezTo>
                  <a:pt x="96441" y="94030"/>
                  <a:pt x="94030" y="96441"/>
                  <a:pt x="91083" y="96441"/>
                </a:cubicBezTo>
                <a:lnTo>
                  <a:pt x="80367" y="96441"/>
                </a:lnTo>
                <a:cubicBezTo>
                  <a:pt x="77420" y="96441"/>
                  <a:pt x="75009" y="94030"/>
                  <a:pt x="75009" y="91083"/>
                </a:cubicBezTo>
                <a:lnTo>
                  <a:pt x="75009" y="80367"/>
                </a:lnTo>
                <a:cubicBezTo>
                  <a:pt x="75009" y="77420"/>
                  <a:pt x="77420" y="75009"/>
                  <a:pt x="80367" y="75009"/>
                </a:cubicBezTo>
                <a:close/>
              </a:path>
            </a:pathLst>
          </a:custGeom>
          <a:solidFill>
            <a:srgbClr val="B89A6A"/>
          </a:solidFill>
        </p:spPr>
      </p:sp>
      <p:sp>
        <p:nvSpPr>
          <p:cNvPr id="34" name="Text 31"/>
          <p:cNvSpPr/>
          <p:nvPr/>
        </p:nvSpPr>
        <p:spPr>
          <a:xfrm>
            <a:off x="6858000" y="3371850"/>
            <a:ext cx="4886325" cy="266700"/>
          </a:xfrm>
          <a:prstGeom prst="rect">
            <a:avLst/>
          </a:prstGeom>
          <a:noFill/>
        </p:spPr>
        <p:txBody>
          <a:bodyPr wrap="square" lIns="0" tIns="0" rIns="0" bIns="0" rtlCol="0" anchor="ctr"/>
          <a:lstStyle/>
          <a:p>
            <a:pPr>
              <a:lnSpc>
                <a:spcPct val="130000"/>
              </a:lnSpc>
            </a:pPr>
            <a:r>
              <a:rPr lang="en-US" sz="13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DSO Increase Drivers</a:t>
            </a:r>
            <a:endParaRPr lang="en-US" sz="1600" dirty="0"/>
          </a:p>
        </p:txBody>
      </p:sp>
      <p:sp>
        <p:nvSpPr>
          <p:cNvPr id="35" name="Text 32"/>
          <p:cNvSpPr/>
          <p:nvPr/>
        </p:nvSpPr>
        <p:spPr>
          <a:xfrm>
            <a:off x="6858000" y="3714750"/>
            <a:ext cx="4876800" cy="742950"/>
          </a:xfrm>
          <a:prstGeom prst="rect">
            <a:avLst/>
          </a:prstGeom>
          <a:noFill/>
        </p:spPr>
        <p:txBody>
          <a:bodyPr wrap="square" lIns="0" tIns="0" rIns="0" bIns="0" rtlCol="0" anchor="ctr"/>
          <a:lstStyle/>
          <a:p>
            <a:pPr>
              <a:lnSpc>
                <a:spcPct val="14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DSO increased to 65 days, up from historical averages of 53 days, primarily due to </a:t>
            </a:r>
            <a:r>
              <a:rPr lang="en-US" sz="1200" b="1" dirty="0">
                <a:solidFill>
                  <a:srgbClr val="B89A6A"/>
                </a:solidFill>
                <a:latin typeface="Liter" panose="02000503030000020004" pitchFamily="34" charset="0"/>
                <a:ea typeface="Liter" panose="02000503030000020004" pitchFamily="34" charset="-122"/>
                <a:cs typeface="Liter" panose="02000503030000020004" pitchFamily="34" charset="-120"/>
              </a:rPr>
              <a:t>enterprise customer compliance delays</a:t>
            </a: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 and extended procurement cycles for large deployments.</a:t>
            </a:r>
            <a:endParaRPr lang="en-US" sz="1600" dirty="0"/>
          </a:p>
        </p:txBody>
      </p:sp>
      <p:sp>
        <p:nvSpPr>
          <p:cNvPr id="36" name="Shape 33"/>
          <p:cNvSpPr/>
          <p:nvPr/>
        </p:nvSpPr>
        <p:spPr>
          <a:xfrm>
            <a:off x="6176963" y="4729163"/>
            <a:ext cx="5629275" cy="2105025"/>
          </a:xfrm>
          <a:custGeom>
            <a:avLst/>
            <a:gdLst/>
            <a:ahLst/>
            <a:cxnLst/>
            <a:rect l="l" t="t" r="r" b="b"/>
            <a:pathLst>
              <a:path w="5629275" h="2105025">
                <a:moveTo>
                  <a:pt x="76202" y="0"/>
                </a:moveTo>
                <a:lnTo>
                  <a:pt x="5553073" y="0"/>
                </a:lnTo>
                <a:cubicBezTo>
                  <a:pt x="5595158" y="0"/>
                  <a:pt x="5629275" y="34117"/>
                  <a:pt x="5629275" y="76202"/>
                </a:cubicBezTo>
                <a:lnTo>
                  <a:pt x="5629275" y="2028823"/>
                </a:lnTo>
                <a:cubicBezTo>
                  <a:pt x="5629275" y="2070908"/>
                  <a:pt x="5595158" y="2105025"/>
                  <a:pt x="5553073" y="2105025"/>
                </a:cubicBezTo>
                <a:lnTo>
                  <a:pt x="76202" y="2105025"/>
                </a:lnTo>
                <a:cubicBezTo>
                  <a:pt x="34117" y="2105025"/>
                  <a:pt x="0" y="2070908"/>
                  <a:pt x="0" y="2028823"/>
                </a:cubicBezTo>
                <a:lnTo>
                  <a:pt x="0" y="76202"/>
                </a:lnTo>
                <a:cubicBezTo>
                  <a:pt x="0" y="34117"/>
                  <a:pt x="34117" y="0"/>
                  <a:pt x="76202" y="0"/>
                </a:cubicBezTo>
                <a:close/>
              </a:path>
            </a:pathLst>
          </a:custGeom>
          <a:solidFill>
            <a:srgbClr val="4A5C6A">
              <a:alpha val="10196"/>
            </a:srgbClr>
          </a:solidFill>
          <a:ln w="12700">
            <a:solidFill>
              <a:srgbClr val="4A5C6A">
                <a:alpha val="30196"/>
              </a:srgbClr>
            </a:solidFill>
            <a:prstDash val="solid"/>
          </a:ln>
        </p:spPr>
      </p:sp>
      <p:sp>
        <p:nvSpPr>
          <p:cNvPr id="37" name="Text 34"/>
          <p:cNvSpPr/>
          <p:nvPr/>
        </p:nvSpPr>
        <p:spPr>
          <a:xfrm>
            <a:off x="6334125" y="4886325"/>
            <a:ext cx="5391150"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Collection Efficiency Metrics</a:t>
            </a:r>
            <a:endParaRPr lang="en-US" sz="1600" dirty="0"/>
          </a:p>
        </p:txBody>
      </p:sp>
      <p:sp>
        <p:nvSpPr>
          <p:cNvPr id="38" name="Text 35"/>
          <p:cNvSpPr/>
          <p:nvPr/>
        </p:nvSpPr>
        <p:spPr>
          <a:xfrm>
            <a:off x="6334125" y="5229225"/>
            <a:ext cx="1200150"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Current Collections</a:t>
            </a:r>
            <a:endParaRPr lang="en-US" sz="1600" dirty="0"/>
          </a:p>
        </p:txBody>
      </p:sp>
      <p:sp>
        <p:nvSpPr>
          <p:cNvPr id="39" name="Text 36"/>
          <p:cNvSpPr/>
          <p:nvPr/>
        </p:nvSpPr>
        <p:spPr>
          <a:xfrm>
            <a:off x="11393165" y="5229225"/>
            <a:ext cx="323850" cy="190500"/>
          </a:xfrm>
          <a:prstGeom prst="rect">
            <a:avLst/>
          </a:prstGeom>
          <a:noFill/>
        </p:spPr>
        <p:txBody>
          <a:bodyPr wrap="square" lIns="0" tIns="0" rIns="0" bIns="0" rtlCol="0" anchor="ctr"/>
          <a:lstStyle/>
          <a:p>
            <a:pPr>
              <a:lnSpc>
                <a:spcPct val="120000"/>
              </a:lnSpc>
            </a:pPr>
            <a:r>
              <a:rPr lang="en-US" sz="1050" b="1" dirty="0">
                <a:solidFill>
                  <a:srgbClr val="E0E2E5"/>
                </a:solidFill>
                <a:latin typeface="Liter" panose="02000503030000020004" pitchFamily="34" charset="0"/>
                <a:ea typeface="Liter" panose="02000503030000020004" pitchFamily="34" charset="-122"/>
                <a:cs typeface="Liter" panose="02000503030000020004" pitchFamily="34" charset="-120"/>
              </a:rPr>
              <a:t>78%</a:t>
            </a:r>
            <a:endParaRPr lang="en-US" sz="1600" dirty="0"/>
          </a:p>
        </p:txBody>
      </p:sp>
      <p:sp>
        <p:nvSpPr>
          <p:cNvPr id="40" name="Shape 37"/>
          <p:cNvSpPr/>
          <p:nvPr/>
        </p:nvSpPr>
        <p:spPr>
          <a:xfrm>
            <a:off x="6334125" y="5457825"/>
            <a:ext cx="5314950" cy="76200"/>
          </a:xfrm>
          <a:custGeom>
            <a:avLst/>
            <a:gdLst/>
            <a:ahLst/>
            <a:cxnLst/>
            <a:rect l="l" t="t" r="r" b="b"/>
            <a:pathLst>
              <a:path w="5314950" h="76200">
                <a:moveTo>
                  <a:pt x="38100" y="0"/>
                </a:moveTo>
                <a:lnTo>
                  <a:pt x="5276850" y="0"/>
                </a:lnTo>
                <a:cubicBezTo>
                  <a:pt x="5297878" y="0"/>
                  <a:pt x="5314950" y="17072"/>
                  <a:pt x="5314950" y="38100"/>
                </a:cubicBezTo>
                <a:lnTo>
                  <a:pt x="5314950" y="38100"/>
                </a:lnTo>
                <a:cubicBezTo>
                  <a:pt x="5314950" y="59128"/>
                  <a:pt x="5297878" y="76200"/>
                  <a:pt x="5276850" y="76200"/>
                </a:cubicBezTo>
                <a:lnTo>
                  <a:pt x="38100" y="76200"/>
                </a:lnTo>
                <a:cubicBezTo>
                  <a:pt x="17072" y="76200"/>
                  <a:pt x="0" y="59128"/>
                  <a:pt x="0" y="38100"/>
                </a:cubicBezTo>
                <a:lnTo>
                  <a:pt x="0" y="38100"/>
                </a:lnTo>
                <a:cubicBezTo>
                  <a:pt x="0" y="17072"/>
                  <a:pt x="17072" y="0"/>
                  <a:pt x="38100" y="0"/>
                </a:cubicBezTo>
                <a:close/>
              </a:path>
            </a:pathLst>
          </a:custGeom>
          <a:solidFill>
            <a:srgbClr val="4A5C6A">
              <a:alpha val="30196"/>
            </a:srgbClr>
          </a:solidFill>
        </p:spPr>
      </p:sp>
      <p:sp>
        <p:nvSpPr>
          <p:cNvPr id="41" name="Shape 38"/>
          <p:cNvSpPr/>
          <p:nvPr/>
        </p:nvSpPr>
        <p:spPr>
          <a:xfrm>
            <a:off x="6334125" y="5457825"/>
            <a:ext cx="4143375" cy="76200"/>
          </a:xfrm>
          <a:custGeom>
            <a:avLst/>
            <a:gdLst/>
            <a:ahLst/>
            <a:cxnLst/>
            <a:rect l="l" t="t" r="r" b="b"/>
            <a:pathLst>
              <a:path w="4143375" h="76200">
                <a:moveTo>
                  <a:pt x="38100" y="0"/>
                </a:moveTo>
                <a:lnTo>
                  <a:pt x="4105275" y="0"/>
                </a:lnTo>
                <a:cubicBezTo>
                  <a:pt x="4126303" y="0"/>
                  <a:pt x="4143375" y="17072"/>
                  <a:pt x="4143375" y="38100"/>
                </a:cubicBezTo>
                <a:lnTo>
                  <a:pt x="4143375" y="38100"/>
                </a:lnTo>
                <a:cubicBezTo>
                  <a:pt x="4143375" y="59128"/>
                  <a:pt x="4126303" y="76200"/>
                  <a:pt x="4105275" y="76200"/>
                </a:cubicBezTo>
                <a:lnTo>
                  <a:pt x="38100" y="76200"/>
                </a:lnTo>
                <a:cubicBezTo>
                  <a:pt x="17072" y="76200"/>
                  <a:pt x="0" y="59128"/>
                  <a:pt x="0" y="38100"/>
                </a:cubicBezTo>
                <a:lnTo>
                  <a:pt x="0" y="38100"/>
                </a:lnTo>
                <a:cubicBezTo>
                  <a:pt x="0" y="17072"/>
                  <a:pt x="17072" y="0"/>
                  <a:pt x="38100" y="0"/>
                </a:cubicBezTo>
                <a:close/>
              </a:path>
            </a:pathLst>
          </a:custGeom>
          <a:solidFill>
            <a:srgbClr val="B89A6A"/>
          </a:solidFill>
        </p:spPr>
      </p:sp>
      <p:sp>
        <p:nvSpPr>
          <p:cNvPr id="42" name="Text 39"/>
          <p:cNvSpPr/>
          <p:nvPr/>
        </p:nvSpPr>
        <p:spPr>
          <a:xfrm>
            <a:off x="6334125" y="5610225"/>
            <a:ext cx="120967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1-30 Days Past Due</a:t>
            </a:r>
            <a:endParaRPr lang="en-US" sz="1600" dirty="0"/>
          </a:p>
        </p:txBody>
      </p:sp>
      <p:sp>
        <p:nvSpPr>
          <p:cNvPr id="43" name="Text 40"/>
          <p:cNvSpPr/>
          <p:nvPr/>
        </p:nvSpPr>
        <p:spPr>
          <a:xfrm>
            <a:off x="11413108" y="5610225"/>
            <a:ext cx="304800" cy="190500"/>
          </a:xfrm>
          <a:prstGeom prst="rect">
            <a:avLst/>
          </a:prstGeom>
          <a:noFill/>
        </p:spPr>
        <p:txBody>
          <a:bodyPr wrap="square" lIns="0" tIns="0" rIns="0" bIns="0" rtlCol="0" anchor="ctr"/>
          <a:lstStyle/>
          <a:p>
            <a:pPr>
              <a:lnSpc>
                <a:spcPct val="120000"/>
              </a:lnSpc>
            </a:pPr>
            <a:r>
              <a:rPr lang="en-US" sz="1050" b="1" dirty="0">
                <a:solidFill>
                  <a:srgbClr val="E0E2E5"/>
                </a:solidFill>
                <a:latin typeface="Liter" panose="02000503030000020004" pitchFamily="34" charset="0"/>
                <a:ea typeface="Liter" panose="02000503030000020004" pitchFamily="34" charset="-122"/>
                <a:cs typeface="Liter" panose="02000503030000020004" pitchFamily="34" charset="-120"/>
              </a:rPr>
              <a:t>15%</a:t>
            </a:r>
            <a:endParaRPr lang="en-US" sz="1600" dirty="0"/>
          </a:p>
        </p:txBody>
      </p:sp>
      <p:sp>
        <p:nvSpPr>
          <p:cNvPr id="44" name="Shape 41"/>
          <p:cNvSpPr/>
          <p:nvPr/>
        </p:nvSpPr>
        <p:spPr>
          <a:xfrm>
            <a:off x="6334125" y="5838825"/>
            <a:ext cx="5314950" cy="76200"/>
          </a:xfrm>
          <a:custGeom>
            <a:avLst/>
            <a:gdLst/>
            <a:ahLst/>
            <a:cxnLst/>
            <a:rect l="l" t="t" r="r" b="b"/>
            <a:pathLst>
              <a:path w="5314950" h="76200">
                <a:moveTo>
                  <a:pt x="38100" y="0"/>
                </a:moveTo>
                <a:lnTo>
                  <a:pt x="5276850" y="0"/>
                </a:lnTo>
                <a:cubicBezTo>
                  <a:pt x="5297878" y="0"/>
                  <a:pt x="5314950" y="17072"/>
                  <a:pt x="5314950" y="38100"/>
                </a:cubicBezTo>
                <a:lnTo>
                  <a:pt x="5314950" y="38100"/>
                </a:lnTo>
                <a:cubicBezTo>
                  <a:pt x="5314950" y="59128"/>
                  <a:pt x="5297878" y="76200"/>
                  <a:pt x="5276850" y="76200"/>
                </a:cubicBezTo>
                <a:lnTo>
                  <a:pt x="38100" y="76200"/>
                </a:lnTo>
                <a:cubicBezTo>
                  <a:pt x="17072" y="76200"/>
                  <a:pt x="0" y="59128"/>
                  <a:pt x="0" y="38100"/>
                </a:cubicBezTo>
                <a:lnTo>
                  <a:pt x="0" y="38100"/>
                </a:lnTo>
                <a:cubicBezTo>
                  <a:pt x="0" y="17072"/>
                  <a:pt x="17072" y="0"/>
                  <a:pt x="38100" y="0"/>
                </a:cubicBezTo>
                <a:close/>
              </a:path>
            </a:pathLst>
          </a:custGeom>
          <a:solidFill>
            <a:srgbClr val="4A5C6A">
              <a:alpha val="30196"/>
            </a:srgbClr>
          </a:solidFill>
        </p:spPr>
      </p:sp>
      <p:sp>
        <p:nvSpPr>
          <p:cNvPr id="45" name="Shape 42"/>
          <p:cNvSpPr/>
          <p:nvPr/>
        </p:nvSpPr>
        <p:spPr>
          <a:xfrm>
            <a:off x="6334125" y="5838825"/>
            <a:ext cx="800100" cy="76200"/>
          </a:xfrm>
          <a:custGeom>
            <a:avLst/>
            <a:gdLst/>
            <a:ahLst/>
            <a:cxnLst/>
            <a:rect l="l" t="t" r="r" b="b"/>
            <a:pathLst>
              <a:path w="800100" h="76200">
                <a:moveTo>
                  <a:pt x="38100" y="0"/>
                </a:moveTo>
                <a:lnTo>
                  <a:pt x="762000" y="0"/>
                </a:lnTo>
                <a:cubicBezTo>
                  <a:pt x="783028" y="0"/>
                  <a:pt x="800100" y="17072"/>
                  <a:pt x="800100" y="38100"/>
                </a:cubicBezTo>
                <a:lnTo>
                  <a:pt x="800100" y="38100"/>
                </a:lnTo>
                <a:cubicBezTo>
                  <a:pt x="800100" y="59128"/>
                  <a:pt x="783028" y="76200"/>
                  <a:pt x="762000" y="76200"/>
                </a:cubicBezTo>
                <a:lnTo>
                  <a:pt x="38100" y="76200"/>
                </a:lnTo>
                <a:cubicBezTo>
                  <a:pt x="17072" y="76200"/>
                  <a:pt x="0" y="59128"/>
                  <a:pt x="0" y="38100"/>
                </a:cubicBezTo>
                <a:lnTo>
                  <a:pt x="0" y="38100"/>
                </a:lnTo>
                <a:cubicBezTo>
                  <a:pt x="0" y="17072"/>
                  <a:pt x="17072" y="0"/>
                  <a:pt x="38100" y="0"/>
                </a:cubicBezTo>
                <a:close/>
              </a:path>
            </a:pathLst>
          </a:custGeom>
          <a:solidFill>
            <a:srgbClr val="4A5C6A"/>
          </a:solidFill>
        </p:spPr>
      </p:sp>
      <p:sp>
        <p:nvSpPr>
          <p:cNvPr id="46" name="Text 43"/>
          <p:cNvSpPr/>
          <p:nvPr/>
        </p:nvSpPr>
        <p:spPr>
          <a:xfrm>
            <a:off x="6334125" y="5991225"/>
            <a:ext cx="128587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31-60 Days Past Due</a:t>
            </a:r>
            <a:endParaRPr lang="en-US" sz="1600" dirty="0"/>
          </a:p>
        </p:txBody>
      </p:sp>
      <p:sp>
        <p:nvSpPr>
          <p:cNvPr id="47" name="Text 44"/>
          <p:cNvSpPr/>
          <p:nvPr/>
        </p:nvSpPr>
        <p:spPr>
          <a:xfrm>
            <a:off x="11466463" y="5991225"/>
            <a:ext cx="247650" cy="190500"/>
          </a:xfrm>
          <a:prstGeom prst="rect">
            <a:avLst/>
          </a:prstGeom>
          <a:noFill/>
        </p:spPr>
        <p:txBody>
          <a:bodyPr wrap="square" lIns="0" tIns="0" rIns="0" bIns="0" rtlCol="0" anchor="ctr"/>
          <a:lstStyle/>
          <a:p>
            <a:pPr>
              <a:lnSpc>
                <a:spcPct val="120000"/>
              </a:lnSpc>
            </a:pPr>
            <a:r>
              <a:rPr lang="en-US" sz="1050" b="1" dirty="0">
                <a:solidFill>
                  <a:srgbClr val="78828A"/>
                </a:solidFill>
                <a:latin typeface="Liter" panose="02000503030000020004" pitchFamily="34" charset="0"/>
                <a:ea typeface="Liter" panose="02000503030000020004" pitchFamily="34" charset="-122"/>
                <a:cs typeface="Liter" panose="02000503030000020004" pitchFamily="34" charset="-120"/>
              </a:rPr>
              <a:t>5%</a:t>
            </a:r>
            <a:endParaRPr lang="en-US" sz="1600" dirty="0"/>
          </a:p>
        </p:txBody>
      </p:sp>
      <p:sp>
        <p:nvSpPr>
          <p:cNvPr id="48" name="Shape 45"/>
          <p:cNvSpPr/>
          <p:nvPr/>
        </p:nvSpPr>
        <p:spPr>
          <a:xfrm>
            <a:off x="6334125" y="6219825"/>
            <a:ext cx="5314950" cy="76200"/>
          </a:xfrm>
          <a:custGeom>
            <a:avLst/>
            <a:gdLst/>
            <a:ahLst/>
            <a:cxnLst/>
            <a:rect l="l" t="t" r="r" b="b"/>
            <a:pathLst>
              <a:path w="5314950" h="76200">
                <a:moveTo>
                  <a:pt x="38100" y="0"/>
                </a:moveTo>
                <a:lnTo>
                  <a:pt x="5276850" y="0"/>
                </a:lnTo>
                <a:cubicBezTo>
                  <a:pt x="5297878" y="0"/>
                  <a:pt x="5314950" y="17072"/>
                  <a:pt x="5314950" y="38100"/>
                </a:cubicBezTo>
                <a:lnTo>
                  <a:pt x="5314950" y="38100"/>
                </a:lnTo>
                <a:cubicBezTo>
                  <a:pt x="5314950" y="59128"/>
                  <a:pt x="5297878" y="76200"/>
                  <a:pt x="5276850" y="76200"/>
                </a:cubicBezTo>
                <a:lnTo>
                  <a:pt x="38100" y="76200"/>
                </a:lnTo>
                <a:cubicBezTo>
                  <a:pt x="17072" y="76200"/>
                  <a:pt x="0" y="59128"/>
                  <a:pt x="0" y="38100"/>
                </a:cubicBezTo>
                <a:lnTo>
                  <a:pt x="0" y="38100"/>
                </a:lnTo>
                <a:cubicBezTo>
                  <a:pt x="0" y="17072"/>
                  <a:pt x="17072" y="0"/>
                  <a:pt x="38100" y="0"/>
                </a:cubicBezTo>
                <a:close/>
              </a:path>
            </a:pathLst>
          </a:custGeom>
          <a:solidFill>
            <a:srgbClr val="4A5C6A">
              <a:alpha val="30196"/>
            </a:srgbClr>
          </a:solidFill>
        </p:spPr>
      </p:sp>
      <p:sp>
        <p:nvSpPr>
          <p:cNvPr id="49" name="Shape 46"/>
          <p:cNvSpPr/>
          <p:nvPr/>
        </p:nvSpPr>
        <p:spPr>
          <a:xfrm>
            <a:off x="6334125" y="6219825"/>
            <a:ext cx="266700" cy="76200"/>
          </a:xfrm>
          <a:custGeom>
            <a:avLst/>
            <a:gdLst/>
            <a:ahLst/>
            <a:cxnLst/>
            <a:rect l="l" t="t" r="r" b="b"/>
            <a:pathLst>
              <a:path w="266700" h="76200">
                <a:moveTo>
                  <a:pt x="38100" y="0"/>
                </a:moveTo>
                <a:lnTo>
                  <a:pt x="228600" y="0"/>
                </a:lnTo>
                <a:cubicBezTo>
                  <a:pt x="249628" y="0"/>
                  <a:pt x="266700" y="17072"/>
                  <a:pt x="266700" y="38100"/>
                </a:cubicBezTo>
                <a:lnTo>
                  <a:pt x="266700" y="38100"/>
                </a:lnTo>
                <a:cubicBezTo>
                  <a:pt x="266700" y="59128"/>
                  <a:pt x="249628" y="76200"/>
                  <a:pt x="228600" y="76200"/>
                </a:cubicBezTo>
                <a:lnTo>
                  <a:pt x="38100" y="76200"/>
                </a:lnTo>
                <a:cubicBezTo>
                  <a:pt x="17072" y="76200"/>
                  <a:pt x="0" y="59128"/>
                  <a:pt x="0" y="38100"/>
                </a:cubicBezTo>
                <a:lnTo>
                  <a:pt x="0" y="38100"/>
                </a:lnTo>
                <a:cubicBezTo>
                  <a:pt x="0" y="17072"/>
                  <a:pt x="17072" y="0"/>
                  <a:pt x="38100" y="0"/>
                </a:cubicBezTo>
                <a:close/>
              </a:path>
            </a:pathLst>
          </a:custGeom>
          <a:solidFill>
            <a:srgbClr val="78828A"/>
          </a:solidFill>
        </p:spPr>
      </p:sp>
      <p:sp>
        <p:nvSpPr>
          <p:cNvPr id="50" name="Text 47"/>
          <p:cNvSpPr/>
          <p:nvPr/>
        </p:nvSpPr>
        <p:spPr>
          <a:xfrm>
            <a:off x="6334125" y="6372225"/>
            <a:ext cx="1181100"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60+ Days Past Due</a:t>
            </a:r>
            <a:endParaRPr lang="en-US" sz="1600" dirty="0"/>
          </a:p>
        </p:txBody>
      </p:sp>
      <p:sp>
        <p:nvSpPr>
          <p:cNvPr id="51" name="Text 48"/>
          <p:cNvSpPr/>
          <p:nvPr/>
        </p:nvSpPr>
        <p:spPr>
          <a:xfrm>
            <a:off x="11465793" y="6372225"/>
            <a:ext cx="247650" cy="190500"/>
          </a:xfrm>
          <a:prstGeom prst="rect">
            <a:avLst/>
          </a:prstGeom>
          <a:noFill/>
        </p:spPr>
        <p:txBody>
          <a:bodyPr wrap="square" lIns="0" tIns="0" rIns="0" bIns="0" rtlCol="0" anchor="ctr"/>
          <a:lstStyle/>
          <a:p>
            <a:pPr>
              <a:lnSpc>
                <a:spcPct val="120000"/>
              </a:lnSpc>
            </a:pPr>
            <a:r>
              <a:rPr lang="en-US" sz="1050" b="1" dirty="0">
                <a:solidFill>
                  <a:srgbClr val="78828A"/>
                </a:solidFill>
                <a:latin typeface="Liter" panose="02000503030000020004" pitchFamily="34" charset="0"/>
                <a:ea typeface="Liter" panose="02000503030000020004" pitchFamily="34" charset="-122"/>
                <a:cs typeface="Liter" panose="02000503030000020004" pitchFamily="34" charset="-120"/>
              </a:rPr>
              <a:t>2%</a:t>
            </a:r>
            <a:endParaRPr lang="en-US" sz="1600" dirty="0"/>
          </a:p>
        </p:txBody>
      </p:sp>
      <p:sp>
        <p:nvSpPr>
          <p:cNvPr id="52" name="Shape 49"/>
          <p:cNvSpPr/>
          <p:nvPr/>
        </p:nvSpPr>
        <p:spPr>
          <a:xfrm>
            <a:off x="6334125" y="6600825"/>
            <a:ext cx="5314950" cy="76200"/>
          </a:xfrm>
          <a:custGeom>
            <a:avLst/>
            <a:gdLst/>
            <a:ahLst/>
            <a:cxnLst/>
            <a:rect l="l" t="t" r="r" b="b"/>
            <a:pathLst>
              <a:path w="5314950" h="76200">
                <a:moveTo>
                  <a:pt x="38100" y="0"/>
                </a:moveTo>
                <a:lnTo>
                  <a:pt x="5276850" y="0"/>
                </a:lnTo>
                <a:cubicBezTo>
                  <a:pt x="5297878" y="0"/>
                  <a:pt x="5314950" y="17072"/>
                  <a:pt x="5314950" y="38100"/>
                </a:cubicBezTo>
                <a:lnTo>
                  <a:pt x="5314950" y="38100"/>
                </a:lnTo>
                <a:cubicBezTo>
                  <a:pt x="5314950" y="59128"/>
                  <a:pt x="5297878" y="76200"/>
                  <a:pt x="5276850" y="76200"/>
                </a:cubicBezTo>
                <a:lnTo>
                  <a:pt x="38100" y="76200"/>
                </a:lnTo>
                <a:cubicBezTo>
                  <a:pt x="17072" y="76200"/>
                  <a:pt x="0" y="59128"/>
                  <a:pt x="0" y="38100"/>
                </a:cubicBezTo>
                <a:lnTo>
                  <a:pt x="0" y="38100"/>
                </a:lnTo>
                <a:cubicBezTo>
                  <a:pt x="0" y="17072"/>
                  <a:pt x="17072" y="0"/>
                  <a:pt x="38100" y="0"/>
                </a:cubicBezTo>
                <a:close/>
              </a:path>
            </a:pathLst>
          </a:custGeom>
          <a:solidFill>
            <a:srgbClr val="4A5C6A">
              <a:alpha val="30196"/>
            </a:srgbClr>
          </a:solidFill>
        </p:spPr>
      </p:sp>
      <p:sp>
        <p:nvSpPr>
          <p:cNvPr id="53" name="Shape 50"/>
          <p:cNvSpPr/>
          <p:nvPr/>
        </p:nvSpPr>
        <p:spPr>
          <a:xfrm>
            <a:off x="6334125" y="6600825"/>
            <a:ext cx="104775" cy="76200"/>
          </a:xfrm>
          <a:custGeom>
            <a:avLst/>
            <a:gdLst/>
            <a:ahLst/>
            <a:cxnLst/>
            <a:rect l="l" t="t" r="r" b="b"/>
            <a:pathLst>
              <a:path w="104775" h="76200">
                <a:moveTo>
                  <a:pt x="38100" y="0"/>
                </a:moveTo>
                <a:lnTo>
                  <a:pt x="66675" y="0"/>
                </a:lnTo>
                <a:cubicBezTo>
                  <a:pt x="87703" y="0"/>
                  <a:pt x="104775" y="17072"/>
                  <a:pt x="104775" y="38100"/>
                </a:cubicBezTo>
                <a:lnTo>
                  <a:pt x="104775" y="38100"/>
                </a:lnTo>
                <a:cubicBezTo>
                  <a:pt x="104775" y="59128"/>
                  <a:pt x="87703" y="76200"/>
                  <a:pt x="66675" y="76200"/>
                </a:cubicBezTo>
                <a:lnTo>
                  <a:pt x="38100" y="76200"/>
                </a:lnTo>
                <a:cubicBezTo>
                  <a:pt x="17072" y="76200"/>
                  <a:pt x="0" y="59128"/>
                  <a:pt x="0" y="38100"/>
                </a:cubicBezTo>
                <a:lnTo>
                  <a:pt x="0" y="38100"/>
                </a:lnTo>
                <a:cubicBezTo>
                  <a:pt x="0" y="17072"/>
                  <a:pt x="17072" y="0"/>
                  <a:pt x="38100" y="0"/>
                </a:cubicBezTo>
                <a:close/>
              </a:path>
            </a:pathLst>
          </a:custGeom>
          <a:solidFill>
            <a:srgbClr val="78828A">
              <a:alpha val="50196"/>
            </a:srgbClr>
          </a:solidFill>
        </p:spPr>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sp>
        <p:nvSpPr>
          <p:cNvPr id="2" name="Shape 0"/>
          <p:cNvSpPr/>
          <p:nvPr/>
        </p:nvSpPr>
        <p:spPr>
          <a:xfrm>
            <a:off x="381000" y="495300"/>
            <a:ext cx="57150" cy="381000"/>
          </a:xfrm>
          <a:custGeom>
            <a:avLst/>
            <a:gdLst/>
            <a:ahLst/>
            <a:cxnLst/>
            <a:rect l="l" t="t" r="r" b="b"/>
            <a:pathLst>
              <a:path w="57150" h="381000">
                <a:moveTo>
                  <a:pt x="0" y="0"/>
                </a:moveTo>
                <a:lnTo>
                  <a:pt x="57150" y="0"/>
                </a:lnTo>
                <a:lnTo>
                  <a:pt x="57150" y="381000"/>
                </a:lnTo>
                <a:lnTo>
                  <a:pt x="0" y="381000"/>
                </a:lnTo>
                <a:lnTo>
                  <a:pt x="0" y="0"/>
                </a:lnTo>
                <a:close/>
              </a:path>
            </a:pathLst>
          </a:custGeom>
          <a:solidFill>
            <a:srgbClr val="B89A6A"/>
          </a:solidFill>
        </p:spPr>
      </p:sp>
      <p:sp>
        <p:nvSpPr>
          <p:cNvPr id="3" name="Text 1"/>
          <p:cNvSpPr/>
          <p:nvPr/>
        </p:nvSpPr>
        <p:spPr>
          <a:xfrm>
            <a:off x="552450" y="381000"/>
            <a:ext cx="3190875" cy="228600"/>
          </a:xfrm>
          <a:prstGeom prst="rect">
            <a:avLst/>
          </a:prstGeom>
          <a:noFill/>
        </p:spPr>
        <p:txBody>
          <a:bodyPr wrap="square" lIns="0" tIns="0" rIns="0" bIns="0" rtlCol="0" anchor="ctr"/>
          <a:lstStyle/>
          <a:p>
            <a:pPr>
              <a:lnSpc>
                <a:spcPct val="130000"/>
              </a:lnSpc>
            </a:pPr>
            <a:r>
              <a:rPr lang="en-US" sz="1200" b="1" kern="0" spc="60" dirty="0">
                <a:solidFill>
                  <a:srgbClr val="B89A6A"/>
                </a:solidFill>
                <a:latin typeface="Liter" panose="02000503030000020004" pitchFamily="34" charset="0"/>
                <a:ea typeface="Liter" panose="02000503030000020004" pitchFamily="34" charset="-122"/>
                <a:cs typeface="Liter" panose="02000503030000020004" pitchFamily="34" charset="-120"/>
              </a:rPr>
              <a:t>RESOURCE PLANNING</a:t>
            </a:r>
            <a:endParaRPr lang="en-US" sz="1600" dirty="0"/>
          </a:p>
        </p:txBody>
      </p:sp>
      <p:sp>
        <p:nvSpPr>
          <p:cNvPr id="4" name="Text 2"/>
          <p:cNvSpPr/>
          <p:nvPr/>
        </p:nvSpPr>
        <p:spPr>
          <a:xfrm>
            <a:off x="552450" y="609600"/>
            <a:ext cx="3286125" cy="381000"/>
          </a:xfrm>
          <a:prstGeom prst="rect">
            <a:avLst/>
          </a:prstGeom>
          <a:noFill/>
        </p:spPr>
        <p:txBody>
          <a:bodyPr wrap="square" lIns="0" tIns="0" rIns="0" bIns="0" rtlCol="0" anchor="ctr"/>
          <a:lstStyle/>
          <a:p>
            <a:pPr>
              <a:lnSpc>
                <a:spcPct val="90000"/>
              </a:lnSpc>
            </a:pPr>
            <a:r>
              <a:rPr lang="en-US" sz="27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Q2 Budget Allocation</a:t>
            </a:r>
            <a:endParaRPr lang="en-US" sz="1600" dirty="0"/>
          </a:p>
        </p:txBody>
      </p:sp>
      <p:sp>
        <p:nvSpPr>
          <p:cNvPr id="5" name="Shape 3"/>
          <p:cNvSpPr/>
          <p:nvPr/>
        </p:nvSpPr>
        <p:spPr>
          <a:xfrm>
            <a:off x="390525" y="1152525"/>
            <a:ext cx="5057775" cy="3733800"/>
          </a:xfrm>
          <a:custGeom>
            <a:avLst/>
            <a:gdLst/>
            <a:ahLst/>
            <a:cxnLst/>
            <a:rect l="l" t="t" r="r" b="b"/>
            <a:pathLst>
              <a:path w="5057775" h="3733800">
                <a:moveTo>
                  <a:pt x="76207" y="0"/>
                </a:moveTo>
                <a:lnTo>
                  <a:pt x="4981568" y="0"/>
                </a:lnTo>
                <a:cubicBezTo>
                  <a:pt x="5023656" y="0"/>
                  <a:pt x="5057775" y="34119"/>
                  <a:pt x="5057775" y="76207"/>
                </a:cubicBezTo>
                <a:lnTo>
                  <a:pt x="5057775" y="3657593"/>
                </a:lnTo>
                <a:cubicBezTo>
                  <a:pt x="5057775" y="3699681"/>
                  <a:pt x="5023656" y="3733800"/>
                  <a:pt x="4981568" y="3733800"/>
                </a:cubicBezTo>
                <a:lnTo>
                  <a:pt x="76207" y="3733800"/>
                </a:lnTo>
                <a:cubicBezTo>
                  <a:pt x="34119" y="3733800"/>
                  <a:pt x="0" y="3699681"/>
                  <a:pt x="0" y="3657593"/>
                </a:cubicBezTo>
                <a:lnTo>
                  <a:pt x="0" y="76207"/>
                </a:lnTo>
                <a:cubicBezTo>
                  <a:pt x="0" y="34147"/>
                  <a:pt x="34147" y="0"/>
                  <a:pt x="76207" y="0"/>
                </a:cubicBezTo>
                <a:close/>
              </a:path>
            </a:pathLst>
          </a:custGeom>
          <a:solidFill>
            <a:srgbClr val="B89A6A">
              <a:alpha val="10196"/>
            </a:srgbClr>
          </a:solidFill>
          <a:ln w="25400">
            <a:solidFill>
              <a:srgbClr val="B89A6A">
                <a:alpha val="40000"/>
              </a:srgbClr>
            </a:solidFill>
            <a:prstDash val="solid"/>
          </a:ln>
        </p:spPr>
      </p:sp>
      <p:sp>
        <p:nvSpPr>
          <p:cNvPr id="6" name="Shape 4"/>
          <p:cNvSpPr/>
          <p:nvPr/>
        </p:nvSpPr>
        <p:spPr>
          <a:xfrm>
            <a:off x="590550" y="1353741"/>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B89A6A">
              <a:alpha val="20000"/>
            </a:srgbClr>
          </a:solidFill>
        </p:spPr>
      </p:sp>
      <p:sp>
        <p:nvSpPr>
          <p:cNvPr id="7" name="Shape 5"/>
          <p:cNvSpPr/>
          <p:nvPr/>
        </p:nvSpPr>
        <p:spPr>
          <a:xfrm>
            <a:off x="742950" y="1506141"/>
            <a:ext cx="228600" cy="228600"/>
          </a:xfrm>
          <a:custGeom>
            <a:avLst/>
            <a:gdLst/>
            <a:ahLst/>
            <a:cxnLst/>
            <a:rect l="l" t="t" r="r" b="b"/>
            <a:pathLst>
              <a:path w="228600" h="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B89A6A"/>
          </a:solidFill>
        </p:spPr>
      </p:sp>
      <p:sp>
        <p:nvSpPr>
          <p:cNvPr id="8" name="Text 6"/>
          <p:cNvSpPr/>
          <p:nvPr/>
        </p:nvSpPr>
        <p:spPr>
          <a:xfrm>
            <a:off x="1238250" y="1353741"/>
            <a:ext cx="1781175" cy="304800"/>
          </a:xfrm>
          <a:prstGeom prst="rect">
            <a:avLst/>
          </a:prstGeom>
          <a:noFill/>
        </p:spPr>
        <p:txBody>
          <a:bodyPr wrap="square" lIns="0" tIns="0" rIns="0" bIns="0" rtlCol="0" anchor="ctr"/>
          <a:lstStyle/>
          <a:p>
            <a:pPr>
              <a:lnSpc>
                <a:spcPct val="110000"/>
              </a:lnSpc>
            </a:pPr>
            <a:r>
              <a:rPr lang="en-US" sz="18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Strategic Priority</a:t>
            </a:r>
            <a:endParaRPr lang="en-US" sz="1600" dirty="0"/>
          </a:p>
        </p:txBody>
      </p:sp>
      <p:sp>
        <p:nvSpPr>
          <p:cNvPr id="9" name="Text 7"/>
          <p:cNvSpPr/>
          <p:nvPr/>
        </p:nvSpPr>
        <p:spPr>
          <a:xfrm>
            <a:off x="1238250" y="1658541"/>
            <a:ext cx="1743075" cy="228600"/>
          </a:xfrm>
          <a:prstGeom prst="rect">
            <a:avLst/>
          </a:prstGeom>
          <a:noFill/>
        </p:spPr>
        <p:txBody>
          <a:bodyPr wrap="square" lIns="0" tIns="0" rIns="0" bIns="0" rtlCol="0" anchor="ctr"/>
          <a:lstStyle/>
          <a:p>
            <a:pPr>
              <a:lnSpc>
                <a:spcPct val="130000"/>
              </a:lnSpc>
            </a:pPr>
            <a:r>
              <a:rPr lang="en-US" sz="1200" b="1" dirty="0">
                <a:solidFill>
                  <a:srgbClr val="B89A6A"/>
                </a:solidFill>
                <a:latin typeface="Liter" panose="02000503030000020004" pitchFamily="34" charset="0"/>
                <a:ea typeface="Liter" panose="02000503030000020004" pitchFamily="34" charset="-122"/>
                <a:cs typeface="Liter" panose="02000503030000020004" pitchFamily="34" charset="-120"/>
              </a:rPr>
              <a:t>Strict Headcount Control</a:t>
            </a:r>
            <a:endParaRPr lang="en-US" sz="1600" dirty="0"/>
          </a:p>
        </p:txBody>
      </p:sp>
      <p:sp>
        <p:nvSpPr>
          <p:cNvPr id="10" name="Text 8"/>
          <p:cNvSpPr/>
          <p:nvPr/>
        </p:nvSpPr>
        <p:spPr>
          <a:xfrm>
            <a:off x="590550" y="2039541"/>
            <a:ext cx="4743450" cy="838200"/>
          </a:xfrm>
          <a:prstGeom prst="rect">
            <a:avLst/>
          </a:prstGeom>
          <a:noFill/>
        </p:spPr>
        <p:txBody>
          <a:bodyPr wrap="square" lIns="0" tIns="0" rIns="0" bIns="0" rtlCol="0" anchor="ctr"/>
          <a:lstStyle/>
          <a:p>
            <a:pPr>
              <a:lnSpc>
                <a:spcPct val="140000"/>
              </a:lnSpc>
            </a:pPr>
            <a:r>
              <a:rPr lang="en-US" sz="1350" dirty="0">
                <a:solidFill>
                  <a:srgbClr val="78828A"/>
                </a:solidFill>
                <a:latin typeface="Liter" panose="02000503030000020004" pitchFamily="34" charset="0"/>
                <a:ea typeface="Liter" panose="02000503030000020004" pitchFamily="34" charset="-122"/>
                <a:cs typeface="Liter" panose="02000503030000020004" pitchFamily="34" charset="-120"/>
              </a:rPr>
              <a:t>Q2 budget allocation prioritizes </a:t>
            </a:r>
            <a:r>
              <a:rPr lang="en-US" sz="1350" b="1" dirty="0">
                <a:solidFill>
                  <a:srgbClr val="B89A6A"/>
                </a:solidFill>
                <a:latin typeface="Liter" panose="02000503030000020004" pitchFamily="34" charset="0"/>
                <a:ea typeface="Liter" panose="02000503030000020004" pitchFamily="34" charset="-122"/>
                <a:cs typeface="Liter" panose="02000503030000020004" pitchFamily="34" charset="-120"/>
              </a:rPr>
              <a:t>strict headcount control</a:t>
            </a:r>
            <a:r>
              <a:rPr lang="en-US" sz="1350" dirty="0">
                <a:solidFill>
                  <a:srgbClr val="78828A"/>
                </a:solidFill>
                <a:latin typeface="Liter" panose="02000503030000020004" pitchFamily="34" charset="0"/>
                <a:ea typeface="Liter" panose="02000503030000020004" pitchFamily="34" charset="-122"/>
                <a:cs typeface="Liter" panose="02000503030000020004" pitchFamily="34" charset="-120"/>
              </a:rPr>
              <a:t> outside of R&amp;D and core Sales functions to preserve cash while supporting strategic growth initiatives.</a:t>
            </a:r>
            <a:endParaRPr lang="en-US" sz="1600" dirty="0"/>
          </a:p>
        </p:txBody>
      </p:sp>
      <p:sp>
        <p:nvSpPr>
          <p:cNvPr id="11" name="Shape 9"/>
          <p:cNvSpPr/>
          <p:nvPr/>
        </p:nvSpPr>
        <p:spPr>
          <a:xfrm>
            <a:off x="595313" y="3032522"/>
            <a:ext cx="4648200" cy="466725"/>
          </a:xfrm>
          <a:custGeom>
            <a:avLst/>
            <a:gdLst/>
            <a:ahLst/>
            <a:cxnLst/>
            <a:rect l="l" t="t" r="r" b="b"/>
            <a:pathLst>
              <a:path w="4648200" h="466725">
                <a:moveTo>
                  <a:pt x="76202" y="0"/>
                </a:moveTo>
                <a:lnTo>
                  <a:pt x="4571998" y="0"/>
                </a:lnTo>
                <a:cubicBezTo>
                  <a:pt x="4614083" y="0"/>
                  <a:pt x="4648200" y="34117"/>
                  <a:pt x="4648200" y="76202"/>
                </a:cubicBezTo>
                <a:lnTo>
                  <a:pt x="4648200" y="390523"/>
                </a:lnTo>
                <a:cubicBezTo>
                  <a:pt x="4648200" y="432608"/>
                  <a:pt x="4614083" y="466725"/>
                  <a:pt x="4571998" y="466725"/>
                </a:cubicBezTo>
                <a:lnTo>
                  <a:pt x="76202" y="466725"/>
                </a:lnTo>
                <a:cubicBezTo>
                  <a:pt x="34117" y="466725"/>
                  <a:pt x="0" y="432608"/>
                  <a:pt x="0" y="390523"/>
                </a:cubicBezTo>
                <a:lnTo>
                  <a:pt x="0" y="76202"/>
                </a:lnTo>
                <a:cubicBezTo>
                  <a:pt x="0" y="34145"/>
                  <a:pt x="34145" y="0"/>
                  <a:pt x="76202" y="0"/>
                </a:cubicBezTo>
                <a:close/>
              </a:path>
            </a:pathLst>
          </a:custGeom>
          <a:solidFill>
            <a:srgbClr val="1A1D24">
              <a:alpha val="60000"/>
            </a:srgbClr>
          </a:solidFill>
          <a:ln w="12700">
            <a:solidFill>
              <a:srgbClr val="B89A6A">
                <a:alpha val="30196"/>
              </a:srgbClr>
            </a:solidFill>
            <a:prstDash val="solid"/>
          </a:ln>
        </p:spPr>
      </p:sp>
      <p:sp>
        <p:nvSpPr>
          <p:cNvPr id="12" name="Shape 10"/>
          <p:cNvSpPr/>
          <p:nvPr/>
        </p:nvSpPr>
        <p:spPr>
          <a:xfrm>
            <a:off x="738188" y="3180159"/>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B89A6A"/>
          </a:solidFill>
        </p:spPr>
      </p:sp>
      <p:sp>
        <p:nvSpPr>
          <p:cNvPr id="13" name="Text 11"/>
          <p:cNvSpPr/>
          <p:nvPr/>
        </p:nvSpPr>
        <p:spPr>
          <a:xfrm>
            <a:off x="1042988" y="3151584"/>
            <a:ext cx="2733675" cy="228600"/>
          </a:xfrm>
          <a:prstGeom prst="rect">
            <a:avLst/>
          </a:prstGeom>
          <a:noFill/>
        </p:spPr>
        <p:txBody>
          <a:bodyPr wrap="square" lIns="0" tIns="0" rIns="0" bIns="0" rtlCol="0" anchor="ctr"/>
          <a:lstStyle/>
          <a:p>
            <a:pPr>
              <a:lnSpc>
                <a:spcPct val="130000"/>
              </a:lnSpc>
            </a:pPr>
            <a:r>
              <a:rPr lang="en-US" sz="1200" dirty="0">
                <a:solidFill>
                  <a:srgbClr val="E0E2E5"/>
                </a:solidFill>
                <a:latin typeface="Liter" panose="02000503030000020004" pitchFamily="34" charset="0"/>
                <a:ea typeface="Liter" panose="02000503030000020004" pitchFamily="34" charset="-122"/>
                <a:cs typeface="Liter" panose="02000503030000020004" pitchFamily="34" charset="-120"/>
              </a:rPr>
              <a:t>Hiring freeze: G&amp;A, Operations, Support</a:t>
            </a:r>
            <a:endParaRPr lang="en-US" sz="1600" dirty="0"/>
          </a:p>
        </p:txBody>
      </p:sp>
      <p:sp>
        <p:nvSpPr>
          <p:cNvPr id="14" name="Shape 12"/>
          <p:cNvSpPr/>
          <p:nvPr/>
        </p:nvSpPr>
        <p:spPr>
          <a:xfrm>
            <a:off x="595313" y="3623072"/>
            <a:ext cx="4648200" cy="466725"/>
          </a:xfrm>
          <a:custGeom>
            <a:avLst/>
            <a:gdLst/>
            <a:ahLst/>
            <a:cxnLst/>
            <a:rect l="l" t="t" r="r" b="b"/>
            <a:pathLst>
              <a:path w="4648200" h="466725">
                <a:moveTo>
                  <a:pt x="76202" y="0"/>
                </a:moveTo>
                <a:lnTo>
                  <a:pt x="4571998" y="0"/>
                </a:lnTo>
                <a:cubicBezTo>
                  <a:pt x="4614083" y="0"/>
                  <a:pt x="4648200" y="34117"/>
                  <a:pt x="4648200" y="76202"/>
                </a:cubicBezTo>
                <a:lnTo>
                  <a:pt x="4648200" y="390523"/>
                </a:lnTo>
                <a:cubicBezTo>
                  <a:pt x="4648200" y="432608"/>
                  <a:pt x="4614083" y="466725"/>
                  <a:pt x="4571998" y="466725"/>
                </a:cubicBezTo>
                <a:lnTo>
                  <a:pt x="76202" y="466725"/>
                </a:lnTo>
                <a:cubicBezTo>
                  <a:pt x="34117" y="466725"/>
                  <a:pt x="0" y="432608"/>
                  <a:pt x="0" y="390523"/>
                </a:cubicBezTo>
                <a:lnTo>
                  <a:pt x="0" y="76202"/>
                </a:lnTo>
                <a:cubicBezTo>
                  <a:pt x="0" y="34145"/>
                  <a:pt x="34145" y="0"/>
                  <a:pt x="76202" y="0"/>
                </a:cubicBezTo>
                <a:close/>
              </a:path>
            </a:pathLst>
          </a:custGeom>
          <a:solidFill>
            <a:srgbClr val="1A1D24">
              <a:alpha val="60000"/>
            </a:srgbClr>
          </a:solidFill>
          <a:ln w="12700">
            <a:solidFill>
              <a:srgbClr val="B89A6A">
                <a:alpha val="30196"/>
              </a:srgbClr>
            </a:solidFill>
            <a:prstDash val="solid"/>
          </a:ln>
        </p:spPr>
      </p:sp>
      <p:sp>
        <p:nvSpPr>
          <p:cNvPr id="15" name="Shape 13"/>
          <p:cNvSpPr/>
          <p:nvPr/>
        </p:nvSpPr>
        <p:spPr>
          <a:xfrm>
            <a:off x="738188" y="3770709"/>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B89A6A"/>
          </a:solidFill>
        </p:spPr>
      </p:sp>
      <p:sp>
        <p:nvSpPr>
          <p:cNvPr id="16" name="Text 14"/>
          <p:cNvSpPr/>
          <p:nvPr/>
        </p:nvSpPr>
        <p:spPr>
          <a:xfrm>
            <a:off x="1042988" y="3742134"/>
            <a:ext cx="2428875" cy="228600"/>
          </a:xfrm>
          <a:prstGeom prst="rect">
            <a:avLst/>
          </a:prstGeom>
          <a:noFill/>
        </p:spPr>
        <p:txBody>
          <a:bodyPr wrap="square" lIns="0" tIns="0" rIns="0" bIns="0" rtlCol="0" anchor="ctr"/>
          <a:lstStyle/>
          <a:p>
            <a:pPr>
              <a:lnSpc>
                <a:spcPct val="130000"/>
              </a:lnSpc>
            </a:pPr>
            <a:r>
              <a:rPr lang="en-US" sz="1200" dirty="0">
                <a:solidFill>
                  <a:srgbClr val="E0E2E5"/>
                </a:solidFill>
                <a:latin typeface="Liter" panose="02000503030000020004" pitchFamily="34" charset="0"/>
                <a:ea typeface="Liter" panose="02000503030000020004" pitchFamily="34" charset="-122"/>
                <a:cs typeface="Liter" panose="02000503030000020004" pitchFamily="34" charset="-120"/>
              </a:rPr>
              <a:t>Controlled growth: R&amp;D (+8 heads)</a:t>
            </a:r>
            <a:endParaRPr lang="en-US" sz="1600" dirty="0"/>
          </a:p>
        </p:txBody>
      </p:sp>
      <p:sp>
        <p:nvSpPr>
          <p:cNvPr id="17" name="Shape 15"/>
          <p:cNvSpPr/>
          <p:nvPr/>
        </p:nvSpPr>
        <p:spPr>
          <a:xfrm>
            <a:off x="595313" y="4213622"/>
            <a:ext cx="4648200" cy="466725"/>
          </a:xfrm>
          <a:custGeom>
            <a:avLst/>
            <a:gdLst/>
            <a:ahLst/>
            <a:cxnLst/>
            <a:rect l="l" t="t" r="r" b="b"/>
            <a:pathLst>
              <a:path w="4648200" h="466725">
                <a:moveTo>
                  <a:pt x="76202" y="0"/>
                </a:moveTo>
                <a:lnTo>
                  <a:pt x="4571998" y="0"/>
                </a:lnTo>
                <a:cubicBezTo>
                  <a:pt x="4614083" y="0"/>
                  <a:pt x="4648200" y="34117"/>
                  <a:pt x="4648200" y="76202"/>
                </a:cubicBezTo>
                <a:lnTo>
                  <a:pt x="4648200" y="390523"/>
                </a:lnTo>
                <a:cubicBezTo>
                  <a:pt x="4648200" y="432608"/>
                  <a:pt x="4614083" y="466725"/>
                  <a:pt x="4571998" y="466725"/>
                </a:cubicBezTo>
                <a:lnTo>
                  <a:pt x="76202" y="466725"/>
                </a:lnTo>
                <a:cubicBezTo>
                  <a:pt x="34117" y="466725"/>
                  <a:pt x="0" y="432608"/>
                  <a:pt x="0" y="390523"/>
                </a:cubicBezTo>
                <a:lnTo>
                  <a:pt x="0" y="76202"/>
                </a:lnTo>
                <a:cubicBezTo>
                  <a:pt x="0" y="34145"/>
                  <a:pt x="34145" y="0"/>
                  <a:pt x="76202" y="0"/>
                </a:cubicBezTo>
                <a:close/>
              </a:path>
            </a:pathLst>
          </a:custGeom>
          <a:solidFill>
            <a:srgbClr val="1A1D24">
              <a:alpha val="60000"/>
            </a:srgbClr>
          </a:solidFill>
          <a:ln w="12700">
            <a:solidFill>
              <a:srgbClr val="B89A6A">
                <a:alpha val="30196"/>
              </a:srgbClr>
            </a:solidFill>
            <a:prstDash val="solid"/>
          </a:ln>
        </p:spPr>
      </p:sp>
      <p:sp>
        <p:nvSpPr>
          <p:cNvPr id="18" name="Shape 16"/>
          <p:cNvSpPr/>
          <p:nvPr/>
        </p:nvSpPr>
        <p:spPr>
          <a:xfrm>
            <a:off x="738188" y="4361259"/>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B89A6A"/>
          </a:solidFill>
        </p:spPr>
      </p:sp>
      <p:sp>
        <p:nvSpPr>
          <p:cNvPr id="19" name="Text 17"/>
          <p:cNvSpPr/>
          <p:nvPr/>
        </p:nvSpPr>
        <p:spPr>
          <a:xfrm>
            <a:off x="1042988" y="4332684"/>
            <a:ext cx="2657475" cy="228600"/>
          </a:xfrm>
          <a:prstGeom prst="rect">
            <a:avLst/>
          </a:prstGeom>
          <a:noFill/>
        </p:spPr>
        <p:txBody>
          <a:bodyPr wrap="square" lIns="0" tIns="0" rIns="0" bIns="0" rtlCol="0" anchor="ctr"/>
          <a:lstStyle/>
          <a:p>
            <a:pPr>
              <a:lnSpc>
                <a:spcPct val="130000"/>
              </a:lnSpc>
            </a:pPr>
            <a:r>
              <a:rPr lang="en-US" sz="1200" dirty="0">
                <a:solidFill>
                  <a:srgbClr val="E0E2E5"/>
                </a:solidFill>
                <a:latin typeface="Liter" panose="02000503030000020004" pitchFamily="34" charset="0"/>
                <a:ea typeface="Liter" panose="02000503030000020004" pitchFamily="34" charset="-122"/>
                <a:cs typeface="Liter" panose="02000503030000020004" pitchFamily="34" charset="-120"/>
              </a:rPr>
              <a:t>Strategic expansion: Sales (+12 heads)</a:t>
            </a:r>
            <a:endParaRPr lang="en-US" sz="1600" dirty="0"/>
          </a:p>
        </p:txBody>
      </p:sp>
      <p:sp>
        <p:nvSpPr>
          <p:cNvPr id="20" name="Shape 18"/>
          <p:cNvSpPr/>
          <p:nvPr/>
        </p:nvSpPr>
        <p:spPr>
          <a:xfrm>
            <a:off x="385763" y="5014913"/>
            <a:ext cx="2466975" cy="1076325"/>
          </a:xfrm>
          <a:custGeom>
            <a:avLst/>
            <a:gdLst/>
            <a:ahLst/>
            <a:cxnLst/>
            <a:rect l="l" t="t" r="r" b="b"/>
            <a:pathLst>
              <a:path w="2466975" h="1076325">
                <a:moveTo>
                  <a:pt x="76204" y="0"/>
                </a:moveTo>
                <a:lnTo>
                  <a:pt x="2390771" y="0"/>
                </a:lnTo>
                <a:cubicBezTo>
                  <a:pt x="2432857" y="0"/>
                  <a:pt x="2466975" y="34118"/>
                  <a:pt x="2466975" y="76204"/>
                </a:cubicBezTo>
                <a:lnTo>
                  <a:pt x="2466975" y="1000121"/>
                </a:lnTo>
                <a:cubicBezTo>
                  <a:pt x="2466975" y="1042207"/>
                  <a:pt x="2432857" y="1076325"/>
                  <a:pt x="2390771" y="1076325"/>
                </a:cubicBezTo>
                <a:lnTo>
                  <a:pt x="76204" y="1076325"/>
                </a:lnTo>
                <a:cubicBezTo>
                  <a:pt x="34118" y="1076325"/>
                  <a:pt x="0" y="1042207"/>
                  <a:pt x="0" y="1000121"/>
                </a:cubicBezTo>
                <a:lnTo>
                  <a:pt x="0" y="76204"/>
                </a:lnTo>
                <a:cubicBezTo>
                  <a:pt x="0" y="34146"/>
                  <a:pt x="34146" y="0"/>
                  <a:pt x="76204" y="0"/>
                </a:cubicBezTo>
                <a:close/>
              </a:path>
            </a:pathLst>
          </a:custGeom>
          <a:solidFill>
            <a:srgbClr val="4A5C6A">
              <a:alpha val="20000"/>
            </a:srgbClr>
          </a:solidFill>
          <a:ln w="12700">
            <a:solidFill>
              <a:srgbClr val="4A5C6A">
                <a:alpha val="30196"/>
              </a:srgbClr>
            </a:solidFill>
            <a:prstDash val="solid"/>
          </a:ln>
        </p:spPr>
      </p:sp>
      <p:sp>
        <p:nvSpPr>
          <p:cNvPr id="21" name="Text 19"/>
          <p:cNvSpPr/>
          <p:nvPr/>
        </p:nvSpPr>
        <p:spPr>
          <a:xfrm>
            <a:off x="509587" y="5172075"/>
            <a:ext cx="2219325" cy="190500"/>
          </a:xfrm>
          <a:prstGeom prst="rect">
            <a:avLst/>
          </a:prstGeom>
          <a:noFill/>
        </p:spPr>
        <p:txBody>
          <a:bodyPr wrap="square" lIns="0" tIns="0" rIns="0" bIns="0" rtlCol="0" anchor="ctr"/>
          <a:lstStyle/>
          <a:p>
            <a:pPr algn="ct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Total Q2 Budget</a:t>
            </a:r>
            <a:endParaRPr lang="en-US" sz="1600" dirty="0"/>
          </a:p>
        </p:txBody>
      </p:sp>
      <p:sp>
        <p:nvSpPr>
          <p:cNvPr id="22" name="Text 20"/>
          <p:cNvSpPr/>
          <p:nvPr/>
        </p:nvSpPr>
        <p:spPr>
          <a:xfrm>
            <a:off x="471488" y="5400675"/>
            <a:ext cx="2295525" cy="342900"/>
          </a:xfrm>
          <a:prstGeom prst="rect">
            <a:avLst/>
          </a:prstGeom>
          <a:noFill/>
        </p:spPr>
        <p:txBody>
          <a:bodyPr wrap="square" lIns="0" tIns="0" rIns="0" bIns="0" rtlCol="0" anchor="ctr"/>
          <a:lstStyle/>
          <a:p>
            <a:pPr algn="ctr">
              <a:lnSpc>
                <a:spcPct val="100000"/>
              </a:lnSpc>
            </a:pPr>
            <a:r>
              <a:rPr lang="en-US" sz="22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185M</a:t>
            </a:r>
            <a:endParaRPr lang="en-US" sz="1600" dirty="0"/>
          </a:p>
        </p:txBody>
      </p:sp>
      <p:sp>
        <p:nvSpPr>
          <p:cNvPr id="23" name="Text 21"/>
          <p:cNvSpPr/>
          <p:nvPr/>
        </p:nvSpPr>
        <p:spPr>
          <a:xfrm>
            <a:off x="509587" y="5743575"/>
            <a:ext cx="2219325" cy="190500"/>
          </a:xfrm>
          <a:prstGeom prst="rect">
            <a:avLst/>
          </a:prstGeom>
          <a:noFill/>
        </p:spPr>
        <p:txBody>
          <a:bodyPr wrap="square" lIns="0" tIns="0" rIns="0" bIns="0" rtlCol="0" anchor="ctr"/>
          <a:lstStyle/>
          <a:p>
            <a:pPr algn="ct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RMB</a:t>
            </a:r>
            <a:endParaRPr lang="en-US" sz="1600" dirty="0"/>
          </a:p>
        </p:txBody>
      </p:sp>
      <p:sp>
        <p:nvSpPr>
          <p:cNvPr id="24" name="Shape 22"/>
          <p:cNvSpPr/>
          <p:nvPr/>
        </p:nvSpPr>
        <p:spPr>
          <a:xfrm>
            <a:off x="2980358" y="5014913"/>
            <a:ext cx="2466975" cy="1076325"/>
          </a:xfrm>
          <a:custGeom>
            <a:avLst/>
            <a:gdLst/>
            <a:ahLst/>
            <a:cxnLst/>
            <a:rect l="l" t="t" r="r" b="b"/>
            <a:pathLst>
              <a:path w="2466975" h="1076325">
                <a:moveTo>
                  <a:pt x="76204" y="0"/>
                </a:moveTo>
                <a:lnTo>
                  <a:pt x="2390771" y="0"/>
                </a:lnTo>
                <a:cubicBezTo>
                  <a:pt x="2432857" y="0"/>
                  <a:pt x="2466975" y="34118"/>
                  <a:pt x="2466975" y="76204"/>
                </a:cubicBezTo>
                <a:lnTo>
                  <a:pt x="2466975" y="1000121"/>
                </a:lnTo>
                <a:cubicBezTo>
                  <a:pt x="2466975" y="1042207"/>
                  <a:pt x="2432857" y="1076325"/>
                  <a:pt x="2390771" y="1076325"/>
                </a:cubicBezTo>
                <a:lnTo>
                  <a:pt x="76204" y="1076325"/>
                </a:lnTo>
                <a:cubicBezTo>
                  <a:pt x="34118" y="1076325"/>
                  <a:pt x="0" y="1042207"/>
                  <a:pt x="0" y="1000121"/>
                </a:cubicBezTo>
                <a:lnTo>
                  <a:pt x="0" y="76204"/>
                </a:lnTo>
                <a:cubicBezTo>
                  <a:pt x="0" y="34146"/>
                  <a:pt x="34146" y="0"/>
                  <a:pt x="76204" y="0"/>
                </a:cubicBezTo>
                <a:close/>
              </a:path>
            </a:pathLst>
          </a:custGeom>
          <a:solidFill>
            <a:srgbClr val="4A5C6A">
              <a:alpha val="20000"/>
            </a:srgbClr>
          </a:solidFill>
          <a:ln w="12700">
            <a:solidFill>
              <a:srgbClr val="4A5C6A">
                <a:alpha val="30196"/>
              </a:srgbClr>
            </a:solidFill>
            <a:prstDash val="solid"/>
          </a:ln>
        </p:spPr>
      </p:sp>
      <p:sp>
        <p:nvSpPr>
          <p:cNvPr id="25" name="Text 23"/>
          <p:cNvSpPr/>
          <p:nvPr/>
        </p:nvSpPr>
        <p:spPr>
          <a:xfrm>
            <a:off x="3104183" y="5172075"/>
            <a:ext cx="2219325" cy="190500"/>
          </a:xfrm>
          <a:prstGeom prst="rect">
            <a:avLst/>
          </a:prstGeom>
          <a:noFill/>
        </p:spPr>
        <p:txBody>
          <a:bodyPr wrap="square" lIns="0" tIns="0" rIns="0" bIns="0" rtlCol="0" anchor="ctr"/>
          <a:lstStyle/>
          <a:p>
            <a:pPr algn="ct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Headcount Change</a:t>
            </a:r>
            <a:endParaRPr lang="en-US" sz="1600" dirty="0"/>
          </a:p>
        </p:txBody>
      </p:sp>
      <p:sp>
        <p:nvSpPr>
          <p:cNvPr id="26" name="Text 24"/>
          <p:cNvSpPr/>
          <p:nvPr/>
        </p:nvSpPr>
        <p:spPr>
          <a:xfrm>
            <a:off x="3066083" y="5400675"/>
            <a:ext cx="2295525" cy="342900"/>
          </a:xfrm>
          <a:prstGeom prst="rect">
            <a:avLst/>
          </a:prstGeom>
          <a:noFill/>
        </p:spPr>
        <p:txBody>
          <a:bodyPr wrap="square" lIns="0" tIns="0" rIns="0" bIns="0" rtlCol="0" anchor="ctr"/>
          <a:lstStyle/>
          <a:p>
            <a:pPr algn="ctr">
              <a:lnSpc>
                <a:spcPct val="100000"/>
              </a:lnSpc>
            </a:pPr>
            <a:r>
              <a:rPr lang="en-US" sz="2250"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+20</a:t>
            </a:r>
            <a:endParaRPr lang="en-US" sz="1600" dirty="0"/>
          </a:p>
        </p:txBody>
      </p:sp>
      <p:sp>
        <p:nvSpPr>
          <p:cNvPr id="27" name="Text 25"/>
          <p:cNvSpPr/>
          <p:nvPr/>
        </p:nvSpPr>
        <p:spPr>
          <a:xfrm>
            <a:off x="3104183" y="5743575"/>
            <a:ext cx="2219325" cy="190500"/>
          </a:xfrm>
          <a:prstGeom prst="rect">
            <a:avLst/>
          </a:prstGeom>
          <a:noFill/>
        </p:spPr>
        <p:txBody>
          <a:bodyPr wrap="square" lIns="0" tIns="0" rIns="0" bIns="0" rtlCol="0" anchor="ctr"/>
          <a:lstStyle/>
          <a:p>
            <a:pPr algn="ct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Net new hires</a:t>
            </a:r>
            <a:endParaRPr lang="en-US" sz="1600" dirty="0"/>
          </a:p>
        </p:txBody>
      </p:sp>
      <p:sp>
        <p:nvSpPr>
          <p:cNvPr id="28" name="Shape 26"/>
          <p:cNvSpPr/>
          <p:nvPr/>
        </p:nvSpPr>
        <p:spPr>
          <a:xfrm>
            <a:off x="5613053" y="1147763"/>
            <a:ext cx="6191250" cy="2638425"/>
          </a:xfrm>
          <a:custGeom>
            <a:avLst/>
            <a:gdLst/>
            <a:ahLst/>
            <a:cxnLst/>
            <a:rect l="l" t="t" r="r" b="b"/>
            <a:pathLst>
              <a:path w="6191250" h="2638425">
                <a:moveTo>
                  <a:pt x="76198" y="0"/>
                </a:moveTo>
                <a:lnTo>
                  <a:pt x="6115052" y="0"/>
                </a:lnTo>
                <a:cubicBezTo>
                  <a:pt x="6157107" y="0"/>
                  <a:pt x="6191250" y="34143"/>
                  <a:pt x="6191250" y="76198"/>
                </a:cubicBezTo>
                <a:lnTo>
                  <a:pt x="6191250" y="2562227"/>
                </a:lnTo>
                <a:cubicBezTo>
                  <a:pt x="6191250" y="2604282"/>
                  <a:pt x="6157107" y="2638425"/>
                  <a:pt x="6115052" y="2638425"/>
                </a:cubicBezTo>
                <a:lnTo>
                  <a:pt x="76198" y="2638425"/>
                </a:lnTo>
                <a:cubicBezTo>
                  <a:pt x="34143" y="2638425"/>
                  <a:pt x="0" y="2604282"/>
                  <a:pt x="0" y="2562227"/>
                </a:cubicBezTo>
                <a:lnTo>
                  <a:pt x="0" y="76198"/>
                </a:lnTo>
                <a:cubicBezTo>
                  <a:pt x="0" y="34143"/>
                  <a:pt x="34143" y="0"/>
                  <a:pt x="76198" y="0"/>
                </a:cubicBezTo>
                <a:close/>
              </a:path>
            </a:pathLst>
          </a:custGeom>
          <a:solidFill>
            <a:srgbClr val="4A5C6A">
              <a:alpha val="10196"/>
            </a:srgbClr>
          </a:solidFill>
          <a:ln w="12700">
            <a:solidFill>
              <a:srgbClr val="4A5C6A">
                <a:alpha val="30196"/>
              </a:srgbClr>
            </a:solidFill>
            <a:prstDash val="solid"/>
          </a:ln>
        </p:spPr>
      </p:sp>
      <p:sp>
        <p:nvSpPr>
          <p:cNvPr id="29" name="Shape 27"/>
          <p:cNvSpPr/>
          <p:nvPr/>
        </p:nvSpPr>
        <p:spPr>
          <a:xfrm>
            <a:off x="5782121" y="1343025"/>
            <a:ext cx="214313" cy="190500"/>
          </a:xfrm>
          <a:custGeom>
            <a:avLst/>
            <a:gdLst/>
            <a:ahLst/>
            <a:cxnLst/>
            <a:rect l="l" t="t" r="r" b="b"/>
            <a:pathLst>
              <a:path w="214313" h="190500">
                <a:moveTo>
                  <a:pt x="190649" y="89297"/>
                </a:moveTo>
                <a:lnTo>
                  <a:pt x="125164" y="89297"/>
                </a:lnTo>
                <a:cubicBezTo>
                  <a:pt x="118579" y="89297"/>
                  <a:pt x="113258" y="83976"/>
                  <a:pt x="113258" y="77391"/>
                </a:cubicBezTo>
                <a:lnTo>
                  <a:pt x="113258" y="11906"/>
                </a:lnTo>
                <a:cubicBezTo>
                  <a:pt x="113258" y="5321"/>
                  <a:pt x="118616" y="-74"/>
                  <a:pt x="125127" y="781"/>
                </a:cubicBezTo>
                <a:cubicBezTo>
                  <a:pt x="164939" y="6065"/>
                  <a:pt x="196490" y="37616"/>
                  <a:pt x="201774" y="77428"/>
                </a:cubicBezTo>
                <a:cubicBezTo>
                  <a:pt x="202629" y="83939"/>
                  <a:pt x="197234" y="89297"/>
                  <a:pt x="190649" y="89297"/>
                </a:cubicBezTo>
                <a:close/>
                <a:moveTo>
                  <a:pt x="82823" y="13841"/>
                </a:moveTo>
                <a:cubicBezTo>
                  <a:pt x="89557" y="12427"/>
                  <a:pt x="95399" y="17934"/>
                  <a:pt x="95399" y="24817"/>
                </a:cubicBezTo>
                <a:lnTo>
                  <a:pt x="95399" y="98227"/>
                </a:lnTo>
                <a:cubicBezTo>
                  <a:pt x="95399" y="100310"/>
                  <a:pt x="96143" y="102319"/>
                  <a:pt x="97445" y="103919"/>
                </a:cubicBezTo>
                <a:lnTo>
                  <a:pt x="146596" y="163227"/>
                </a:lnTo>
                <a:cubicBezTo>
                  <a:pt x="150949" y="168473"/>
                  <a:pt x="150019" y="176399"/>
                  <a:pt x="144028" y="179636"/>
                </a:cubicBezTo>
                <a:cubicBezTo>
                  <a:pt x="131341" y="186556"/>
                  <a:pt x="116793" y="190500"/>
                  <a:pt x="101352" y="190500"/>
                </a:cubicBezTo>
                <a:cubicBezTo>
                  <a:pt x="52053" y="190500"/>
                  <a:pt x="12055" y="150502"/>
                  <a:pt x="12055" y="101203"/>
                </a:cubicBezTo>
                <a:cubicBezTo>
                  <a:pt x="12055" y="58229"/>
                  <a:pt x="42379" y="22361"/>
                  <a:pt x="82823" y="13841"/>
                </a:cubicBezTo>
                <a:close/>
                <a:moveTo>
                  <a:pt x="177775" y="107156"/>
                </a:moveTo>
                <a:lnTo>
                  <a:pt x="201588" y="107156"/>
                </a:lnTo>
                <a:cubicBezTo>
                  <a:pt x="208471" y="107156"/>
                  <a:pt x="213978" y="112998"/>
                  <a:pt x="212564" y="119732"/>
                </a:cubicBezTo>
                <a:cubicBezTo>
                  <a:pt x="208769" y="137740"/>
                  <a:pt x="199541" y="153739"/>
                  <a:pt x="186668" y="165943"/>
                </a:cubicBezTo>
                <a:cubicBezTo>
                  <a:pt x="182091" y="170297"/>
                  <a:pt x="174910" y="169366"/>
                  <a:pt x="170892" y="164492"/>
                </a:cubicBezTo>
                <a:lnTo>
                  <a:pt x="139489" y="126653"/>
                </a:lnTo>
                <a:cubicBezTo>
                  <a:pt x="133052" y="118876"/>
                  <a:pt x="138596" y="107156"/>
                  <a:pt x="148642" y="107156"/>
                </a:cubicBezTo>
                <a:lnTo>
                  <a:pt x="177738" y="107156"/>
                </a:lnTo>
                <a:close/>
              </a:path>
            </a:pathLst>
          </a:custGeom>
          <a:solidFill>
            <a:srgbClr val="B89A6A"/>
          </a:solidFill>
        </p:spPr>
      </p:sp>
      <p:sp>
        <p:nvSpPr>
          <p:cNvPr id="30" name="Text 28"/>
          <p:cNvSpPr/>
          <p:nvPr/>
        </p:nvSpPr>
        <p:spPr>
          <a:xfrm>
            <a:off x="6008340" y="1304925"/>
            <a:ext cx="5734050" cy="266700"/>
          </a:xfrm>
          <a:prstGeom prst="rect">
            <a:avLst/>
          </a:prstGeom>
          <a:noFill/>
        </p:spPr>
        <p:txBody>
          <a:bodyPr wrap="square" lIns="0" tIns="0" rIns="0" bIns="0" rtlCol="0" anchor="ctr"/>
          <a:lstStyle/>
          <a:p>
            <a:pP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Q2 Budget Allocation by Department</a:t>
            </a:r>
            <a:endParaRPr lang="en-US" sz="1600" dirty="0"/>
          </a:p>
        </p:txBody>
      </p:sp>
      <p:pic>
        <p:nvPicPr>
          <p:cNvPr id="31" name="Image 0" descr="https://kimi-img.moonshot.cn/pub/slides/26-03-22-16:22:39-d6vqdjsc75r6d4ptph70.png"/>
          <p:cNvPicPr>
            <a:picLocks noChangeAspect="1"/>
          </p:cNvPicPr>
          <p:nvPr/>
        </p:nvPicPr>
        <p:blipFill>
          <a:blip r:embed="rId1"/>
          <a:srcRect/>
          <a:stretch>
            <a:fillRect/>
          </a:stretch>
        </p:blipFill>
        <p:spPr>
          <a:xfrm>
            <a:off x="5770215" y="1685925"/>
            <a:ext cx="5876925" cy="1943100"/>
          </a:xfrm>
          <a:prstGeom prst="roundRect">
            <a:avLst>
              <a:gd name="adj" fmla="val 0"/>
            </a:avLst>
          </a:prstGeom>
        </p:spPr>
      </p:pic>
      <p:sp>
        <p:nvSpPr>
          <p:cNvPr id="32" name="Shape 29"/>
          <p:cNvSpPr/>
          <p:nvPr/>
        </p:nvSpPr>
        <p:spPr>
          <a:xfrm>
            <a:off x="5613053" y="3910013"/>
            <a:ext cx="6191250" cy="2181225"/>
          </a:xfrm>
          <a:custGeom>
            <a:avLst/>
            <a:gdLst/>
            <a:ahLst/>
            <a:cxnLst/>
            <a:rect l="l" t="t" r="r" b="b"/>
            <a:pathLst>
              <a:path w="6191250" h="2181225">
                <a:moveTo>
                  <a:pt x="76190" y="0"/>
                </a:moveTo>
                <a:lnTo>
                  <a:pt x="6115060" y="0"/>
                </a:lnTo>
                <a:cubicBezTo>
                  <a:pt x="6157138" y="0"/>
                  <a:pt x="6191250" y="34112"/>
                  <a:pt x="6191250" y="76190"/>
                </a:cubicBezTo>
                <a:lnTo>
                  <a:pt x="6191250" y="2105035"/>
                </a:lnTo>
                <a:cubicBezTo>
                  <a:pt x="6191250" y="2147113"/>
                  <a:pt x="6157138" y="2181225"/>
                  <a:pt x="6115060" y="2181225"/>
                </a:cubicBezTo>
                <a:lnTo>
                  <a:pt x="76190" y="2181225"/>
                </a:lnTo>
                <a:cubicBezTo>
                  <a:pt x="34112" y="2181225"/>
                  <a:pt x="0" y="2147113"/>
                  <a:pt x="0" y="2105035"/>
                </a:cubicBezTo>
                <a:lnTo>
                  <a:pt x="0" y="76190"/>
                </a:lnTo>
                <a:cubicBezTo>
                  <a:pt x="0" y="34140"/>
                  <a:pt x="34140" y="0"/>
                  <a:pt x="76190" y="0"/>
                </a:cubicBezTo>
                <a:close/>
              </a:path>
            </a:pathLst>
          </a:custGeom>
          <a:solidFill>
            <a:srgbClr val="4A5C6A">
              <a:alpha val="10196"/>
            </a:srgbClr>
          </a:solidFill>
          <a:ln w="12700">
            <a:solidFill>
              <a:srgbClr val="4A5C6A">
                <a:alpha val="30196"/>
              </a:srgbClr>
            </a:solidFill>
            <a:prstDash val="solid"/>
          </a:ln>
        </p:spPr>
      </p:sp>
      <p:sp>
        <p:nvSpPr>
          <p:cNvPr id="33" name="Text 30"/>
          <p:cNvSpPr/>
          <p:nvPr/>
        </p:nvSpPr>
        <p:spPr>
          <a:xfrm>
            <a:off x="5770215" y="4067175"/>
            <a:ext cx="5962650" cy="266700"/>
          </a:xfrm>
          <a:prstGeom prst="rect">
            <a:avLst/>
          </a:prstGeom>
          <a:noFill/>
        </p:spPr>
        <p:txBody>
          <a:bodyPr wrap="square" lIns="0" tIns="0" rIns="0" bIns="0" rtlCol="0" anchor="ctr"/>
          <a:lstStyle/>
          <a:p>
            <a:pPr>
              <a:lnSpc>
                <a:spcPct val="130000"/>
              </a:lnSpc>
            </a:pPr>
            <a:r>
              <a:rPr lang="en-US" sz="13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Department-Level Budget Summary</a:t>
            </a:r>
            <a:endParaRPr lang="en-US" sz="1600" dirty="0"/>
          </a:p>
        </p:txBody>
      </p:sp>
      <p:sp>
        <p:nvSpPr>
          <p:cNvPr id="34" name="Shape 31"/>
          <p:cNvSpPr/>
          <p:nvPr/>
        </p:nvSpPr>
        <p:spPr>
          <a:xfrm>
            <a:off x="5789265" y="4448175"/>
            <a:ext cx="2867025" cy="685800"/>
          </a:xfrm>
          <a:custGeom>
            <a:avLst/>
            <a:gdLst/>
            <a:ahLst/>
            <a:cxnLst/>
            <a:rect l="l" t="t" r="r" b="b"/>
            <a:pathLst>
              <a:path w="2867025" h="685800">
                <a:moveTo>
                  <a:pt x="38100" y="0"/>
                </a:moveTo>
                <a:lnTo>
                  <a:pt x="2790826" y="0"/>
                </a:lnTo>
                <a:cubicBezTo>
                  <a:pt x="2832909" y="0"/>
                  <a:pt x="2867025" y="34116"/>
                  <a:pt x="2867025" y="76199"/>
                </a:cubicBezTo>
                <a:lnTo>
                  <a:pt x="2867025" y="609601"/>
                </a:lnTo>
                <a:cubicBezTo>
                  <a:pt x="2867025" y="651684"/>
                  <a:pt x="2832909" y="685800"/>
                  <a:pt x="2790826" y="685800"/>
                </a:cubicBezTo>
                <a:lnTo>
                  <a:pt x="38100" y="685800"/>
                </a:lnTo>
                <a:cubicBezTo>
                  <a:pt x="17072" y="685800"/>
                  <a:pt x="0" y="668728"/>
                  <a:pt x="0" y="647700"/>
                </a:cubicBezTo>
                <a:lnTo>
                  <a:pt x="0" y="38100"/>
                </a:lnTo>
                <a:cubicBezTo>
                  <a:pt x="0" y="17072"/>
                  <a:pt x="17072" y="0"/>
                  <a:pt x="38100" y="0"/>
                </a:cubicBezTo>
                <a:close/>
              </a:path>
            </a:pathLst>
          </a:custGeom>
          <a:solidFill>
            <a:srgbClr val="1A1D24">
              <a:alpha val="60000"/>
            </a:srgbClr>
          </a:solidFill>
        </p:spPr>
      </p:sp>
      <p:sp>
        <p:nvSpPr>
          <p:cNvPr id="35" name="Shape 32"/>
          <p:cNvSpPr/>
          <p:nvPr/>
        </p:nvSpPr>
        <p:spPr>
          <a:xfrm>
            <a:off x="5789265" y="444817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B89A6A"/>
          </a:solidFill>
        </p:spPr>
      </p:sp>
      <p:sp>
        <p:nvSpPr>
          <p:cNvPr id="36" name="Text 33"/>
          <p:cNvSpPr/>
          <p:nvPr/>
        </p:nvSpPr>
        <p:spPr>
          <a:xfrm>
            <a:off x="5922615" y="4562475"/>
            <a:ext cx="438150"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R&amp;D</a:t>
            </a:r>
            <a:endParaRPr lang="en-US" sz="1600" dirty="0"/>
          </a:p>
        </p:txBody>
      </p:sp>
      <p:sp>
        <p:nvSpPr>
          <p:cNvPr id="37" name="Text 34"/>
          <p:cNvSpPr/>
          <p:nvPr/>
        </p:nvSpPr>
        <p:spPr>
          <a:xfrm>
            <a:off x="5922615" y="4752975"/>
            <a:ext cx="466725" cy="266700"/>
          </a:xfrm>
          <a:prstGeom prst="rect">
            <a:avLst/>
          </a:prstGeom>
          <a:noFill/>
        </p:spPr>
        <p:txBody>
          <a:bodyPr wrap="square" lIns="0" tIns="0" rIns="0" bIns="0" rtlCol="0" anchor="ctr"/>
          <a:lstStyle/>
          <a:p>
            <a:pP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68M</a:t>
            </a:r>
            <a:endParaRPr lang="en-US" sz="1600" dirty="0"/>
          </a:p>
        </p:txBody>
      </p:sp>
      <p:sp>
        <p:nvSpPr>
          <p:cNvPr id="38" name="Text 35"/>
          <p:cNvSpPr/>
          <p:nvPr/>
        </p:nvSpPr>
        <p:spPr>
          <a:xfrm>
            <a:off x="8249394" y="4676775"/>
            <a:ext cx="361950" cy="228600"/>
          </a:xfrm>
          <a:prstGeom prst="rect">
            <a:avLst/>
          </a:prstGeom>
          <a:noFill/>
        </p:spPr>
        <p:txBody>
          <a:bodyPr wrap="square" lIns="0" tIns="0" rIns="0" bIns="0" rtlCol="0" anchor="ctr"/>
          <a:lstStyle/>
          <a:p>
            <a:pPr>
              <a:lnSpc>
                <a:spcPct val="130000"/>
              </a:lnSpc>
            </a:pPr>
            <a:r>
              <a:rPr lang="en-US" sz="1200" b="1" dirty="0">
                <a:solidFill>
                  <a:srgbClr val="B89A6A"/>
                </a:solidFill>
                <a:latin typeface="Liter" panose="02000503030000020004" pitchFamily="34" charset="0"/>
                <a:ea typeface="Liter" panose="02000503030000020004" pitchFamily="34" charset="-122"/>
                <a:cs typeface="Liter" panose="02000503030000020004" pitchFamily="34" charset="-120"/>
              </a:rPr>
              <a:t>37%</a:t>
            </a:r>
            <a:endParaRPr lang="en-US" sz="1600" dirty="0"/>
          </a:p>
        </p:txBody>
      </p:sp>
      <p:sp>
        <p:nvSpPr>
          <p:cNvPr id="39" name="Shape 36"/>
          <p:cNvSpPr/>
          <p:nvPr/>
        </p:nvSpPr>
        <p:spPr>
          <a:xfrm>
            <a:off x="8785845" y="4448175"/>
            <a:ext cx="2867025" cy="685800"/>
          </a:xfrm>
          <a:custGeom>
            <a:avLst/>
            <a:gdLst/>
            <a:ahLst/>
            <a:cxnLst/>
            <a:rect l="l" t="t" r="r" b="b"/>
            <a:pathLst>
              <a:path w="2867025" h="685800">
                <a:moveTo>
                  <a:pt x="38100" y="0"/>
                </a:moveTo>
                <a:lnTo>
                  <a:pt x="2790826" y="0"/>
                </a:lnTo>
                <a:cubicBezTo>
                  <a:pt x="2832909" y="0"/>
                  <a:pt x="2867025" y="34116"/>
                  <a:pt x="2867025" y="76199"/>
                </a:cubicBezTo>
                <a:lnTo>
                  <a:pt x="2867025" y="609601"/>
                </a:lnTo>
                <a:cubicBezTo>
                  <a:pt x="2867025" y="651684"/>
                  <a:pt x="2832909" y="685800"/>
                  <a:pt x="2790826" y="685800"/>
                </a:cubicBezTo>
                <a:lnTo>
                  <a:pt x="38100" y="685800"/>
                </a:lnTo>
                <a:cubicBezTo>
                  <a:pt x="17072" y="685800"/>
                  <a:pt x="0" y="668728"/>
                  <a:pt x="0" y="647700"/>
                </a:cubicBezTo>
                <a:lnTo>
                  <a:pt x="0" y="38100"/>
                </a:lnTo>
                <a:cubicBezTo>
                  <a:pt x="0" y="17072"/>
                  <a:pt x="17072" y="0"/>
                  <a:pt x="38100" y="0"/>
                </a:cubicBezTo>
                <a:close/>
              </a:path>
            </a:pathLst>
          </a:custGeom>
          <a:solidFill>
            <a:srgbClr val="1A1D24">
              <a:alpha val="60000"/>
            </a:srgbClr>
          </a:solidFill>
        </p:spPr>
      </p:sp>
      <p:sp>
        <p:nvSpPr>
          <p:cNvPr id="40" name="Shape 37"/>
          <p:cNvSpPr/>
          <p:nvPr/>
        </p:nvSpPr>
        <p:spPr>
          <a:xfrm>
            <a:off x="8785845" y="444817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A5C6A"/>
          </a:solidFill>
        </p:spPr>
      </p:sp>
      <p:sp>
        <p:nvSpPr>
          <p:cNvPr id="41" name="Text 38"/>
          <p:cNvSpPr/>
          <p:nvPr/>
        </p:nvSpPr>
        <p:spPr>
          <a:xfrm>
            <a:off x="8919195" y="4562475"/>
            <a:ext cx="113347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Sales &amp; Marketing</a:t>
            </a:r>
            <a:endParaRPr lang="en-US" sz="1600" dirty="0"/>
          </a:p>
        </p:txBody>
      </p:sp>
      <p:sp>
        <p:nvSpPr>
          <p:cNvPr id="42" name="Text 39"/>
          <p:cNvSpPr/>
          <p:nvPr/>
        </p:nvSpPr>
        <p:spPr>
          <a:xfrm>
            <a:off x="8919195" y="4752975"/>
            <a:ext cx="1162050" cy="266700"/>
          </a:xfrm>
          <a:prstGeom prst="rect">
            <a:avLst/>
          </a:prstGeom>
          <a:noFill/>
        </p:spPr>
        <p:txBody>
          <a:bodyPr wrap="square" lIns="0" tIns="0" rIns="0" bIns="0" rtlCol="0" anchor="ctr"/>
          <a:lstStyle/>
          <a:p>
            <a:pP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75M</a:t>
            </a:r>
            <a:endParaRPr lang="en-US" sz="1600" dirty="0"/>
          </a:p>
        </p:txBody>
      </p:sp>
      <p:sp>
        <p:nvSpPr>
          <p:cNvPr id="43" name="Text 40"/>
          <p:cNvSpPr/>
          <p:nvPr/>
        </p:nvSpPr>
        <p:spPr>
          <a:xfrm>
            <a:off x="11263164" y="4676775"/>
            <a:ext cx="352425" cy="228600"/>
          </a:xfrm>
          <a:prstGeom prst="rect">
            <a:avLst/>
          </a:prstGeom>
          <a:noFill/>
        </p:spPr>
        <p:txBody>
          <a:bodyPr wrap="square" lIns="0" tIns="0" rIns="0" bIns="0" rtlCol="0" anchor="ctr"/>
          <a:lstStyle/>
          <a:p>
            <a:pPr>
              <a:lnSpc>
                <a:spcPct val="130000"/>
              </a:lnSpc>
            </a:pPr>
            <a:r>
              <a:rPr lang="en-US" sz="1200" b="1" dirty="0">
                <a:solidFill>
                  <a:srgbClr val="4A5C6A"/>
                </a:solidFill>
                <a:latin typeface="Liter" panose="02000503030000020004" pitchFamily="34" charset="0"/>
                <a:ea typeface="Liter" panose="02000503030000020004" pitchFamily="34" charset="-122"/>
                <a:cs typeface="Liter" panose="02000503030000020004" pitchFamily="34" charset="-120"/>
              </a:rPr>
              <a:t>41%</a:t>
            </a:r>
            <a:endParaRPr lang="en-US" sz="1600" dirty="0"/>
          </a:p>
        </p:txBody>
      </p:sp>
      <p:sp>
        <p:nvSpPr>
          <p:cNvPr id="44" name="Shape 41"/>
          <p:cNvSpPr/>
          <p:nvPr/>
        </p:nvSpPr>
        <p:spPr>
          <a:xfrm>
            <a:off x="5789265" y="5248275"/>
            <a:ext cx="2867025" cy="685800"/>
          </a:xfrm>
          <a:custGeom>
            <a:avLst/>
            <a:gdLst/>
            <a:ahLst/>
            <a:cxnLst/>
            <a:rect l="l" t="t" r="r" b="b"/>
            <a:pathLst>
              <a:path w="2867025" h="685800">
                <a:moveTo>
                  <a:pt x="38100" y="0"/>
                </a:moveTo>
                <a:lnTo>
                  <a:pt x="2790826" y="0"/>
                </a:lnTo>
                <a:cubicBezTo>
                  <a:pt x="2832909" y="0"/>
                  <a:pt x="2867025" y="34116"/>
                  <a:pt x="2867025" y="76199"/>
                </a:cubicBezTo>
                <a:lnTo>
                  <a:pt x="2867025" y="609601"/>
                </a:lnTo>
                <a:cubicBezTo>
                  <a:pt x="2867025" y="651684"/>
                  <a:pt x="2832909" y="685800"/>
                  <a:pt x="2790826" y="685800"/>
                </a:cubicBezTo>
                <a:lnTo>
                  <a:pt x="38100" y="685800"/>
                </a:lnTo>
                <a:cubicBezTo>
                  <a:pt x="17072" y="685800"/>
                  <a:pt x="0" y="668728"/>
                  <a:pt x="0" y="647700"/>
                </a:cubicBezTo>
                <a:lnTo>
                  <a:pt x="0" y="38100"/>
                </a:lnTo>
                <a:cubicBezTo>
                  <a:pt x="0" y="17072"/>
                  <a:pt x="17072" y="0"/>
                  <a:pt x="38100" y="0"/>
                </a:cubicBezTo>
                <a:close/>
              </a:path>
            </a:pathLst>
          </a:custGeom>
          <a:solidFill>
            <a:srgbClr val="1A1D24">
              <a:alpha val="60000"/>
            </a:srgbClr>
          </a:solidFill>
        </p:spPr>
      </p:sp>
      <p:sp>
        <p:nvSpPr>
          <p:cNvPr id="45" name="Shape 42"/>
          <p:cNvSpPr/>
          <p:nvPr/>
        </p:nvSpPr>
        <p:spPr>
          <a:xfrm>
            <a:off x="5789265" y="524827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78828A"/>
          </a:solidFill>
        </p:spPr>
      </p:sp>
      <p:sp>
        <p:nvSpPr>
          <p:cNvPr id="46" name="Text 43"/>
          <p:cNvSpPr/>
          <p:nvPr/>
        </p:nvSpPr>
        <p:spPr>
          <a:xfrm>
            <a:off x="5922615" y="5362575"/>
            <a:ext cx="42862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G&amp;A</a:t>
            </a:r>
            <a:endParaRPr lang="en-US" sz="1600" dirty="0"/>
          </a:p>
        </p:txBody>
      </p:sp>
      <p:sp>
        <p:nvSpPr>
          <p:cNvPr id="47" name="Text 44"/>
          <p:cNvSpPr/>
          <p:nvPr/>
        </p:nvSpPr>
        <p:spPr>
          <a:xfrm>
            <a:off x="5922615" y="5553075"/>
            <a:ext cx="457200" cy="266700"/>
          </a:xfrm>
          <a:prstGeom prst="rect">
            <a:avLst/>
          </a:prstGeom>
          <a:noFill/>
        </p:spPr>
        <p:txBody>
          <a:bodyPr wrap="square" lIns="0" tIns="0" rIns="0" bIns="0" rtlCol="0" anchor="ctr"/>
          <a:lstStyle/>
          <a:p>
            <a:pP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28M</a:t>
            </a:r>
            <a:endParaRPr lang="en-US" sz="1600" dirty="0"/>
          </a:p>
        </p:txBody>
      </p:sp>
      <p:sp>
        <p:nvSpPr>
          <p:cNvPr id="48" name="Text 45"/>
          <p:cNvSpPr/>
          <p:nvPr/>
        </p:nvSpPr>
        <p:spPr>
          <a:xfrm>
            <a:off x="8268593" y="5476875"/>
            <a:ext cx="342900" cy="228600"/>
          </a:xfrm>
          <a:prstGeom prst="rect">
            <a:avLst/>
          </a:prstGeom>
          <a:noFill/>
        </p:spPr>
        <p:txBody>
          <a:bodyPr wrap="square" lIns="0" tIns="0" rIns="0" bIns="0" rtlCol="0" anchor="ctr"/>
          <a:lstStyle/>
          <a:p>
            <a:pPr>
              <a:lnSpc>
                <a:spcPct val="130000"/>
              </a:lnSpc>
            </a:pPr>
            <a:r>
              <a:rPr lang="en-US" sz="1200" b="1" dirty="0">
                <a:solidFill>
                  <a:srgbClr val="78828A"/>
                </a:solidFill>
                <a:latin typeface="Liter" panose="02000503030000020004" pitchFamily="34" charset="0"/>
                <a:ea typeface="Liter" panose="02000503030000020004" pitchFamily="34" charset="-122"/>
                <a:cs typeface="Liter" panose="02000503030000020004" pitchFamily="34" charset="-120"/>
              </a:rPr>
              <a:t>15%</a:t>
            </a:r>
            <a:endParaRPr lang="en-US" sz="1600" dirty="0"/>
          </a:p>
        </p:txBody>
      </p:sp>
      <p:sp>
        <p:nvSpPr>
          <p:cNvPr id="49" name="Shape 46"/>
          <p:cNvSpPr/>
          <p:nvPr/>
        </p:nvSpPr>
        <p:spPr>
          <a:xfrm>
            <a:off x="8785845" y="5248275"/>
            <a:ext cx="2867025" cy="685800"/>
          </a:xfrm>
          <a:custGeom>
            <a:avLst/>
            <a:gdLst/>
            <a:ahLst/>
            <a:cxnLst/>
            <a:rect l="l" t="t" r="r" b="b"/>
            <a:pathLst>
              <a:path w="2867025" h="685800">
                <a:moveTo>
                  <a:pt x="38100" y="0"/>
                </a:moveTo>
                <a:lnTo>
                  <a:pt x="2790826" y="0"/>
                </a:lnTo>
                <a:cubicBezTo>
                  <a:pt x="2832909" y="0"/>
                  <a:pt x="2867025" y="34116"/>
                  <a:pt x="2867025" y="76199"/>
                </a:cubicBezTo>
                <a:lnTo>
                  <a:pt x="2867025" y="609601"/>
                </a:lnTo>
                <a:cubicBezTo>
                  <a:pt x="2867025" y="651684"/>
                  <a:pt x="2832909" y="685800"/>
                  <a:pt x="2790826" y="685800"/>
                </a:cubicBezTo>
                <a:lnTo>
                  <a:pt x="38100" y="685800"/>
                </a:lnTo>
                <a:cubicBezTo>
                  <a:pt x="17072" y="685800"/>
                  <a:pt x="0" y="668728"/>
                  <a:pt x="0" y="647700"/>
                </a:cubicBezTo>
                <a:lnTo>
                  <a:pt x="0" y="38100"/>
                </a:lnTo>
                <a:cubicBezTo>
                  <a:pt x="0" y="17072"/>
                  <a:pt x="17072" y="0"/>
                  <a:pt x="38100" y="0"/>
                </a:cubicBezTo>
                <a:close/>
              </a:path>
            </a:pathLst>
          </a:custGeom>
          <a:solidFill>
            <a:srgbClr val="1A1D24">
              <a:alpha val="60000"/>
            </a:srgbClr>
          </a:solidFill>
        </p:spPr>
      </p:sp>
      <p:sp>
        <p:nvSpPr>
          <p:cNvPr id="50" name="Shape 47"/>
          <p:cNvSpPr/>
          <p:nvPr/>
        </p:nvSpPr>
        <p:spPr>
          <a:xfrm>
            <a:off x="8785845" y="524827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78828A"/>
          </a:solidFill>
        </p:spPr>
      </p:sp>
      <p:sp>
        <p:nvSpPr>
          <p:cNvPr id="51" name="Text 48"/>
          <p:cNvSpPr/>
          <p:nvPr/>
        </p:nvSpPr>
        <p:spPr>
          <a:xfrm>
            <a:off x="8919195" y="5362575"/>
            <a:ext cx="71437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Operations</a:t>
            </a:r>
            <a:endParaRPr lang="en-US" sz="1600" dirty="0"/>
          </a:p>
        </p:txBody>
      </p:sp>
      <p:sp>
        <p:nvSpPr>
          <p:cNvPr id="52" name="Text 49"/>
          <p:cNvSpPr/>
          <p:nvPr/>
        </p:nvSpPr>
        <p:spPr>
          <a:xfrm>
            <a:off x="8919195" y="5553075"/>
            <a:ext cx="742950" cy="266700"/>
          </a:xfrm>
          <a:prstGeom prst="rect">
            <a:avLst/>
          </a:prstGeom>
          <a:noFill/>
        </p:spPr>
        <p:txBody>
          <a:bodyPr wrap="square" lIns="0" tIns="0" rIns="0" bIns="0" rtlCol="0" anchor="ctr"/>
          <a:lstStyle/>
          <a:p>
            <a:pP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14M</a:t>
            </a:r>
            <a:endParaRPr lang="en-US" sz="1600" dirty="0"/>
          </a:p>
        </p:txBody>
      </p:sp>
      <p:sp>
        <p:nvSpPr>
          <p:cNvPr id="53" name="Text 50"/>
          <p:cNvSpPr/>
          <p:nvPr/>
        </p:nvSpPr>
        <p:spPr>
          <a:xfrm>
            <a:off x="11335866" y="5476875"/>
            <a:ext cx="276225" cy="228600"/>
          </a:xfrm>
          <a:prstGeom prst="rect">
            <a:avLst/>
          </a:prstGeom>
          <a:noFill/>
        </p:spPr>
        <p:txBody>
          <a:bodyPr wrap="square" lIns="0" tIns="0" rIns="0" bIns="0" rtlCol="0" anchor="ctr"/>
          <a:lstStyle/>
          <a:p>
            <a:pPr>
              <a:lnSpc>
                <a:spcPct val="130000"/>
              </a:lnSpc>
            </a:pPr>
            <a:r>
              <a:rPr lang="en-US" sz="1200" b="1" dirty="0">
                <a:solidFill>
                  <a:srgbClr val="78828A"/>
                </a:solidFill>
                <a:latin typeface="Liter" panose="02000503030000020004" pitchFamily="34" charset="0"/>
                <a:ea typeface="Liter" panose="02000503030000020004" pitchFamily="34" charset="-122"/>
                <a:cs typeface="Liter" panose="02000503030000020004" pitchFamily="34" charset="-120"/>
              </a:rPr>
              <a:t>7%</a:t>
            </a:r>
            <a:endParaRPr lang="en-US" sz="1600" dirty="0"/>
          </a:p>
        </p:txBody>
      </p:sp>
      <p:sp>
        <p:nvSpPr>
          <p:cNvPr id="54" name="Shape 51"/>
          <p:cNvSpPr/>
          <p:nvPr/>
        </p:nvSpPr>
        <p:spPr>
          <a:xfrm>
            <a:off x="385763" y="6176963"/>
            <a:ext cx="11420475" cy="466725"/>
          </a:xfrm>
          <a:custGeom>
            <a:avLst/>
            <a:gdLst/>
            <a:ahLst/>
            <a:cxnLst/>
            <a:rect l="l" t="t" r="r" b="b"/>
            <a:pathLst>
              <a:path w="11420475" h="466725">
                <a:moveTo>
                  <a:pt x="76202" y="0"/>
                </a:moveTo>
                <a:lnTo>
                  <a:pt x="11344273" y="0"/>
                </a:lnTo>
                <a:cubicBezTo>
                  <a:pt x="11386358" y="0"/>
                  <a:pt x="11420475" y="34117"/>
                  <a:pt x="11420475" y="76202"/>
                </a:cubicBezTo>
                <a:lnTo>
                  <a:pt x="11420475" y="390523"/>
                </a:lnTo>
                <a:cubicBezTo>
                  <a:pt x="11420475" y="432608"/>
                  <a:pt x="11386358" y="466725"/>
                  <a:pt x="11344273" y="466725"/>
                </a:cubicBezTo>
                <a:lnTo>
                  <a:pt x="76202" y="466725"/>
                </a:lnTo>
                <a:cubicBezTo>
                  <a:pt x="34117" y="466725"/>
                  <a:pt x="0" y="432608"/>
                  <a:pt x="0" y="390523"/>
                </a:cubicBezTo>
                <a:lnTo>
                  <a:pt x="0" y="76202"/>
                </a:lnTo>
                <a:cubicBezTo>
                  <a:pt x="0" y="34145"/>
                  <a:pt x="34145" y="0"/>
                  <a:pt x="76202" y="0"/>
                </a:cubicBezTo>
                <a:close/>
              </a:path>
            </a:pathLst>
          </a:custGeom>
          <a:solidFill>
            <a:srgbClr val="B89A6A">
              <a:alpha val="10196"/>
            </a:srgbClr>
          </a:solidFill>
          <a:ln w="12700">
            <a:solidFill>
              <a:srgbClr val="B89A6A">
                <a:alpha val="30196"/>
              </a:srgbClr>
            </a:solidFill>
            <a:prstDash val="solid"/>
          </a:ln>
        </p:spPr>
      </p:sp>
      <p:sp>
        <p:nvSpPr>
          <p:cNvPr id="55" name="Shape 52"/>
          <p:cNvSpPr/>
          <p:nvPr/>
        </p:nvSpPr>
        <p:spPr>
          <a:xfrm>
            <a:off x="566738" y="6324600"/>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75009" y="53578"/>
                </a:moveTo>
                <a:cubicBezTo>
                  <a:pt x="75009" y="47664"/>
                  <a:pt x="79811" y="42863"/>
                  <a:pt x="85725" y="42863"/>
                </a:cubicBezTo>
                <a:cubicBezTo>
                  <a:pt x="91639" y="42863"/>
                  <a:pt x="96441" y="47664"/>
                  <a:pt x="96441" y="53578"/>
                </a:cubicBezTo>
                <a:cubicBezTo>
                  <a:pt x="96441" y="59492"/>
                  <a:pt x="91639" y="64294"/>
                  <a:pt x="85725" y="64294"/>
                </a:cubicBezTo>
                <a:cubicBezTo>
                  <a:pt x="79811" y="64294"/>
                  <a:pt x="75009" y="59492"/>
                  <a:pt x="75009" y="53578"/>
                </a:cubicBezTo>
                <a:close/>
                <a:moveTo>
                  <a:pt x="72330" y="75009"/>
                </a:moveTo>
                <a:lnTo>
                  <a:pt x="88404" y="75009"/>
                </a:lnTo>
                <a:cubicBezTo>
                  <a:pt x="92858" y="75009"/>
                  <a:pt x="96441" y="78592"/>
                  <a:pt x="96441" y="83046"/>
                </a:cubicBezTo>
                <a:lnTo>
                  <a:pt x="96441" y="112514"/>
                </a:lnTo>
                <a:lnTo>
                  <a:pt x="99120" y="112514"/>
                </a:lnTo>
                <a:cubicBezTo>
                  <a:pt x="103573" y="112514"/>
                  <a:pt x="107156" y="116097"/>
                  <a:pt x="107156" y="120551"/>
                </a:cubicBezTo>
                <a:cubicBezTo>
                  <a:pt x="107156" y="125004"/>
                  <a:pt x="103573" y="128588"/>
                  <a:pt x="99120" y="128588"/>
                </a:cubicBezTo>
                <a:lnTo>
                  <a:pt x="72330" y="128588"/>
                </a:lnTo>
                <a:cubicBezTo>
                  <a:pt x="67877" y="128588"/>
                  <a:pt x="64294" y="125004"/>
                  <a:pt x="64294" y="120551"/>
                </a:cubicBezTo>
                <a:cubicBezTo>
                  <a:pt x="64294" y="116097"/>
                  <a:pt x="67877" y="112514"/>
                  <a:pt x="72330" y="112514"/>
                </a:cubicBezTo>
                <a:lnTo>
                  <a:pt x="80367" y="112514"/>
                </a:lnTo>
                <a:lnTo>
                  <a:pt x="80367" y="91083"/>
                </a:lnTo>
                <a:lnTo>
                  <a:pt x="72330" y="91083"/>
                </a:lnTo>
                <a:cubicBezTo>
                  <a:pt x="67877" y="91083"/>
                  <a:pt x="64294" y="87500"/>
                  <a:pt x="64294" y="83046"/>
                </a:cubicBezTo>
                <a:cubicBezTo>
                  <a:pt x="64294" y="78592"/>
                  <a:pt x="67877" y="75009"/>
                  <a:pt x="72330" y="75009"/>
                </a:cubicBezTo>
                <a:close/>
              </a:path>
            </a:pathLst>
          </a:custGeom>
          <a:solidFill>
            <a:srgbClr val="B89A6A"/>
          </a:solidFill>
        </p:spPr>
      </p:sp>
      <p:sp>
        <p:nvSpPr>
          <p:cNvPr id="56" name="Text 53"/>
          <p:cNvSpPr/>
          <p:nvPr/>
        </p:nvSpPr>
        <p:spPr>
          <a:xfrm>
            <a:off x="871538" y="6296025"/>
            <a:ext cx="4391025"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Budget Freeze Exception:</a:t>
            </a: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 Emergency hires require CFO approval</a:t>
            </a:r>
            <a:endParaRPr lang="en-US" sz="1600" dirty="0"/>
          </a:p>
        </p:txBody>
      </p:sp>
      <p:sp>
        <p:nvSpPr>
          <p:cNvPr id="57" name="Text 54"/>
          <p:cNvSpPr/>
          <p:nvPr/>
        </p:nvSpPr>
        <p:spPr>
          <a:xfrm>
            <a:off x="10139958" y="6296025"/>
            <a:ext cx="1581150"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Effective: April 1, 2026</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sp>
        <p:nvSpPr>
          <p:cNvPr id="2" name="Shape 0"/>
          <p:cNvSpPr/>
          <p:nvPr/>
        </p:nvSpPr>
        <p:spPr>
          <a:xfrm>
            <a:off x="359911" y="467885"/>
            <a:ext cx="53987" cy="359911"/>
          </a:xfrm>
          <a:custGeom>
            <a:avLst/>
            <a:gdLst/>
            <a:ahLst/>
            <a:cxnLst/>
            <a:rect l="l" t="t" r="r" b="b"/>
            <a:pathLst>
              <a:path w="53987" h="359911">
                <a:moveTo>
                  <a:pt x="0" y="0"/>
                </a:moveTo>
                <a:lnTo>
                  <a:pt x="53987" y="0"/>
                </a:lnTo>
                <a:lnTo>
                  <a:pt x="53987" y="359911"/>
                </a:lnTo>
                <a:lnTo>
                  <a:pt x="0" y="359911"/>
                </a:lnTo>
                <a:lnTo>
                  <a:pt x="0" y="0"/>
                </a:lnTo>
                <a:close/>
              </a:path>
            </a:pathLst>
          </a:custGeom>
          <a:solidFill>
            <a:srgbClr val="B89A6A"/>
          </a:solidFill>
        </p:spPr>
      </p:sp>
      <p:sp>
        <p:nvSpPr>
          <p:cNvPr id="3" name="Text 1"/>
          <p:cNvSpPr/>
          <p:nvPr/>
        </p:nvSpPr>
        <p:spPr>
          <a:xfrm>
            <a:off x="521872" y="359911"/>
            <a:ext cx="3977021" cy="215947"/>
          </a:xfrm>
          <a:prstGeom prst="rect">
            <a:avLst/>
          </a:prstGeom>
          <a:noFill/>
        </p:spPr>
        <p:txBody>
          <a:bodyPr wrap="square" lIns="0" tIns="0" rIns="0" bIns="0" rtlCol="0" anchor="ctr"/>
          <a:lstStyle/>
          <a:p>
            <a:pPr>
              <a:lnSpc>
                <a:spcPct val="130000"/>
              </a:lnSpc>
            </a:pPr>
            <a:r>
              <a:rPr lang="en-US" sz="1135" b="1" kern="0" spc="57" dirty="0">
                <a:solidFill>
                  <a:srgbClr val="B89A6A"/>
                </a:solidFill>
                <a:latin typeface="Liter" panose="02000503030000020004" pitchFamily="34" charset="0"/>
                <a:ea typeface="Liter" panose="02000503030000020004" pitchFamily="34" charset="-122"/>
                <a:cs typeface="Liter" panose="02000503030000020004" pitchFamily="34" charset="-120"/>
              </a:rPr>
              <a:t>REGULATORY COMPLIANCE</a:t>
            </a:r>
            <a:endParaRPr lang="en-US" sz="1600" dirty="0"/>
          </a:p>
        </p:txBody>
      </p:sp>
      <p:sp>
        <p:nvSpPr>
          <p:cNvPr id="4" name="Text 2"/>
          <p:cNvSpPr/>
          <p:nvPr/>
        </p:nvSpPr>
        <p:spPr>
          <a:xfrm>
            <a:off x="521872" y="575858"/>
            <a:ext cx="4066999" cy="359911"/>
          </a:xfrm>
          <a:prstGeom prst="rect">
            <a:avLst/>
          </a:prstGeom>
          <a:noFill/>
        </p:spPr>
        <p:txBody>
          <a:bodyPr wrap="square" lIns="0" tIns="0" rIns="0" bIns="0" rtlCol="0" anchor="ctr"/>
          <a:lstStyle/>
          <a:p>
            <a:pPr>
              <a:lnSpc>
                <a:spcPct val="90000"/>
              </a:lnSpc>
            </a:pPr>
            <a:r>
              <a:rPr lang="en-US" sz="255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Audit &amp; Compliance Update</a:t>
            </a:r>
            <a:endParaRPr lang="en-US" sz="1600" dirty="0"/>
          </a:p>
        </p:txBody>
      </p:sp>
      <p:sp>
        <p:nvSpPr>
          <p:cNvPr id="5" name="Shape 3"/>
          <p:cNvSpPr/>
          <p:nvPr/>
        </p:nvSpPr>
        <p:spPr>
          <a:xfrm>
            <a:off x="368909" y="1088732"/>
            <a:ext cx="5641612" cy="2663345"/>
          </a:xfrm>
          <a:custGeom>
            <a:avLst/>
            <a:gdLst/>
            <a:ahLst/>
            <a:cxnLst/>
            <a:rect l="l" t="t" r="r" b="b"/>
            <a:pathLst>
              <a:path w="5641612" h="2663345">
                <a:moveTo>
                  <a:pt x="71990" y="0"/>
                </a:moveTo>
                <a:lnTo>
                  <a:pt x="5569622" y="0"/>
                </a:lnTo>
                <a:cubicBezTo>
                  <a:pt x="5609381" y="0"/>
                  <a:pt x="5641612" y="32231"/>
                  <a:pt x="5641612" y="71990"/>
                </a:cubicBezTo>
                <a:lnTo>
                  <a:pt x="5641612" y="2591354"/>
                </a:lnTo>
                <a:cubicBezTo>
                  <a:pt x="5641612" y="2631114"/>
                  <a:pt x="5609381" y="2663345"/>
                  <a:pt x="5569622" y="2663345"/>
                </a:cubicBezTo>
                <a:lnTo>
                  <a:pt x="71990" y="2663345"/>
                </a:lnTo>
                <a:cubicBezTo>
                  <a:pt x="32231" y="2663345"/>
                  <a:pt x="0" y="2631114"/>
                  <a:pt x="0" y="2591354"/>
                </a:cubicBezTo>
                <a:lnTo>
                  <a:pt x="0" y="71990"/>
                </a:lnTo>
                <a:cubicBezTo>
                  <a:pt x="0" y="32231"/>
                  <a:pt x="32231" y="0"/>
                  <a:pt x="71990" y="0"/>
                </a:cubicBezTo>
                <a:close/>
              </a:path>
            </a:pathLst>
          </a:custGeom>
          <a:solidFill>
            <a:srgbClr val="B89A6A">
              <a:alpha val="10196"/>
            </a:srgbClr>
          </a:solidFill>
          <a:ln w="25400">
            <a:solidFill>
              <a:srgbClr val="B89A6A">
                <a:alpha val="40000"/>
              </a:srgbClr>
            </a:solidFill>
            <a:prstDash val="solid"/>
          </a:ln>
        </p:spPr>
      </p:sp>
      <p:sp>
        <p:nvSpPr>
          <p:cNvPr id="6" name="Shape 4"/>
          <p:cNvSpPr/>
          <p:nvPr/>
        </p:nvSpPr>
        <p:spPr>
          <a:xfrm>
            <a:off x="557863" y="1277686"/>
            <a:ext cx="575858" cy="575858"/>
          </a:xfrm>
          <a:custGeom>
            <a:avLst/>
            <a:gdLst/>
            <a:ahLst/>
            <a:cxnLst/>
            <a:rect l="l" t="t" r="r" b="b"/>
            <a:pathLst>
              <a:path w="575858" h="575858">
                <a:moveTo>
                  <a:pt x="71982" y="0"/>
                </a:moveTo>
                <a:lnTo>
                  <a:pt x="503876" y="0"/>
                </a:lnTo>
                <a:cubicBezTo>
                  <a:pt x="543631" y="0"/>
                  <a:pt x="575858" y="32228"/>
                  <a:pt x="575858" y="71982"/>
                </a:cubicBezTo>
                <a:lnTo>
                  <a:pt x="575858" y="503876"/>
                </a:lnTo>
                <a:cubicBezTo>
                  <a:pt x="575858" y="543631"/>
                  <a:pt x="543631" y="575858"/>
                  <a:pt x="503876" y="575858"/>
                </a:cubicBezTo>
                <a:lnTo>
                  <a:pt x="71982" y="575858"/>
                </a:lnTo>
                <a:cubicBezTo>
                  <a:pt x="32228" y="575858"/>
                  <a:pt x="0" y="543631"/>
                  <a:pt x="0" y="503876"/>
                </a:cubicBezTo>
                <a:lnTo>
                  <a:pt x="0" y="71982"/>
                </a:lnTo>
                <a:cubicBezTo>
                  <a:pt x="0" y="32254"/>
                  <a:pt x="32254" y="0"/>
                  <a:pt x="71982" y="0"/>
                </a:cubicBezTo>
                <a:close/>
              </a:path>
            </a:pathLst>
          </a:custGeom>
          <a:solidFill>
            <a:srgbClr val="B89A6A">
              <a:alpha val="20000"/>
            </a:srgbClr>
          </a:solidFill>
        </p:spPr>
      </p:sp>
      <p:sp>
        <p:nvSpPr>
          <p:cNvPr id="7" name="Shape 5"/>
          <p:cNvSpPr/>
          <p:nvPr/>
        </p:nvSpPr>
        <p:spPr>
          <a:xfrm>
            <a:off x="746816" y="1430648"/>
            <a:ext cx="202450" cy="269934"/>
          </a:xfrm>
          <a:custGeom>
            <a:avLst/>
            <a:gdLst/>
            <a:ahLst/>
            <a:cxnLst/>
            <a:rect l="l" t="t" r="r" b="b"/>
            <a:pathLst>
              <a:path w="202450" h="269934">
                <a:moveTo>
                  <a:pt x="164174" y="16871"/>
                </a:moveTo>
                <a:lnTo>
                  <a:pt x="168708" y="16871"/>
                </a:lnTo>
                <a:cubicBezTo>
                  <a:pt x="187319" y="16871"/>
                  <a:pt x="202450" y="32002"/>
                  <a:pt x="202450" y="50613"/>
                </a:cubicBezTo>
                <a:lnTo>
                  <a:pt x="202450" y="236192"/>
                </a:lnTo>
                <a:cubicBezTo>
                  <a:pt x="202450" y="254803"/>
                  <a:pt x="187319" y="269934"/>
                  <a:pt x="168708" y="269934"/>
                </a:cubicBezTo>
                <a:lnTo>
                  <a:pt x="33742" y="269934"/>
                </a:lnTo>
                <a:cubicBezTo>
                  <a:pt x="15131" y="269934"/>
                  <a:pt x="0" y="254803"/>
                  <a:pt x="0" y="236192"/>
                </a:cubicBezTo>
                <a:lnTo>
                  <a:pt x="0" y="50613"/>
                </a:lnTo>
                <a:cubicBezTo>
                  <a:pt x="0" y="32002"/>
                  <a:pt x="15131" y="16871"/>
                  <a:pt x="33742" y="16871"/>
                </a:cubicBezTo>
                <a:lnTo>
                  <a:pt x="38276" y="16871"/>
                </a:lnTo>
                <a:cubicBezTo>
                  <a:pt x="44075" y="6801"/>
                  <a:pt x="54988" y="0"/>
                  <a:pt x="67483" y="0"/>
                </a:cubicBezTo>
                <a:lnTo>
                  <a:pt x="134967" y="0"/>
                </a:lnTo>
                <a:cubicBezTo>
                  <a:pt x="147462" y="0"/>
                  <a:pt x="158375" y="6801"/>
                  <a:pt x="164174" y="16871"/>
                </a:cubicBezTo>
                <a:close/>
                <a:moveTo>
                  <a:pt x="130749" y="59048"/>
                </a:moveTo>
                <a:cubicBezTo>
                  <a:pt x="137761" y="59048"/>
                  <a:pt x="143402" y="53407"/>
                  <a:pt x="143402" y="46395"/>
                </a:cubicBezTo>
                <a:cubicBezTo>
                  <a:pt x="143402" y="39383"/>
                  <a:pt x="137761" y="33742"/>
                  <a:pt x="130749" y="33742"/>
                </a:cubicBezTo>
                <a:lnTo>
                  <a:pt x="71701" y="33742"/>
                </a:lnTo>
                <a:cubicBezTo>
                  <a:pt x="64689" y="33742"/>
                  <a:pt x="59048" y="39383"/>
                  <a:pt x="59048" y="46395"/>
                </a:cubicBezTo>
                <a:cubicBezTo>
                  <a:pt x="59048" y="53407"/>
                  <a:pt x="64689" y="59048"/>
                  <a:pt x="71701" y="59048"/>
                </a:cubicBezTo>
                <a:lnTo>
                  <a:pt x="130749" y="59048"/>
                </a:lnTo>
                <a:close/>
                <a:moveTo>
                  <a:pt x="145722" y="137445"/>
                </a:moveTo>
                <a:cubicBezTo>
                  <a:pt x="149412" y="131540"/>
                  <a:pt x="147620" y="123737"/>
                  <a:pt x="141715" y="119994"/>
                </a:cubicBezTo>
                <a:cubicBezTo>
                  <a:pt x="135810" y="116251"/>
                  <a:pt x="128008" y="118096"/>
                  <a:pt x="124264" y="124001"/>
                </a:cubicBezTo>
                <a:lnTo>
                  <a:pt x="91893" y="175826"/>
                </a:lnTo>
                <a:lnTo>
                  <a:pt x="77659" y="156846"/>
                </a:lnTo>
                <a:cubicBezTo>
                  <a:pt x="73441" y="151258"/>
                  <a:pt x="65533" y="150098"/>
                  <a:pt x="59944" y="154316"/>
                </a:cubicBezTo>
                <a:cubicBezTo>
                  <a:pt x="54356" y="158533"/>
                  <a:pt x="53196" y="166441"/>
                  <a:pt x="57414" y="172030"/>
                </a:cubicBezTo>
                <a:lnTo>
                  <a:pt x="82720" y="205772"/>
                </a:lnTo>
                <a:cubicBezTo>
                  <a:pt x="85198" y="209093"/>
                  <a:pt x="89205" y="210991"/>
                  <a:pt x="93370" y="210833"/>
                </a:cubicBezTo>
                <a:cubicBezTo>
                  <a:pt x="97535" y="210675"/>
                  <a:pt x="101331" y="208460"/>
                  <a:pt x="103545" y="204875"/>
                </a:cubicBezTo>
                <a:lnTo>
                  <a:pt x="145722" y="137392"/>
                </a:lnTo>
                <a:close/>
              </a:path>
            </a:pathLst>
          </a:custGeom>
          <a:solidFill>
            <a:srgbClr val="B89A6A"/>
          </a:solidFill>
        </p:spPr>
      </p:sp>
      <p:sp>
        <p:nvSpPr>
          <p:cNvPr id="8" name="Text 6"/>
          <p:cNvSpPr/>
          <p:nvPr/>
        </p:nvSpPr>
        <p:spPr>
          <a:xfrm>
            <a:off x="1277686" y="1313677"/>
            <a:ext cx="1412652" cy="287929"/>
          </a:xfrm>
          <a:prstGeom prst="rect">
            <a:avLst/>
          </a:prstGeom>
          <a:noFill/>
        </p:spPr>
        <p:txBody>
          <a:bodyPr wrap="square" lIns="0" tIns="0" rIns="0" bIns="0" rtlCol="0" anchor="ctr"/>
          <a:lstStyle/>
          <a:p>
            <a:pPr>
              <a:lnSpc>
                <a:spcPct val="110000"/>
              </a:lnSpc>
            </a:pPr>
            <a:r>
              <a:rPr lang="en-US" sz="17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Big Four Audit</a:t>
            </a:r>
            <a:endParaRPr lang="en-US" sz="1600" dirty="0"/>
          </a:p>
        </p:txBody>
      </p:sp>
      <p:sp>
        <p:nvSpPr>
          <p:cNvPr id="9" name="Text 7"/>
          <p:cNvSpPr/>
          <p:nvPr/>
        </p:nvSpPr>
        <p:spPr>
          <a:xfrm>
            <a:off x="1277686" y="1601606"/>
            <a:ext cx="1376661" cy="215947"/>
          </a:xfrm>
          <a:prstGeom prst="rect">
            <a:avLst/>
          </a:prstGeom>
          <a:noFill/>
        </p:spPr>
        <p:txBody>
          <a:bodyPr wrap="square" lIns="0" tIns="0" rIns="0" bIns="0" rtlCol="0" anchor="ctr"/>
          <a:lstStyle/>
          <a:p>
            <a:pPr>
              <a:lnSpc>
                <a:spcPct val="130000"/>
              </a:lnSpc>
            </a:pPr>
            <a:r>
              <a:rPr lang="en-US" sz="1135" b="1" dirty="0">
                <a:solidFill>
                  <a:srgbClr val="B89A6A"/>
                </a:solidFill>
                <a:latin typeface="Liter" panose="02000503030000020004" pitchFamily="34" charset="0"/>
                <a:ea typeface="Liter" panose="02000503030000020004" pitchFamily="34" charset="-122"/>
                <a:cs typeface="Liter" panose="02000503030000020004" pitchFamily="34" charset="-120"/>
              </a:rPr>
              <a:t>Currently Underway</a:t>
            </a:r>
            <a:endParaRPr lang="en-US" sz="1600" dirty="0"/>
          </a:p>
        </p:txBody>
      </p:sp>
      <p:sp>
        <p:nvSpPr>
          <p:cNvPr id="10" name="Text 8"/>
          <p:cNvSpPr/>
          <p:nvPr/>
        </p:nvSpPr>
        <p:spPr>
          <a:xfrm>
            <a:off x="557863" y="1997508"/>
            <a:ext cx="5344685" cy="791805"/>
          </a:xfrm>
          <a:prstGeom prst="rect">
            <a:avLst/>
          </a:prstGeom>
          <a:noFill/>
        </p:spPr>
        <p:txBody>
          <a:bodyPr wrap="square" lIns="0" tIns="0" rIns="0" bIns="0" rtlCol="0" anchor="ctr"/>
          <a:lstStyle/>
          <a:p>
            <a:pPr>
              <a:lnSpc>
                <a:spcPct val="140000"/>
              </a:lnSpc>
            </a:pPr>
            <a:r>
              <a:rPr lang="en-US" sz="1275" dirty="0">
                <a:solidFill>
                  <a:srgbClr val="78828A"/>
                </a:solidFill>
                <a:latin typeface="Liter" panose="02000503030000020004" pitchFamily="34" charset="0"/>
                <a:ea typeface="Liter" panose="02000503030000020004" pitchFamily="34" charset="-122"/>
                <a:cs typeface="Liter" panose="02000503030000020004" pitchFamily="34" charset="-120"/>
              </a:rPr>
              <a:t>AxiomShift has engaged a leading global accounting firm to conduct a comprehensive financial audit. The audit process is progressing according to schedule with full cooperation from all departments.</a:t>
            </a:r>
            <a:endParaRPr lang="en-US" sz="1600" dirty="0"/>
          </a:p>
        </p:txBody>
      </p:sp>
      <p:sp>
        <p:nvSpPr>
          <p:cNvPr id="11" name="Shape 9"/>
          <p:cNvSpPr/>
          <p:nvPr/>
        </p:nvSpPr>
        <p:spPr>
          <a:xfrm>
            <a:off x="562362" y="2935528"/>
            <a:ext cx="2573367" cy="620847"/>
          </a:xfrm>
          <a:custGeom>
            <a:avLst/>
            <a:gdLst/>
            <a:ahLst/>
            <a:cxnLst/>
            <a:rect l="l" t="t" r="r" b="b"/>
            <a:pathLst>
              <a:path w="2573367" h="620847">
                <a:moveTo>
                  <a:pt x="71981" y="0"/>
                </a:moveTo>
                <a:lnTo>
                  <a:pt x="2501386" y="0"/>
                </a:lnTo>
                <a:cubicBezTo>
                  <a:pt x="2541140" y="0"/>
                  <a:pt x="2573367" y="32227"/>
                  <a:pt x="2573367" y="71981"/>
                </a:cubicBezTo>
                <a:lnTo>
                  <a:pt x="2573367" y="548866"/>
                </a:lnTo>
                <a:cubicBezTo>
                  <a:pt x="2573367" y="588620"/>
                  <a:pt x="2541140" y="620847"/>
                  <a:pt x="2501386" y="620847"/>
                </a:cubicBezTo>
                <a:lnTo>
                  <a:pt x="71981" y="620847"/>
                </a:lnTo>
                <a:cubicBezTo>
                  <a:pt x="32254" y="620847"/>
                  <a:pt x="0" y="588594"/>
                  <a:pt x="0" y="548866"/>
                </a:cubicBezTo>
                <a:lnTo>
                  <a:pt x="0" y="71981"/>
                </a:lnTo>
                <a:cubicBezTo>
                  <a:pt x="0" y="32254"/>
                  <a:pt x="32254" y="0"/>
                  <a:pt x="71981" y="0"/>
                </a:cubicBezTo>
                <a:close/>
              </a:path>
            </a:pathLst>
          </a:custGeom>
          <a:solidFill>
            <a:srgbClr val="1A1D24">
              <a:alpha val="60000"/>
            </a:srgbClr>
          </a:solidFill>
          <a:ln w="12700">
            <a:solidFill>
              <a:srgbClr val="B89A6A">
                <a:alpha val="30196"/>
              </a:srgbClr>
            </a:solidFill>
            <a:prstDash val="solid"/>
          </a:ln>
        </p:spPr>
      </p:sp>
      <p:sp>
        <p:nvSpPr>
          <p:cNvPr id="12" name="Shape 10"/>
          <p:cNvSpPr/>
          <p:nvPr/>
        </p:nvSpPr>
        <p:spPr>
          <a:xfrm>
            <a:off x="707451" y="3164971"/>
            <a:ext cx="141715" cy="161960"/>
          </a:xfrm>
          <a:custGeom>
            <a:avLst/>
            <a:gdLst/>
            <a:ahLst/>
            <a:cxnLst/>
            <a:rect l="l" t="t" r="r" b="b"/>
            <a:pathLst>
              <a:path w="141715" h="161960">
                <a:moveTo>
                  <a:pt x="40490" y="0"/>
                </a:moveTo>
                <a:cubicBezTo>
                  <a:pt x="34891" y="0"/>
                  <a:pt x="30368" y="4523"/>
                  <a:pt x="30368" y="10123"/>
                </a:cubicBezTo>
                <a:lnTo>
                  <a:pt x="30368" y="20245"/>
                </a:lnTo>
                <a:lnTo>
                  <a:pt x="20245" y="20245"/>
                </a:lnTo>
                <a:cubicBezTo>
                  <a:pt x="9079" y="20245"/>
                  <a:pt x="0" y="29324"/>
                  <a:pt x="0" y="40490"/>
                </a:cubicBezTo>
                <a:lnTo>
                  <a:pt x="0" y="55674"/>
                </a:lnTo>
                <a:lnTo>
                  <a:pt x="141715" y="55674"/>
                </a:lnTo>
                <a:lnTo>
                  <a:pt x="141715" y="40490"/>
                </a:lnTo>
                <a:cubicBezTo>
                  <a:pt x="141715" y="29324"/>
                  <a:pt x="132637" y="20245"/>
                  <a:pt x="121470" y="20245"/>
                </a:cubicBezTo>
                <a:lnTo>
                  <a:pt x="111348" y="20245"/>
                </a:lnTo>
                <a:lnTo>
                  <a:pt x="111348" y="10123"/>
                </a:lnTo>
                <a:cubicBezTo>
                  <a:pt x="111348" y="4523"/>
                  <a:pt x="106824" y="0"/>
                  <a:pt x="101225" y="0"/>
                </a:cubicBezTo>
                <a:cubicBezTo>
                  <a:pt x="95626" y="0"/>
                  <a:pt x="91103" y="4523"/>
                  <a:pt x="91103" y="10123"/>
                </a:cubicBezTo>
                <a:lnTo>
                  <a:pt x="91103" y="20245"/>
                </a:lnTo>
                <a:lnTo>
                  <a:pt x="50613" y="20245"/>
                </a:lnTo>
                <a:lnTo>
                  <a:pt x="50613" y="10123"/>
                </a:lnTo>
                <a:cubicBezTo>
                  <a:pt x="50613" y="4523"/>
                  <a:pt x="46089" y="0"/>
                  <a:pt x="40490" y="0"/>
                </a:cubicBezTo>
                <a:close/>
                <a:moveTo>
                  <a:pt x="0" y="70858"/>
                </a:moveTo>
                <a:lnTo>
                  <a:pt x="0" y="131593"/>
                </a:lnTo>
                <a:cubicBezTo>
                  <a:pt x="0" y="142759"/>
                  <a:pt x="9079" y="151838"/>
                  <a:pt x="20245" y="151838"/>
                </a:cubicBezTo>
                <a:lnTo>
                  <a:pt x="121470" y="151838"/>
                </a:lnTo>
                <a:cubicBezTo>
                  <a:pt x="132637" y="151838"/>
                  <a:pt x="141715" y="142759"/>
                  <a:pt x="141715" y="131593"/>
                </a:cubicBezTo>
                <a:lnTo>
                  <a:pt x="141715" y="70858"/>
                </a:lnTo>
                <a:lnTo>
                  <a:pt x="0" y="70858"/>
                </a:lnTo>
                <a:close/>
              </a:path>
            </a:pathLst>
          </a:custGeom>
          <a:solidFill>
            <a:srgbClr val="B89A6A"/>
          </a:solidFill>
        </p:spPr>
      </p:sp>
      <p:sp>
        <p:nvSpPr>
          <p:cNvPr id="13" name="Text 11"/>
          <p:cNvSpPr/>
          <p:nvPr/>
        </p:nvSpPr>
        <p:spPr>
          <a:xfrm>
            <a:off x="985258" y="3048000"/>
            <a:ext cx="962763" cy="179956"/>
          </a:xfrm>
          <a:prstGeom prst="rect">
            <a:avLst/>
          </a:prstGeom>
          <a:noFill/>
        </p:spPr>
        <p:txBody>
          <a:bodyPr wrap="square" lIns="0" tIns="0" rIns="0" bIns="0" rtlCol="0" anchor="ctr"/>
          <a:lstStyle/>
          <a:p>
            <a:pPr>
              <a:lnSpc>
                <a:spcPct val="120000"/>
              </a:lnSpc>
            </a:pPr>
            <a:r>
              <a:rPr lang="en-US" sz="990" dirty="0">
                <a:solidFill>
                  <a:srgbClr val="78828A"/>
                </a:solidFill>
                <a:latin typeface="Liter" panose="02000503030000020004" pitchFamily="34" charset="0"/>
                <a:ea typeface="Liter" panose="02000503030000020004" pitchFamily="34" charset="-122"/>
                <a:cs typeface="Liter" panose="02000503030000020004" pitchFamily="34" charset="-120"/>
              </a:rPr>
              <a:t>Audit Start</a:t>
            </a:r>
            <a:endParaRPr lang="en-US" sz="1600" dirty="0"/>
          </a:p>
        </p:txBody>
      </p:sp>
      <p:sp>
        <p:nvSpPr>
          <p:cNvPr id="14" name="Text 12"/>
          <p:cNvSpPr/>
          <p:nvPr/>
        </p:nvSpPr>
        <p:spPr>
          <a:xfrm>
            <a:off x="985258" y="3227956"/>
            <a:ext cx="971761" cy="215947"/>
          </a:xfrm>
          <a:prstGeom prst="rect">
            <a:avLst/>
          </a:prstGeom>
          <a:noFill/>
        </p:spPr>
        <p:txBody>
          <a:bodyPr wrap="square" lIns="0" tIns="0" rIns="0" bIns="0" rtlCol="0" anchor="ctr"/>
          <a:lstStyle/>
          <a:p>
            <a:pPr>
              <a:lnSpc>
                <a:spcPct val="130000"/>
              </a:lnSpc>
            </a:pPr>
            <a:r>
              <a:rPr lang="en-US" sz="1135" b="1" dirty="0">
                <a:solidFill>
                  <a:srgbClr val="E0E2E5"/>
                </a:solidFill>
                <a:latin typeface="Liter" panose="02000503030000020004" pitchFamily="34" charset="0"/>
                <a:ea typeface="Liter" panose="02000503030000020004" pitchFamily="34" charset="-122"/>
                <a:cs typeface="Liter" panose="02000503030000020004" pitchFamily="34" charset="-120"/>
              </a:rPr>
              <a:t>March 1, 2026</a:t>
            </a:r>
            <a:endParaRPr lang="en-US" sz="1600" dirty="0"/>
          </a:p>
        </p:txBody>
      </p:sp>
      <p:sp>
        <p:nvSpPr>
          <p:cNvPr id="15" name="Shape 13"/>
          <p:cNvSpPr/>
          <p:nvPr/>
        </p:nvSpPr>
        <p:spPr>
          <a:xfrm>
            <a:off x="3249677" y="2935528"/>
            <a:ext cx="2573367" cy="620847"/>
          </a:xfrm>
          <a:custGeom>
            <a:avLst/>
            <a:gdLst/>
            <a:ahLst/>
            <a:cxnLst/>
            <a:rect l="l" t="t" r="r" b="b"/>
            <a:pathLst>
              <a:path w="2573367" h="620847">
                <a:moveTo>
                  <a:pt x="71981" y="0"/>
                </a:moveTo>
                <a:lnTo>
                  <a:pt x="2501386" y="0"/>
                </a:lnTo>
                <a:cubicBezTo>
                  <a:pt x="2541140" y="0"/>
                  <a:pt x="2573367" y="32227"/>
                  <a:pt x="2573367" y="71981"/>
                </a:cubicBezTo>
                <a:lnTo>
                  <a:pt x="2573367" y="548866"/>
                </a:lnTo>
                <a:cubicBezTo>
                  <a:pt x="2573367" y="588620"/>
                  <a:pt x="2541140" y="620847"/>
                  <a:pt x="2501386" y="620847"/>
                </a:cubicBezTo>
                <a:lnTo>
                  <a:pt x="71981" y="620847"/>
                </a:lnTo>
                <a:cubicBezTo>
                  <a:pt x="32254" y="620847"/>
                  <a:pt x="0" y="588594"/>
                  <a:pt x="0" y="548866"/>
                </a:cubicBezTo>
                <a:lnTo>
                  <a:pt x="0" y="71981"/>
                </a:lnTo>
                <a:cubicBezTo>
                  <a:pt x="0" y="32254"/>
                  <a:pt x="32254" y="0"/>
                  <a:pt x="71981" y="0"/>
                </a:cubicBezTo>
                <a:close/>
              </a:path>
            </a:pathLst>
          </a:custGeom>
          <a:solidFill>
            <a:srgbClr val="1A1D24">
              <a:alpha val="60000"/>
            </a:srgbClr>
          </a:solidFill>
          <a:ln w="12700">
            <a:solidFill>
              <a:srgbClr val="B89A6A">
                <a:alpha val="30196"/>
              </a:srgbClr>
            </a:solidFill>
            <a:prstDash val="solid"/>
          </a:ln>
        </p:spPr>
      </p:sp>
      <p:sp>
        <p:nvSpPr>
          <p:cNvPr id="16" name="Shape 14"/>
          <p:cNvSpPr/>
          <p:nvPr/>
        </p:nvSpPr>
        <p:spPr>
          <a:xfrm>
            <a:off x="3394766" y="3164971"/>
            <a:ext cx="141715" cy="161960"/>
          </a:xfrm>
          <a:custGeom>
            <a:avLst/>
            <a:gdLst/>
            <a:ahLst/>
            <a:cxnLst/>
            <a:rect l="l" t="t" r="r" b="b"/>
            <a:pathLst>
              <a:path w="141715" h="161960">
                <a:moveTo>
                  <a:pt x="10123" y="0"/>
                </a:moveTo>
                <a:cubicBezTo>
                  <a:pt x="15722" y="0"/>
                  <a:pt x="20245" y="4523"/>
                  <a:pt x="20245" y="10123"/>
                </a:cubicBezTo>
                <a:lnTo>
                  <a:pt x="20245" y="15184"/>
                </a:lnTo>
                <a:lnTo>
                  <a:pt x="42072" y="9743"/>
                </a:lnTo>
                <a:cubicBezTo>
                  <a:pt x="54124" y="6738"/>
                  <a:pt x="66840" y="8130"/>
                  <a:pt x="77975" y="13697"/>
                </a:cubicBezTo>
                <a:cubicBezTo>
                  <a:pt x="92621" y="21036"/>
                  <a:pt x="109861" y="21036"/>
                  <a:pt x="124507" y="13697"/>
                </a:cubicBezTo>
                <a:lnTo>
                  <a:pt x="127544" y="12179"/>
                </a:lnTo>
                <a:cubicBezTo>
                  <a:pt x="134060" y="8889"/>
                  <a:pt x="141715" y="13634"/>
                  <a:pt x="141715" y="20909"/>
                </a:cubicBezTo>
                <a:lnTo>
                  <a:pt x="141715" y="109386"/>
                </a:lnTo>
                <a:cubicBezTo>
                  <a:pt x="141715" y="113594"/>
                  <a:pt x="139090" y="117389"/>
                  <a:pt x="135135" y="118876"/>
                </a:cubicBezTo>
                <a:lnTo>
                  <a:pt x="124159" y="122988"/>
                </a:lnTo>
                <a:cubicBezTo>
                  <a:pt x="109545" y="128461"/>
                  <a:pt x="93285" y="127607"/>
                  <a:pt x="79335" y="120648"/>
                </a:cubicBezTo>
                <a:cubicBezTo>
                  <a:pt x="67346" y="114637"/>
                  <a:pt x="53586" y="113151"/>
                  <a:pt x="40585" y="116409"/>
                </a:cubicBezTo>
                <a:lnTo>
                  <a:pt x="20245" y="121470"/>
                </a:lnTo>
                <a:lnTo>
                  <a:pt x="20245" y="151838"/>
                </a:lnTo>
                <a:cubicBezTo>
                  <a:pt x="20245" y="157437"/>
                  <a:pt x="15722" y="161960"/>
                  <a:pt x="10123" y="161960"/>
                </a:cubicBezTo>
                <a:cubicBezTo>
                  <a:pt x="4523" y="161960"/>
                  <a:pt x="0" y="157437"/>
                  <a:pt x="0" y="151838"/>
                </a:cubicBezTo>
                <a:lnTo>
                  <a:pt x="0" y="10123"/>
                </a:lnTo>
                <a:cubicBezTo>
                  <a:pt x="0" y="4523"/>
                  <a:pt x="4523" y="0"/>
                  <a:pt x="10123" y="0"/>
                </a:cubicBezTo>
                <a:close/>
                <a:moveTo>
                  <a:pt x="20245" y="59185"/>
                </a:moveTo>
                <a:lnTo>
                  <a:pt x="40490" y="54788"/>
                </a:lnTo>
                <a:lnTo>
                  <a:pt x="40490" y="75508"/>
                </a:lnTo>
                <a:lnTo>
                  <a:pt x="20245" y="79905"/>
                </a:lnTo>
                <a:lnTo>
                  <a:pt x="20245" y="100624"/>
                </a:lnTo>
                <a:lnTo>
                  <a:pt x="35682" y="96765"/>
                </a:lnTo>
                <a:cubicBezTo>
                  <a:pt x="37295" y="96354"/>
                  <a:pt x="38877" y="96006"/>
                  <a:pt x="40490" y="95721"/>
                </a:cubicBezTo>
                <a:lnTo>
                  <a:pt x="40490" y="75508"/>
                </a:lnTo>
                <a:lnTo>
                  <a:pt x="52795" y="72850"/>
                </a:lnTo>
                <a:cubicBezTo>
                  <a:pt x="55421" y="72281"/>
                  <a:pt x="58078" y="72060"/>
                  <a:pt x="60735" y="72186"/>
                </a:cubicBezTo>
                <a:lnTo>
                  <a:pt x="60735" y="51941"/>
                </a:lnTo>
                <a:cubicBezTo>
                  <a:pt x="65037" y="52068"/>
                  <a:pt x="69339" y="52764"/>
                  <a:pt x="73515" y="53966"/>
                </a:cubicBezTo>
                <a:lnTo>
                  <a:pt x="80980" y="56148"/>
                </a:lnTo>
                <a:lnTo>
                  <a:pt x="80980" y="77247"/>
                </a:lnTo>
                <a:lnTo>
                  <a:pt x="67789" y="73357"/>
                </a:lnTo>
                <a:cubicBezTo>
                  <a:pt x="65480" y="72692"/>
                  <a:pt x="63108" y="72281"/>
                  <a:pt x="60735" y="72155"/>
                </a:cubicBezTo>
                <a:lnTo>
                  <a:pt x="60735" y="94740"/>
                </a:lnTo>
                <a:cubicBezTo>
                  <a:pt x="67631" y="95341"/>
                  <a:pt x="74432" y="96860"/>
                  <a:pt x="80980" y="99295"/>
                </a:cubicBezTo>
                <a:lnTo>
                  <a:pt x="80980" y="77216"/>
                </a:lnTo>
                <a:lnTo>
                  <a:pt x="88161" y="79335"/>
                </a:lnTo>
                <a:cubicBezTo>
                  <a:pt x="92431" y="80600"/>
                  <a:pt x="96796" y="81360"/>
                  <a:pt x="101225" y="81676"/>
                </a:cubicBezTo>
                <a:lnTo>
                  <a:pt x="101225" y="61368"/>
                </a:lnTo>
                <a:cubicBezTo>
                  <a:pt x="98758" y="61115"/>
                  <a:pt x="96290" y="60640"/>
                  <a:pt x="93886" y="59944"/>
                </a:cubicBezTo>
                <a:lnTo>
                  <a:pt x="80980" y="56148"/>
                </a:lnTo>
                <a:lnTo>
                  <a:pt x="80980" y="36536"/>
                </a:lnTo>
                <a:cubicBezTo>
                  <a:pt x="76868" y="35334"/>
                  <a:pt x="72819" y="33752"/>
                  <a:pt x="68896" y="31791"/>
                </a:cubicBezTo>
                <a:cubicBezTo>
                  <a:pt x="66302" y="30494"/>
                  <a:pt x="63550" y="29577"/>
                  <a:pt x="60735" y="29007"/>
                </a:cubicBezTo>
                <a:lnTo>
                  <a:pt x="60735" y="51909"/>
                </a:lnTo>
                <a:cubicBezTo>
                  <a:pt x="56623" y="51783"/>
                  <a:pt x="52511" y="52163"/>
                  <a:pt x="48493" y="53048"/>
                </a:cubicBezTo>
                <a:lnTo>
                  <a:pt x="40490" y="54788"/>
                </a:lnTo>
                <a:lnTo>
                  <a:pt x="40490" y="31000"/>
                </a:lnTo>
                <a:lnTo>
                  <a:pt x="20245" y="36061"/>
                </a:lnTo>
                <a:lnTo>
                  <a:pt x="20245" y="59185"/>
                </a:lnTo>
                <a:close/>
                <a:moveTo>
                  <a:pt x="101225" y="106191"/>
                </a:moveTo>
                <a:cubicBezTo>
                  <a:pt x="106539" y="106666"/>
                  <a:pt x="111949" y="105970"/>
                  <a:pt x="117042" y="104040"/>
                </a:cubicBezTo>
                <a:lnTo>
                  <a:pt x="121470" y="102396"/>
                </a:lnTo>
                <a:lnTo>
                  <a:pt x="121470" y="79715"/>
                </a:lnTo>
                <a:lnTo>
                  <a:pt x="118971" y="80284"/>
                </a:lnTo>
                <a:cubicBezTo>
                  <a:pt x="113151" y="81644"/>
                  <a:pt x="107172" y="82087"/>
                  <a:pt x="101225" y="81708"/>
                </a:cubicBezTo>
                <a:lnTo>
                  <a:pt x="101225" y="106191"/>
                </a:lnTo>
                <a:close/>
                <a:moveTo>
                  <a:pt x="121470" y="58932"/>
                </a:moveTo>
                <a:lnTo>
                  <a:pt x="121470" y="36536"/>
                </a:lnTo>
                <a:cubicBezTo>
                  <a:pt x="114859" y="38466"/>
                  <a:pt x="108058" y="39415"/>
                  <a:pt x="101225" y="39415"/>
                </a:cubicBezTo>
                <a:lnTo>
                  <a:pt x="101225" y="61368"/>
                </a:lnTo>
                <a:cubicBezTo>
                  <a:pt x="105622" y="61811"/>
                  <a:pt x="110082" y="61526"/>
                  <a:pt x="114416" y="60545"/>
                </a:cubicBezTo>
                <a:lnTo>
                  <a:pt x="121470" y="58900"/>
                </a:lnTo>
                <a:close/>
              </a:path>
            </a:pathLst>
          </a:custGeom>
          <a:solidFill>
            <a:srgbClr val="B89A6A"/>
          </a:solidFill>
        </p:spPr>
      </p:sp>
      <p:sp>
        <p:nvSpPr>
          <p:cNvPr id="17" name="Text 15"/>
          <p:cNvSpPr/>
          <p:nvPr/>
        </p:nvSpPr>
        <p:spPr>
          <a:xfrm>
            <a:off x="3672573" y="3048000"/>
            <a:ext cx="1259690" cy="179956"/>
          </a:xfrm>
          <a:prstGeom prst="rect">
            <a:avLst/>
          </a:prstGeom>
          <a:noFill/>
        </p:spPr>
        <p:txBody>
          <a:bodyPr wrap="square" lIns="0" tIns="0" rIns="0" bIns="0" rtlCol="0" anchor="ctr"/>
          <a:lstStyle/>
          <a:p>
            <a:pPr>
              <a:lnSpc>
                <a:spcPct val="120000"/>
              </a:lnSpc>
            </a:pPr>
            <a:r>
              <a:rPr lang="en-US" sz="990" dirty="0">
                <a:solidFill>
                  <a:srgbClr val="78828A"/>
                </a:solidFill>
                <a:latin typeface="Liter" panose="02000503030000020004" pitchFamily="34" charset="0"/>
                <a:ea typeface="Liter" panose="02000503030000020004" pitchFamily="34" charset="-122"/>
                <a:cs typeface="Liter" panose="02000503030000020004" pitchFamily="34" charset="-120"/>
              </a:rPr>
              <a:t>Expected Completion</a:t>
            </a:r>
            <a:endParaRPr lang="en-US" sz="1600" dirty="0"/>
          </a:p>
        </p:txBody>
      </p:sp>
      <p:sp>
        <p:nvSpPr>
          <p:cNvPr id="18" name="Text 16"/>
          <p:cNvSpPr/>
          <p:nvPr/>
        </p:nvSpPr>
        <p:spPr>
          <a:xfrm>
            <a:off x="3672573" y="3227956"/>
            <a:ext cx="1268688" cy="215947"/>
          </a:xfrm>
          <a:prstGeom prst="rect">
            <a:avLst/>
          </a:prstGeom>
          <a:noFill/>
        </p:spPr>
        <p:txBody>
          <a:bodyPr wrap="square" lIns="0" tIns="0" rIns="0" bIns="0" rtlCol="0" anchor="ctr"/>
          <a:lstStyle/>
          <a:p>
            <a:pPr>
              <a:lnSpc>
                <a:spcPct val="130000"/>
              </a:lnSpc>
            </a:pPr>
            <a:r>
              <a:rPr lang="en-US" sz="1135" b="1" dirty="0">
                <a:solidFill>
                  <a:srgbClr val="E0E2E5"/>
                </a:solidFill>
                <a:latin typeface="Liter" panose="02000503030000020004" pitchFamily="34" charset="0"/>
                <a:ea typeface="Liter" panose="02000503030000020004" pitchFamily="34" charset="-122"/>
                <a:cs typeface="Liter" panose="02000503030000020004" pitchFamily="34" charset="-120"/>
              </a:rPr>
              <a:t>May 15, 2026</a:t>
            </a:r>
            <a:endParaRPr lang="en-US" sz="1600" dirty="0"/>
          </a:p>
        </p:txBody>
      </p:sp>
      <p:sp>
        <p:nvSpPr>
          <p:cNvPr id="19" name="Shape 17"/>
          <p:cNvSpPr/>
          <p:nvPr/>
        </p:nvSpPr>
        <p:spPr>
          <a:xfrm>
            <a:off x="364410" y="3871297"/>
            <a:ext cx="5650610" cy="2456396"/>
          </a:xfrm>
          <a:custGeom>
            <a:avLst/>
            <a:gdLst/>
            <a:ahLst/>
            <a:cxnLst/>
            <a:rect l="l" t="t" r="r" b="b"/>
            <a:pathLst>
              <a:path w="5650610" h="2456396">
                <a:moveTo>
                  <a:pt x="71972" y="0"/>
                </a:moveTo>
                <a:lnTo>
                  <a:pt x="5578637" y="0"/>
                </a:lnTo>
                <a:cubicBezTo>
                  <a:pt x="5618386" y="0"/>
                  <a:pt x="5650610" y="32223"/>
                  <a:pt x="5650610" y="71972"/>
                </a:cubicBezTo>
                <a:lnTo>
                  <a:pt x="5650610" y="2384423"/>
                </a:lnTo>
                <a:cubicBezTo>
                  <a:pt x="5650610" y="2424172"/>
                  <a:pt x="5618386" y="2456396"/>
                  <a:pt x="5578637" y="2456396"/>
                </a:cubicBezTo>
                <a:lnTo>
                  <a:pt x="71972" y="2456396"/>
                </a:lnTo>
                <a:cubicBezTo>
                  <a:pt x="32250" y="2456396"/>
                  <a:pt x="0" y="2424146"/>
                  <a:pt x="0" y="2384423"/>
                </a:cubicBezTo>
                <a:lnTo>
                  <a:pt x="0" y="71972"/>
                </a:lnTo>
                <a:cubicBezTo>
                  <a:pt x="0" y="32250"/>
                  <a:pt x="32250" y="0"/>
                  <a:pt x="71972" y="0"/>
                </a:cubicBezTo>
                <a:close/>
              </a:path>
            </a:pathLst>
          </a:custGeom>
          <a:solidFill>
            <a:srgbClr val="4A5C6A">
              <a:alpha val="10196"/>
            </a:srgbClr>
          </a:solidFill>
          <a:ln w="12700">
            <a:solidFill>
              <a:srgbClr val="4A5C6A">
                <a:alpha val="30196"/>
              </a:srgbClr>
            </a:solidFill>
            <a:prstDash val="solid"/>
          </a:ln>
        </p:spPr>
      </p:sp>
      <p:sp>
        <p:nvSpPr>
          <p:cNvPr id="20" name="Shape 18"/>
          <p:cNvSpPr/>
          <p:nvPr/>
        </p:nvSpPr>
        <p:spPr>
          <a:xfrm>
            <a:off x="535368" y="4064750"/>
            <a:ext cx="161960" cy="161960"/>
          </a:xfrm>
          <a:custGeom>
            <a:avLst/>
            <a:gdLst/>
            <a:ahLst/>
            <a:cxnLst/>
            <a:rect l="l" t="t" r="r" b="b"/>
            <a:pathLst>
              <a:path w="161960" h="161960">
                <a:moveTo>
                  <a:pt x="42325" y="11483"/>
                </a:moveTo>
                <a:cubicBezTo>
                  <a:pt x="45773" y="13887"/>
                  <a:pt x="46595" y="18632"/>
                  <a:pt x="44191" y="22048"/>
                </a:cubicBezTo>
                <a:lnTo>
                  <a:pt x="26477" y="47354"/>
                </a:lnTo>
                <a:cubicBezTo>
                  <a:pt x="25180" y="49189"/>
                  <a:pt x="23155" y="50359"/>
                  <a:pt x="20909" y="50549"/>
                </a:cubicBezTo>
                <a:cubicBezTo>
                  <a:pt x="18663" y="50739"/>
                  <a:pt x="16449" y="49980"/>
                  <a:pt x="14867" y="48398"/>
                </a:cubicBezTo>
                <a:lnTo>
                  <a:pt x="2214" y="35745"/>
                </a:lnTo>
                <a:cubicBezTo>
                  <a:pt x="-728" y="32772"/>
                  <a:pt x="-728" y="27963"/>
                  <a:pt x="2214" y="24990"/>
                </a:cubicBezTo>
                <a:cubicBezTo>
                  <a:pt x="5156" y="22016"/>
                  <a:pt x="9996" y="22048"/>
                  <a:pt x="12969" y="24990"/>
                </a:cubicBezTo>
                <a:lnTo>
                  <a:pt x="19233" y="31253"/>
                </a:lnTo>
                <a:lnTo>
                  <a:pt x="31759" y="13349"/>
                </a:lnTo>
                <a:cubicBezTo>
                  <a:pt x="34163" y="9901"/>
                  <a:pt x="38908" y="9079"/>
                  <a:pt x="42325" y="11483"/>
                </a:cubicBezTo>
                <a:close/>
                <a:moveTo>
                  <a:pt x="42325" y="62095"/>
                </a:moveTo>
                <a:cubicBezTo>
                  <a:pt x="45773" y="64499"/>
                  <a:pt x="46595" y="69244"/>
                  <a:pt x="44191" y="72661"/>
                </a:cubicBezTo>
                <a:lnTo>
                  <a:pt x="26477" y="97967"/>
                </a:lnTo>
                <a:cubicBezTo>
                  <a:pt x="25180" y="99802"/>
                  <a:pt x="23155" y="100972"/>
                  <a:pt x="20909" y="101162"/>
                </a:cubicBezTo>
                <a:cubicBezTo>
                  <a:pt x="18663" y="101352"/>
                  <a:pt x="16449" y="100592"/>
                  <a:pt x="14867" y="99011"/>
                </a:cubicBezTo>
                <a:lnTo>
                  <a:pt x="2214" y="86358"/>
                </a:lnTo>
                <a:cubicBezTo>
                  <a:pt x="-759" y="83384"/>
                  <a:pt x="-759" y="78576"/>
                  <a:pt x="2214" y="75634"/>
                </a:cubicBezTo>
                <a:cubicBezTo>
                  <a:pt x="5188" y="72692"/>
                  <a:pt x="9996" y="72661"/>
                  <a:pt x="12938" y="75634"/>
                </a:cubicBezTo>
                <a:lnTo>
                  <a:pt x="19201" y="81897"/>
                </a:lnTo>
                <a:lnTo>
                  <a:pt x="31728" y="63993"/>
                </a:lnTo>
                <a:cubicBezTo>
                  <a:pt x="34132" y="60545"/>
                  <a:pt x="38877" y="59723"/>
                  <a:pt x="42293" y="62127"/>
                </a:cubicBezTo>
                <a:close/>
                <a:moveTo>
                  <a:pt x="70858" y="30368"/>
                </a:moveTo>
                <a:cubicBezTo>
                  <a:pt x="70858" y="24769"/>
                  <a:pt x="75381" y="20245"/>
                  <a:pt x="80980" y="20245"/>
                </a:cubicBezTo>
                <a:lnTo>
                  <a:pt x="151838" y="20245"/>
                </a:lnTo>
                <a:cubicBezTo>
                  <a:pt x="157437" y="20245"/>
                  <a:pt x="161960" y="24769"/>
                  <a:pt x="161960" y="30368"/>
                </a:cubicBezTo>
                <a:cubicBezTo>
                  <a:pt x="161960" y="35967"/>
                  <a:pt x="157437" y="40490"/>
                  <a:pt x="151838" y="40490"/>
                </a:cubicBezTo>
                <a:lnTo>
                  <a:pt x="80980" y="40490"/>
                </a:lnTo>
                <a:cubicBezTo>
                  <a:pt x="75381" y="40490"/>
                  <a:pt x="70858" y="35967"/>
                  <a:pt x="70858" y="30368"/>
                </a:cubicBezTo>
                <a:close/>
                <a:moveTo>
                  <a:pt x="70858" y="80980"/>
                </a:moveTo>
                <a:cubicBezTo>
                  <a:pt x="70858" y="75381"/>
                  <a:pt x="75381" y="70858"/>
                  <a:pt x="80980" y="70858"/>
                </a:cubicBezTo>
                <a:lnTo>
                  <a:pt x="151838" y="70858"/>
                </a:lnTo>
                <a:cubicBezTo>
                  <a:pt x="157437" y="70858"/>
                  <a:pt x="161960" y="75381"/>
                  <a:pt x="161960" y="80980"/>
                </a:cubicBezTo>
                <a:cubicBezTo>
                  <a:pt x="161960" y="86579"/>
                  <a:pt x="157437" y="91103"/>
                  <a:pt x="151838" y="91103"/>
                </a:cubicBezTo>
                <a:lnTo>
                  <a:pt x="80980" y="91103"/>
                </a:lnTo>
                <a:cubicBezTo>
                  <a:pt x="75381" y="91103"/>
                  <a:pt x="70858" y="86579"/>
                  <a:pt x="70858" y="80980"/>
                </a:cubicBezTo>
                <a:close/>
                <a:moveTo>
                  <a:pt x="50613" y="131593"/>
                </a:moveTo>
                <a:cubicBezTo>
                  <a:pt x="50613" y="125994"/>
                  <a:pt x="55136" y="121470"/>
                  <a:pt x="60735" y="121470"/>
                </a:cubicBezTo>
                <a:lnTo>
                  <a:pt x="151838" y="121470"/>
                </a:lnTo>
                <a:cubicBezTo>
                  <a:pt x="157437" y="121470"/>
                  <a:pt x="161960" y="125994"/>
                  <a:pt x="161960" y="131593"/>
                </a:cubicBezTo>
                <a:cubicBezTo>
                  <a:pt x="161960" y="137192"/>
                  <a:pt x="157437" y="141715"/>
                  <a:pt x="151838" y="141715"/>
                </a:cubicBezTo>
                <a:lnTo>
                  <a:pt x="60735" y="141715"/>
                </a:lnTo>
                <a:cubicBezTo>
                  <a:pt x="55136" y="141715"/>
                  <a:pt x="50613" y="137192"/>
                  <a:pt x="50613" y="131593"/>
                </a:cubicBezTo>
                <a:close/>
                <a:moveTo>
                  <a:pt x="20245" y="118939"/>
                </a:moveTo>
                <a:cubicBezTo>
                  <a:pt x="27228" y="118939"/>
                  <a:pt x="32898" y="124609"/>
                  <a:pt x="32898" y="131593"/>
                </a:cubicBezTo>
                <a:cubicBezTo>
                  <a:pt x="32898" y="138576"/>
                  <a:pt x="27228" y="144246"/>
                  <a:pt x="20245" y="144246"/>
                </a:cubicBezTo>
                <a:cubicBezTo>
                  <a:pt x="13262" y="144246"/>
                  <a:pt x="7592" y="138576"/>
                  <a:pt x="7592" y="131593"/>
                </a:cubicBezTo>
                <a:cubicBezTo>
                  <a:pt x="7592" y="124609"/>
                  <a:pt x="13262" y="118939"/>
                  <a:pt x="20245" y="118939"/>
                </a:cubicBezTo>
                <a:close/>
              </a:path>
            </a:pathLst>
          </a:custGeom>
          <a:solidFill>
            <a:srgbClr val="B89A6A"/>
          </a:solidFill>
        </p:spPr>
      </p:sp>
      <p:sp>
        <p:nvSpPr>
          <p:cNvPr id="21" name="Text 19"/>
          <p:cNvSpPr/>
          <p:nvPr/>
        </p:nvSpPr>
        <p:spPr>
          <a:xfrm>
            <a:off x="719823" y="4019761"/>
            <a:ext cx="5227714" cy="251938"/>
          </a:xfrm>
          <a:prstGeom prst="rect">
            <a:avLst/>
          </a:prstGeom>
          <a:noFill/>
        </p:spPr>
        <p:txBody>
          <a:bodyPr wrap="square" lIns="0" tIns="0" rIns="0" bIns="0" rtlCol="0" anchor="ctr"/>
          <a:lstStyle/>
          <a:p>
            <a:pPr>
              <a:lnSpc>
                <a:spcPct val="130000"/>
              </a:lnSpc>
            </a:pPr>
            <a:r>
              <a:rPr lang="en-US" sz="127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Audit Timeline &amp; Milestones</a:t>
            </a:r>
            <a:endParaRPr lang="en-US" sz="1600" dirty="0"/>
          </a:p>
        </p:txBody>
      </p:sp>
      <p:sp>
        <p:nvSpPr>
          <p:cNvPr id="22" name="Shape 20"/>
          <p:cNvSpPr/>
          <p:nvPr/>
        </p:nvSpPr>
        <p:spPr>
          <a:xfrm>
            <a:off x="512874" y="4433659"/>
            <a:ext cx="287929" cy="287929"/>
          </a:xfrm>
          <a:custGeom>
            <a:avLst/>
            <a:gdLst/>
            <a:ahLst/>
            <a:cxnLst/>
            <a:rect l="l" t="t" r="r" b="b"/>
            <a:pathLst>
              <a:path w="287929" h="287929">
                <a:moveTo>
                  <a:pt x="143965" y="0"/>
                </a:moveTo>
                <a:lnTo>
                  <a:pt x="143965" y="0"/>
                </a:lnTo>
                <a:cubicBezTo>
                  <a:pt x="223421" y="0"/>
                  <a:pt x="287929" y="64508"/>
                  <a:pt x="287929" y="143965"/>
                </a:cubicBezTo>
                <a:lnTo>
                  <a:pt x="287929" y="143965"/>
                </a:lnTo>
                <a:cubicBezTo>
                  <a:pt x="287929" y="223421"/>
                  <a:pt x="223421" y="287929"/>
                  <a:pt x="143965" y="287929"/>
                </a:cubicBezTo>
                <a:lnTo>
                  <a:pt x="143965" y="287929"/>
                </a:lnTo>
                <a:cubicBezTo>
                  <a:pt x="64508" y="287929"/>
                  <a:pt x="0" y="223421"/>
                  <a:pt x="0" y="143965"/>
                </a:cubicBezTo>
                <a:lnTo>
                  <a:pt x="0" y="143965"/>
                </a:lnTo>
                <a:cubicBezTo>
                  <a:pt x="0" y="64508"/>
                  <a:pt x="64508" y="0"/>
                  <a:pt x="143965" y="0"/>
                </a:cubicBezTo>
                <a:close/>
              </a:path>
            </a:pathLst>
          </a:custGeom>
          <a:solidFill>
            <a:srgbClr val="B89A6A"/>
          </a:solidFill>
        </p:spPr>
      </p:sp>
      <p:sp>
        <p:nvSpPr>
          <p:cNvPr id="23" name="Shape 21"/>
          <p:cNvSpPr/>
          <p:nvPr/>
        </p:nvSpPr>
        <p:spPr>
          <a:xfrm>
            <a:off x="603976" y="4514639"/>
            <a:ext cx="110223" cy="125969"/>
          </a:xfrm>
          <a:custGeom>
            <a:avLst/>
            <a:gdLst/>
            <a:ahLst/>
            <a:cxnLst/>
            <a:rect l="l" t="t" r="r" b="b"/>
            <a:pathLst>
              <a:path w="110223" h="125969">
                <a:moveTo>
                  <a:pt x="106975" y="17247"/>
                </a:moveTo>
                <a:cubicBezTo>
                  <a:pt x="110494" y="19806"/>
                  <a:pt x="111281" y="24726"/>
                  <a:pt x="108722" y="28245"/>
                </a:cubicBezTo>
                <a:lnTo>
                  <a:pt x="45738" y="114848"/>
                </a:lnTo>
                <a:cubicBezTo>
                  <a:pt x="44384" y="116718"/>
                  <a:pt x="42293" y="117875"/>
                  <a:pt x="39980" y="118071"/>
                </a:cubicBezTo>
                <a:cubicBezTo>
                  <a:pt x="37668" y="118268"/>
                  <a:pt x="35429" y="117407"/>
                  <a:pt x="33805" y="115783"/>
                </a:cubicBezTo>
                <a:lnTo>
                  <a:pt x="2313" y="84291"/>
                </a:lnTo>
                <a:cubicBezTo>
                  <a:pt x="-763" y="81216"/>
                  <a:pt x="-763" y="76221"/>
                  <a:pt x="2313" y="73146"/>
                </a:cubicBezTo>
                <a:cubicBezTo>
                  <a:pt x="5388" y="70070"/>
                  <a:pt x="10383" y="70070"/>
                  <a:pt x="13458" y="73146"/>
                </a:cubicBezTo>
                <a:lnTo>
                  <a:pt x="38430" y="98118"/>
                </a:lnTo>
                <a:lnTo>
                  <a:pt x="96002" y="18969"/>
                </a:lnTo>
                <a:cubicBezTo>
                  <a:pt x="98561" y="15451"/>
                  <a:pt x="103482" y="14664"/>
                  <a:pt x="107000" y="17222"/>
                </a:cubicBezTo>
                <a:close/>
              </a:path>
            </a:pathLst>
          </a:custGeom>
          <a:solidFill>
            <a:srgbClr val="1A1D24"/>
          </a:solidFill>
        </p:spPr>
      </p:sp>
      <p:sp>
        <p:nvSpPr>
          <p:cNvPr id="24" name="Text 22"/>
          <p:cNvSpPr/>
          <p:nvPr/>
        </p:nvSpPr>
        <p:spPr>
          <a:xfrm>
            <a:off x="908776" y="4379672"/>
            <a:ext cx="5029762" cy="215947"/>
          </a:xfrm>
          <a:prstGeom prst="rect">
            <a:avLst/>
          </a:prstGeom>
          <a:noFill/>
        </p:spPr>
        <p:txBody>
          <a:bodyPr wrap="square" lIns="0" tIns="0" rIns="0" bIns="0" rtlCol="0" anchor="ctr"/>
          <a:lstStyle/>
          <a:p>
            <a:pPr>
              <a:lnSpc>
                <a:spcPct val="130000"/>
              </a:lnSpc>
            </a:pPr>
            <a:r>
              <a:rPr lang="en-US" sz="1135" b="1" dirty="0">
                <a:solidFill>
                  <a:srgbClr val="E0E2E5"/>
                </a:solidFill>
                <a:latin typeface="Liter" panose="02000503030000020004" pitchFamily="34" charset="0"/>
                <a:ea typeface="Liter" panose="02000503030000020004" pitchFamily="34" charset="-122"/>
                <a:cs typeface="Liter" panose="02000503030000020004" pitchFamily="34" charset="-120"/>
              </a:rPr>
              <a:t>Planning &amp; Scoping</a:t>
            </a:r>
            <a:endParaRPr lang="en-US" sz="1600" dirty="0"/>
          </a:p>
        </p:txBody>
      </p:sp>
      <p:sp>
        <p:nvSpPr>
          <p:cNvPr id="25" name="Text 23"/>
          <p:cNvSpPr/>
          <p:nvPr/>
        </p:nvSpPr>
        <p:spPr>
          <a:xfrm>
            <a:off x="908776" y="4595619"/>
            <a:ext cx="5020765" cy="179956"/>
          </a:xfrm>
          <a:prstGeom prst="rect">
            <a:avLst/>
          </a:prstGeom>
          <a:noFill/>
        </p:spPr>
        <p:txBody>
          <a:bodyPr wrap="square" lIns="0" tIns="0" rIns="0" bIns="0" rtlCol="0" anchor="ctr"/>
          <a:lstStyle/>
          <a:p>
            <a:pPr>
              <a:lnSpc>
                <a:spcPct val="120000"/>
              </a:lnSpc>
            </a:pPr>
            <a:r>
              <a:rPr lang="en-US" sz="990" dirty="0">
                <a:solidFill>
                  <a:srgbClr val="78828A"/>
                </a:solidFill>
                <a:latin typeface="Liter" panose="02000503030000020004" pitchFamily="34" charset="0"/>
                <a:ea typeface="Liter" panose="02000503030000020004" pitchFamily="34" charset="-122"/>
                <a:cs typeface="Liter" panose="02000503030000020004" pitchFamily="34" charset="-120"/>
              </a:rPr>
              <a:t>Mar 1-15, 2026 ✓ Complete</a:t>
            </a:r>
            <a:endParaRPr lang="en-US" sz="1600" dirty="0"/>
          </a:p>
        </p:txBody>
      </p:sp>
      <p:sp>
        <p:nvSpPr>
          <p:cNvPr id="26" name="Shape 24"/>
          <p:cNvSpPr/>
          <p:nvPr/>
        </p:nvSpPr>
        <p:spPr>
          <a:xfrm>
            <a:off x="512874" y="4901544"/>
            <a:ext cx="287929" cy="287929"/>
          </a:xfrm>
          <a:custGeom>
            <a:avLst/>
            <a:gdLst/>
            <a:ahLst/>
            <a:cxnLst/>
            <a:rect l="l" t="t" r="r" b="b"/>
            <a:pathLst>
              <a:path w="287929" h="287929">
                <a:moveTo>
                  <a:pt x="143965" y="0"/>
                </a:moveTo>
                <a:lnTo>
                  <a:pt x="143965" y="0"/>
                </a:lnTo>
                <a:cubicBezTo>
                  <a:pt x="223421" y="0"/>
                  <a:pt x="287929" y="64508"/>
                  <a:pt x="287929" y="143965"/>
                </a:cubicBezTo>
                <a:lnTo>
                  <a:pt x="287929" y="143965"/>
                </a:lnTo>
                <a:cubicBezTo>
                  <a:pt x="287929" y="223421"/>
                  <a:pt x="223421" y="287929"/>
                  <a:pt x="143965" y="287929"/>
                </a:cubicBezTo>
                <a:lnTo>
                  <a:pt x="143965" y="287929"/>
                </a:lnTo>
                <a:cubicBezTo>
                  <a:pt x="64508" y="287929"/>
                  <a:pt x="0" y="223421"/>
                  <a:pt x="0" y="143965"/>
                </a:cubicBezTo>
                <a:lnTo>
                  <a:pt x="0" y="143965"/>
                </a:lnTo>
                <a:cubicBezTo>
                  <a:pt x="0" y="64508"/>
                  <a:pt x="64508" y="0"/>
                  <a:pt x="143965" y="0"/>
                </a:cubicBezTo>
                <a:close/>
              </a:path>
            </a:pathLst>
          </a:custGeom>
          <a:solidFill>
            <a:srgbClr val="B89A6A"/>
          </a:solidFill>
        </p:spPr>
      </p:sp>
      <p:sp>
        <p:nvSpPr>
          <p:cNvPr id="27" name="Shape 25"/>
          <p:cNvSpPr/>
          <p:nvPr/>
        </p:nvSpPr>
        <p:spPr>
          <a:xfrm>
            <a:off x="603976" y="4982524"/>
            <a:ext cx="110223" cy="125969"/>
          </a:xfrm>
          <a:custGeom>
            <a:avLst/>
            <a:gdLst/>
            <a:ahLst/>
            <a:cxnLst/>
            <a:rect l="l" t="t" r="r" b="b"/>
            <a:pathLst>
              <a:path w="110223" h="125969">
                <a:moveTo>
                  <a:pt x="106975" y="17247"/>
                </a:moveTo>
                <a:cubicBezTo>
                  <a:pt x="110494" y="19806"/>
                  <a:pt x="111281" y="24726"/>
                  <a:pt x="108722" y="28245"/>
                </a:cubicBezTo>
                <a:lnTo>
                  <a:pt x="45738" y="114848"/>
                </a:lnTo>
                <a:cubicBezTo>
                  <a:pt x="44384" y="116718"/>
                  <a:pt x="42293" y="117875"/>
                  <a:pt x="39980" y="118071"/>
                </a:cubicBezTo>
                <a:cubicBezTo>
                  <a:pt x="37668" y="118268"/>
                  <a:pt x="35429" y="117407"/>
                  <a:pt x="33805" y="115783"/>
                </a:cubicBezTo>
                <a:lnTo>
                  <a:pt x="2313" y="84291"/>
                </a:lnTo>
                <a:cubicBezTo>
                  <a:pt x="-763" y="81216"/>
                  <a:pt x="-763" y="76221"/>
                  <a:pt x="2313" y="73146"/>
                </a:cubicBezTo>
                <a:cubicBezTo>
                  <a:pt x="5388" y="70070"/>
                  <a:pt x="10383" y="70070"/>
                  <a:pt x="13458" y="73146"/>
                </a:cubicBezTo>
                <a:lnTo>
                  <a:pt x="38430" y="98118"/>
                </a:lnTo>
                <a:lnTo>
                  <a:pt x="96002" y="18969"/>
                </a:lnTo>
                <a:cubicBezTo>
                  <a:pt x="98561" y="15451"/>
                  <a:pt x="103482" y="14664"/>
                  <a:pt x="107000" y="17222"/>
                </a:cubicBezTo>
                <a:close/>
              </a:path>
            </a:pathLst>
          </a:custGeom>
          <a:solidFill>
            <a:srgbClr val="1A1D24"/>
          </a:solidFill>
        </p:spPr>
      </p:sp>
      <p:sp>
        <p:nvSpPr>
          <p:cNvPr id="28" name="Text 26"/>
          <p:cNvSpPr/>
          <p:nvPr/>
        </p:nvSpPr>
        <p:spPr>
          <a:xfrm>
            <a:off x="908776" y="4847557"/>
            <a:ext cx="5029762" cy="215947"/>
          </a:xfrm>
          <a:prstGeom prst="rect">
            <a:avLst/>
          </a:prstGeom>
          <a:noFill/>
        </p:spPr>
        <p:txBody>
          <a:bodyPr wrap="square" lIns="0" tIns="0" rIns="0" bIns="0" rtlCol="0" anchor="ctr"/>
          <a:lstStyle/>
          <a:p>
            <a:pPr>
              <a:lnSpc>
                <a:spcPct val="130000"/>
              </a:lnSpc>
            </a:pPr>
            <a:r>
              <a:rPr lang="en-US" sz="1135" b="1" dirty="0">
                <a:solidFill>
                  <a:srgbClr val="E0E2E5"/>
                </a:solidFill>
                <a:latin typeface="Liter" panose="02000503030000020004" pitchFamily="34" charset="0"/>
                <a:ea typeface="Liter" panose="02000503030000020004" pitchFamily="34" charset="-122"/>
                <a:cs typeface="Liter" panose="02000503030000020004" pitchFamily="34" charset="-120"/>
              </a:rPr>
              <a:t>Fieldwork &amp; Testing</a:t>
            </a:r>
            <a:endParaRPr lang="en-US" sz="1600" dirty="0"/>
          </a:p>
        </p:txBody>
      </p:sp>
      <p:sp>
        <p:nvSpPr>
          <p:cNvPr id="29" name="Text 27"/>
          <p:cNvSpPr/>
          <p:nvPr/>
        </p:nvSpPr>
        <p:spPr>
          <a:xfrm>
            <a:off x="908776" y="5063504"/>
            <a:ext cx="5020765" cy="179956"/>
          </a:xfrm>
          <a:prstGeom prst="rect">
            <a:avLst/>
          </a:prstGeom>
          <a:noFill/>
        </p:spPr>
        <p:txBody>
          <a:bodyPr wrap="square" lIns="0" tIns="0" rIns="0" bIns="0" rtlCol="0" anchor="ctr"/>
          <a:lstStyle/>
          <a:p>
            <a:pPr>
              <a:lnSpc>
                <a:spcPct val="120000"/>
              </a:lnSpc>
            </a:pPr>
            <a:r>
              <a:rPr lang="en-US" sz="990" dirty="0">
                <a:solidFill>
                  <a:srgbClr val="78828A"/>
                </a:solidFill>
                <a:latin typeface="Liter" panose="02000503030000020004" pitchFamily="34" charset="0"/>
                <a:ea typeface="Liter" panose="02000503030000020004" pitchFamily="34" charset="-122"/>
                <a:cs typeface="Liter" panose="02000503030000020004" pitchFamily="34" charset="-120"/>
              </a:rPr>
              <a:t>Mar 16 - Apr 30, 2026 ✓ In Progress</a:t>
            </a:r>
            <a:endParaRPr lang="en-US" sz="1600" dirty="0"/>
          </a:p>
        </p:txBody>
      </p:sp>
      <p:sp>
        <p:nvSpPr>
          <p:cNvPr id="30" name="Shape 28"/>
          <p:cNvSpPr/>
          <p:nvPr/>
        </p:nvSpPr>
        <p:spPr>
          <a:xfrm>
            <a:off x="521872" y="5378427"/>
            <a:ext cx="269934" cy="269934"/>
          </a:xfrm>
          <a:custGeom>
            <a:avLst/>
            <a:gdLst/>
            <a:ahLst/>
            <a:cxnLst/>
            <a:rect l="l" t="t" r="r" b="b"/>
            <a:pathLst>
              <a:path w="269934" h="269934">
                <a:moveTo>
                  <a:pt x="134967" y="0"/>
                </a:moveTo>
                <a:lnTo>
                  <a:pt x="134967" y="0"/>
                </a:lnTo>
                <a:cubicBezTo>
                  <a:pt x="209507" y="0"/>
                  <a:pt x="269934" y="60427"/>
                  <a:pt x="269934" y="134967"/>
                </a:cubicBezTo>
                <a:lnTo>
                  <a:pt x="269934" y="134967"/>
                </a:lnTo>
                <a:cubicBezTo>
                  <a:pt x="269934" y="209507"/>
                  <a:pt x="209507" y="269934"/>
                  <a:pt x="134967" y="269934"/>
                </a:cubicBezTo>
                <a:lnTo>
                  <a:pt x="134967" y="269934"/>
                </a:lnTo>
                <a:cubicBezTo>
                  <a:pt x="60427" y="269934"/>
                  <a:pt x="0" y="209507"/>
                  <a:pt x="0" y="134967"/>
                </a:cubicBezTo>
                <a:lnTo>
                  <a:pt x="0" y="134967"/>
                </a:lnTo>
                <a:cubicBezTo>
                  <a:pt x="0" y="60427"/>
                  <a:pt x="60427" y="0"/>
                  <a:pt x="134967" y="0"/>
                </a:cubicBezTo>
                <a:close/>
              </a:path>
            </a:pathLst>
          </a:custGeom>
          <a:solidFill>
            <a:srgbClr val="4A5C6A"/>
          </a:solidFill>
          <a:ln w="25400">
            <a:solidFill>
              <a:srgbClr val="B89A6A"/>
            </a:solidFill>
            <a:prstDash val="solid"/>
          </a:ln>
        </p:spPr>
      </p:sp>
      <p:sp>
        <p:nvSpPr>
          <p:cNvPr id="31" name="Shape 29"/>
          <p:cNvSpPr/>
          <p:nvPr/>
        </p:nvSpPr>
        <p:spPr>
          <a:xfrm>
            <a:off x="596103" y="5450409"/>
            <a:ext cx="125969" cy="125969"/>
          </a:xfrm>
          <a:custGeom>
            <a:avLst/>
            <a:gdLst/>
            <a:ahLst/>
            <a:cxnLst/>
            <a:rect l="l" t="t" r="r" b="b"/>
            <a:pathLst>
              <a:path w="125969" h="125969">
                <a:moveTo>
                  <a:pt x="62985" y="0"/>
                </a:moveTo>
                <a:cubicBezTo>
                  <a:pt x="97747" y="0"/>
                  <a:pt x="125969" y="28222"/>
                  <a:pt x="125969" y="62985"/>
                </a:cubicBezTo>
                <a:cubicBezTo>
                  <a:pt x="125969" y="97747"/>
                  <a:pt x="97747" y="125969"/>
                  <a:pt x="62985" y="125969"/>
                </a:cubicBezTo>
                <a:cubicBezTo>
                  <a:pt x="28222" y="125969"/>
                  <a:pt x="0" y="97747"/>
                  <a:pt x="0" y="62985"/>
                </a:cubicBezTo>
                <a:cubicBezTo>
                  <a:pt x="0" y="28222"/>
                  <a:pt x="28222" y="0"/>
                  <a:pt x="62985" y="0"/>
                </a:cubicBezTo>
                <a:close/>
                <a:moveTo>
                  <a:pt x="57080" y="29524"/>
                </a:moveTo>
                <a:lnTo>
                  <a:pt x="57080" y="62985"/>
                </a:lnTo>
                <a:cubicBezTo>
                  <a:pt x="57080" y="64953"/>
                  <a:pt x="58064" y="66798"/>
                  <a:pt x="59712" y="67905"/>
                </a:cubicBezTo>
                <a:lnTo>
                  <a:pt x="83331" y="83651"/>
                </a:lnTo>
                <a:cubicBezTo>
                  <a:pt x="86038" y="85472"/>
                  <a:pt x="89704" y="84734"/>
                  <a:pt x="91524" y="82003"/>
                </a:cubicBezTo>
                <a:cubicBezTo>
                  <a:pt x="93345" y="79272"/>
                  <a:pt x="92607" y="75631"/>
                  <a:pt x="89876" y="73810"/>
                </a:cubicBezTo>
                <a:lnTo>
                  <a:pt x="68889" y="59835"/>
                </a:lnTo>
                <a:lnTo>
                  <a:pt x="68889" y="29524"/>
                </a:lnTo>
                <a:cubicBezTo>
                  <a:pt x="68889" y="26252"/>
                  <a:pt x="66257" y="23619"/>
                  <a:pt x="62985" y="23619"/>
                </a:cubicBezTo>
                <a:cubicBezTo>
                  <a:pt x="59712" y="23619"/>
                  <a:pt x="57080" y="26252"/>
                  <a:pt x="57080" y="29524"/>
                </a:cubicBezTo>
                <a:close/>
              </a:path>
            </a:pathLst>
          </a:custGeom>
          <a:solidFill>
            <a:srgbClr val="B89A6A"/>
          </a:solidFill>
        </p:spPr>
      </p:sp>
      <p:sp>
        <p:nvSpPr>
          <p:cNvPr id="32" name="Text 30"/>
          <p:cNvSpPr/>
          <p:nvPr/>
        </p:nvSpPr>
        <p:spPr>
          <a:xfrm>
            <a:off x="908776" y="5315442"/>
            <a:ext cx="5029762" cy="215947"/>
          </a:xfrm>
          <a:prstGeom prst="rect">
            <a:avLst/>
          </a:prstGeom>
          <a:noFill/>
        </p:spPr>
        <p:txBody>
          <a:bodyPr wrap="square" lIns="0" tIns="0" rIns="0" bIns="0" rtlCol="0" anchor="ctr"/>
          <a:lstStyle/>
          <a:p>
            <a:pPr>
              <a:lnSpc>
                <a:spcPct val="130000"/>
              </a:lnSpc>
            </a:pPr>
            <a:r>
              <a:rPr lang="en-US" sz="1135" b="1" dirty="0">
                <a:solidFill>
                  <a:srgbClr val="E0E2E5"/>
                </a:solidFill>
                <a:latin typeface="Liter" panose="02000503030000020004" pitchFamily="34" charset="0"/>
                <a:ea typeface="Liter" panose="02000503030000020004" pitchFamily="34" charset="-122"/>
                <a:cs typeface="Liter" panose="02000503030000020004" pitchFamily="34" charset="-120"/>
              </a:rPr>
              <a:t>Review &amp; Adjustments</a:t>
            </a:r>
            <a:endParaRPr lang="en-US" sz="1600" dirty="0"/>
          </a:p>
        </p:txBody>
      </p:sp>
      <p:sp>
        <p:nvSpPr>
          <p:cNvPr id="33" name="Text 31"/>
          <p:cNvSpPr/>
          <p:nvPr/>
        </p:nvSpPr>
        <p:spPr>
          <a:xfrm>
            <a:off x="908776" y="5531389"/>
            <a:ext cx="5020765" cy="179956"/>
          </a:xfrm>
          <a:prstGeom prst="rect">
            <a:avLst/>
          </a:prstGeom>
          <a:noFill/>
        </p:spPr>
        <p:txBody>
          <a:bodyPr wrap="square" lIns="0" tIns="0" rIns="0" bIns="0" rtlCol="0" anchor="ctr"/>
          <a:lstStyle/>
          <a:p>
            <a:pPr>
              <a:lnSpc>
                <a:spcPct val="120000"/>
              </a:lnSpc>
            </a:pPr>
            <a:r>
              <a:rPr lang="en-US" sz="990" dirty="0">
                <a:solidFill>
                  <a:srgbClr val="78828A"/>
                </a:solidFill>
                <a:latin typeface="Liter" panose="02000503030000020004" pitchFamily="34" charset="0"/>
                <a:ea typeface="Liter" panose="02000503030000020004" pitchFamily="34" charset="-122"/>
                <a:cs typeface="Liter" panose="02000503030000020004" pitchFamily="34" charset="-120"/>
              </a:rPr>
              <a:t>May 1-10, 2026 ⏳ Pending</a:t>
            </a:r>
            <a:endParaRPr lang="en-US" sz="1600" dirty="0"/>
          </a:p>
        </p:txBody>
      </p:sp>
      <p:sp>
        <p:nvSpPr>
          <p:cNvPr id="34" name="Shape 32"/>
          <p:cNvSpPr/>
          <p:nvPr/>
        </p:nvSpPr>
        <p:spPr>
          <a:xfrm>
            <a:off x="521872" y="5846311"/>
            <a:ext cx="269934" cy="269934"/>
          </a:xfrm>
          <a:custGeom>
            <a:avLst/>
            <a:gdLst/>
            <a:ahLst/>
            <a:cxnLst/>
            <a:rect l="l" t="t" r="r" b="b"/>
            <a:pathLst>
              <a:path w="269934" h="269934">
                <a:moveTo>
                  <a:pt x="134967" y="0"/>
                </a:moveTo>
                <a:lnTo>
                  <a:pt x="134967" y="0"/>
                </a:lnTo>
                <a:cubicBezTo>
                  <a:pt x="209507" y="0"/>
                  <a:pt x="269934" y="60427"/>
                  <a:pt x="269934" y="134967"/>
                </a:cubicBezTo>
                <a:lnTo>
                  <a:pt x="269934" y="134967"/>
                </a:lnTo>
                <a:cubicBezTo>
                  <a:pt x="269934" y="209507"/>
                  <a:pt x="209507" y="269934"/>
                  <a:pt x="134967" y="269934"/>
                </a:cubicBezTo>
                <a:lnTo>
                  <a:pt x="134967" y="269934"/>
                </a:lnTo>
                <a:cubicBezTo>
                  <a:pt x="60427" y="269934"/>
                  <a:pt x="0" y="209507"/>
                  <a:pt x="0" y="134967"/>
                </a:cubicBezTo>
                <a:lnTo>
                  <a:pt x="0" y="134967"/>
                </a:lnTo>
                <a:cubicBezTo>
                  <a:pt x="0" y="60427"/>
                  <a:pt x="60427" y="0"/>
                  <a:pt x="134967" y="0"/>
                </a:cubicBezTo>
                <a:close/>
              </a:path>
            </a:pathLst>
          </a:custGeom>
          <a:solidFill>
            <a:srgbClr val="4A5C6A">
              <a:alpha val="30196"/>
            </a:srgbClr>
          </a:solidFill>
          <a:ln w="25400">
            <a:solidFill>
              <a:srgbClr val="78828A"/>
            </a:solidFill>
            <a:prstDash val="solid"/>
          </a:ln>
        </p:spPr>
      </p:sp>
      <p:sp>
        <p:nvSpPr>
          <p:cNvPr id="35" name="Shape 33"/>
          <p:cNvSpPr/>
          <p:nvPr/>
        </p:nvSpPr>
        <p:spPr>
          <a:xfrm>
            <a:off x="611849" y="5918294"/>
            <a:ext cx="94477" cy="125969"/>
          </a:xfrm>
          <a:custGeom>
            <a:avLst/>
            <a:gdLst/>
            <a:ahLst/>
            <a:cxnLst/>
            <a:rect l="l" t="t" r="r" b="b"/>
            <a:pathLst>
              <a:path w="94477" h="125969">
                <a:moveTo>
                  <a:pt x="0" y="7873"/>
                </a:moveTo>
                <a:cubicBezTo>
                  <a:pt x="0" y="3518"/>
                  <a:pt x="3518" y="0"/>
                  <a:pt x="7873" y="0"/>
                </a:cubicBezTo>
                <a:lnTo>
                  <a:pt x="86604" y="0"/>
                </a:lnTo>
                <a:cubicBezTo>
                  <a:pt x="90958" y="0"/>
                  <a:pt x="94477" y="3518"/>
                  <a:pt x="94477" y="7873"/>
                </a:cubicBezTo>
                <a:cubicBezTo>
                  <a:pt x="94477" y="12228"/>
                  <a:pt x="90958" y="15746"/>
                  <a:pt x="86604" y="15746"/>
                </a:cubicBezTo>
                <a:lnTo>
                  <a:pt x="86604" y="18452"/>
                </a:lnTo>
                <a:cubicBezTo>
                  <a:pt x="86604" y="28884"/>
                  <a:pt x="82446" y="38898"/>
                  <a:pt x="75065" y="46279"/>
                </a:cubicBezTo>
                <a:lnTo>
                  <a:pt x="58359" y="62985"/>
                </a:lnTo>
                <a:lnTo>
                  <a:pt x="75065" y="79690"/>
                </a:lnTo>
                <a:cubicBezTo>
                  <a:pt x="82446" y="87071"/>
                  <a:pt x="86604" y="97085"/>
                  <a:pt x="86604" y="107517"/>
                </a:cubicBezTo>
                <a:lnTo>
                  <a:pt x="86604" y="110223"/>
                </a:lnTo>
                <a:cubicBezTo>
                  <a:pt x="90958" y="110223"/>
                  <a:pt x="94477" y="113741"/>
                  <a:pt x="94477" y="118096"/>
                </a:cubicBezTo>
                <a:cubicBezTo>
                  <a:pt x="94477" y="122451"/>
                  <a:pt x="90958" y="125969"/>
                  <a:pt x="86604" y="125969"/>
                </a:cubicBezTo>
                <a:lnTo>
                  <a:pt x="7873" y="125969"/>
                </a:lnTo>
                <a:cubicBezTo>
                  <a:pt x="3518" y="125969"/>
                  <a:pt x="0" y="122451"/>
                  <a:pt x="0" y="118096"/>
                </a:cubicBezTo>
                <a:cubicBezTo>
                  <a:pt x="0" y="113741"/>
                  <a:pt x="3518" y="110223"/>
                  <a:pt x="7873" y="110223"/>
                </a:cubicBezTo>
                <a:lnTo>
                  <a:pt x="7873" y="107517"/>
                </a:lnTo>
                <a:cubicBezTo>
                  <a:pt x="7873" y="97085"/>
                  <a:pt x="12031" y="87071"/>
                  <a:pt x="19412" y="79690"/>
                </a:cubicBezTo>
                <a:lnTo>
                  <a:pt x="36118" y="62985"/>
                </a:lnTo>
                <a:lnTo>
                  <a:pt x="19412" y="46279"/>
                </a:lnTo>
                <a:cubicBezTo>
                  <a:pt x="12031" y="38898"/>
                  <a:pt x="7873" y="28884"/>
                  <a:pt x="7873" y="18452"/>
                </a:cubicBezTo>
                <a:lnTo>
                  <a:pt x="7873" y="15746"/>
                </a:lnTo>
                <a:cubicBezTo>
                  <a:pt x="3518" y="15746"/>
                  <a:pt x="0" y="12228"/>
                  <a:pt x="0" y="7873"/>
                </a:cubicBezTo>
                <a:close/>
                <a:moveTo>
                  <a:pt x="23619" y="15746"/>
                </a:moveTo>
                <a:lnTo>
                  <a:pt x="23619" y="18452"/>
                </a:lnTo>
                <a:cubicBezTo>
                  <a:pt x="23619" y="24726"/>
                  <a:pt x="26104" y="30730"/>
                  <a:pt x="30533" y="35158"/>
                </a:cubicBezTo>
                <a:lnTo>
                  <a:pt x="47238" y="51864"/>
                </a:lnTo>
                <a:lnTo>
                  <a:pt x="63944" y="35158"/>
                </a:lnTo>
                <a:cubicBezTo>
                  <a:pt x="68373" y="30730"/>
                  <a:pt x="70858" y="24726"/>
                  <a:pt x="70858" y="18452"/>
                </a:cubicBezTo>
                <a:lnTo>
                  <a:pt x="70858" y="15746"/>
                </a:lnTo>
                <a:lnTo>
                  <a:pt x="23619" y="15746"/>
                </a:lnTo>
                <a:close/>
                <a:moveTo>
                  <a:pt x="23619" y="110223"/>
                </a:moveTo>
                <a:lnTo>
                  <a:pt x="70858" y="110223"/>
                </a:lnTo>
                <a:lnTo>
                  <a:pt x="70858" y="107517"/>
                </a:lnTo>
                <a:cubicBezTo>
                  <a:pt x="70858" y="101243"/>
                  <a:pt x="68373" y="95239"/>
                  <a:pt x="63944" y="90811"/>
                </a:cubicBezTo>
                <a:lnTo>
                  <a:pt x="47238" y="74105"/>
                </a:lnTo>
                <a:lnTo>
                  <a:pt x="30533" y="90811"/>
                </a:lnTo>
                <a:cubicBezTo>
                  <a:pt x="26104" y="95239"/>
                  <a:pt x="23619" y="101243"/>
                  <a:pt x="23619" y="107517"/>
                </a:cubicBezTo>
                <a:lnTo>
                  <a:pt x="23619" y="110223"/>
                </a:lnTo>
                <a:close/>
              </a:path>
            </a:pathLst>
          </a:custGeom>
          <a:solidFill>
            <a:srgbClr val="78828A"/>
          </a:solidFill>
        </p:spPr>
      </p:sp>
      <p:sp>
        <p:nvSpPr>
          <p:cNvPr id="36" name="Text 34"/>
          <p:cNvSpPr/>
          <p:nvPr/>
        </p:nvSpPr>
        <p:spPr>
          <a:xfrm>
            <a:off x="908776" y="5783327"/>
            <a:ext cx="5029762" cy="215947"/>
          </a:xfrm>
          <a:prstGeom prst="rect">
            <a:avLst/>
          </a:prstGeom>
          <a:noFill/>
        </p:spPr>
        <p:txBody>
          <a:bodyPr wrap="square" lIns="0" tIns="0" rIns="0" bIns="0" rtlCol="0" anchor="ctr"/>
          <a:lstStyle/>
          <a:p>
            <a:pPr>
              <a:lnSpc>
                <a:spcPct val="130000"/>
              </a:lnSpc>
            </a:pPr>
            <a:r>
              <a:rPr lang="en-US" sz="1135" b="1" dirty="0">
                <a:solidFill>
                  <a:srgbClr val="78828A"/>
                </a:solidFill>
                <a:latin typeface="Liter" panose="02000503030000020004" pitchFamily="34" charset="0"/>
                <a:ea typeface="Liter" panose="02000503030000020004" pitchFamily="34" charset="-122"/>
                <a:cs typeface="Liter" panose="02000503030000020004" pitchFamily="34" charset="-120"/>
              </a:rPr>
              <a:t>Final Report Issuance</a:t>
            </a:r>
            <a:endParaRPr lang="en-US" sz="1600" dirty="0"/>
          </a:p>
        </p:txBody>
      </p:sp>
      <p:sp>
        <p:nvSpPr>
          <p:cNvPr id="37" name="Text 35"/>
          <p:cNvSpPr/>
          <p:nvPr/>
        </p:nvSpPr>
        <p:spPr>
          <a:xfrm>
            <a:off x="908776" y="5999274"/>
            <a:ext cx="5020765" cy="179956"/>
          </a:xfrm>
          <a:prstGeom prst="rect">
            <a:avLst/>
          </a:prstGeom>
          <a:noFill/>
        </p:spPr>
        <p:txBody>
          <a:bodyPr wrap="square" lIns="0" tIns="0" rIns="0" bIns="0" rtlCol="0" anchor="ctr"/>
          <a:lstStyle/>
          <a:p>
            <a:pPr>
              <a:lnSpc>
                <a:spcPct val="120000"/>
              </a:lnSpc>
            </a:pPr>
            <a:r>
              <a:rPr lang="en-US" sz="990" dirty="0">
                <a:solidFill>
                  <a:srgbClr val="78828A"/>
                </a:solidFill>
                <a:latin typeface="Liter" panose="02000503030000020004" pitchFamily="34" charset="0"/>
                <a:ea typeface="Liter" panose="02000503030000020004" pitchFamily="34" charset="-122"/>
                <a:cs typeface="Liter" panose="02000503030000020004" pitchFamily="34" charset="-120"/>
              </a:rPr>
              <a:t>May 15, 2026 ⏳ Scheduled</a:t>
            </a:r>
            <a:endParaRPr lang="en-US" sz="1600" dirty="0"/>
          </a:p>
        </p:txBody>
      </p:sp>
      <p:sp>
        <p:nvSpPr>
          <p:cNvPr id="38" name="Shape 36"/>
          <p:cNvSpPr/>
          <p:nvPr/>
        </p:nvSpPr>
        <p:spPr>
          <a:xfrm>
            <a:off x="6170935" y="1084233"/>
            <a:ext cx="5650610" cy="3788068"/>
          </a:xfrm>
          <a:custGeom>
            <a:avLst/>
            <a:gdLst/>
            <a:ahLst/>
            <a:cxnLst/>
            <a:rect l="l" t="t" r="r" b="b"/>
            <a:pathLst>
              <a:path w="5650610" h="3788068">
                <a:moveTo>
                  <a:pt x="71973" y="0"/>
                </a:moveTo>
                <a:lnTo>
                  <a:pt x="5578636" y="0"/>
                </a:lnTo>
                <a:cubicBezTo>
                  <a:pt x="5618386" y="0"/>
                  <a:pt x="5650610" y="32224"/>
                  <a:pt x="5650610" y="71973"/>
                </a:cubicBezTo>
                <a:lnTo>
                  <a:pt x="5650610" y="3716095"/>
                </a:lnTo>
                <a:cubicBezTo>
                  <a:pt x="5650610" y="3755844"/>
                  <a:pt x="5618386" y="3788068"/>
                  <a:pt x="5578636" y="3788068"/>
                </a:cubicBezTo>
                <a:lnTo>
                  <a:pt x="71973" y="3788068"/>
                </a:lnTo>
                <a:cubicBezTo>
                  <a:pt x="32224" y="3788068"/>
                  <a:pt x="0" y="3755844"/>
                  <a:pt x="0" y="3716095"/>
                </a:cubicBezTo>
                <a:lnTo>
                  <a:pt x="0" y="71973"/>
                </a:lnTo>
                <a:cubicBezTo>
                  <a:pt x="0" y="32224"/>
                  <a:pt x="32224" y="0"/>
                  <a:pt x="71973" y="0"/>
                </a:cubicBezTo>
                <a:close/>
              </a:path>
            </a:pathLst>
          </a:custGeom>
          <a:solidFill>
            <a:srgbClr val="4A5C6A">
              <a:alpha val="10196"/>
            </a:srgbClr>
          </a:solidFill>
          <a:ln w="12700">
            <a:solidFill>
              <a:srgbClr val="4A5C6A">
                <a:alpha val="30196"/>
              </a:srgbClr>
            </a:solidFill>
            <a:prstDash val="solid"/>
          </a:ln>
        </p:spPr>
      </p:sp>
      <p:sp>
        <p:nvSpPr>
          <p:cNvPr id="39" name="Shape 37"/>
          <p:cNvSpPr/>
          <p:nvPr/>
        </p:nvSpPr>
        <p:spPr>
          <a:xfrm>
            <a:off x="6377884" y="1304679"/>
            <a:ext cx="179956" cy="179956"/>
          </a:xfrm>
          <a:custGeom>
            <a:avLst/>
            <a:gdLst/>
            <a:ahLst/>
            <a:cxnLst/>
            <a:rect l="l" t="t" r="r" b="b"/>
            <a:pathLst>
              <a:path w="179956" h="179956">
                <a:moveTo>
                  <a:pt x="89978" y="0"/>
                </a:moveTo>
                <a:cubicBezTo>
                  <a:pt x="95145" y="0"/>
                  <a:pt x="99889" y="2847"/>
                  <a:pt x="102350" y="7381"/>
                </a:cubicBezTo>
                <a:lnTo>
                  <a:pt x="178269" y="147971"/>
                </a:lnTo>
                <a:cubicBezTo>
                  <a:pt x="180624" y="152330"/>
                  <a:pt x="180518" y="157602"/>
                  <a:pt x="177987" y="161855"/>
                </a:cubicBezTo>
                <a:cubicBezTo>
                  <a:pt x="175457" y="166108"/>
                  <a:pt x="170852" y="168708"/>
                  <a:pt x="165897" y="168708"/>
                </a:cubicBezTo>
                <a:lnTo>
                  <a:pt x="14059" y="168708"/>
                </a:lnTo>
                <a:cubicBezTo>
                  <a:pt x="9103" y="168708"/>
                  <a:pt x="4534" y="166108"/>
                  <a:pt x="1968" y="161855"/>
                </a:cubicBezTo>
                <a:cubicBezTo>
                  <a:pt x="-598" y="157602"/>
                  <a:pt x="-668" y="152330"/>
                  <a:pt x="1687" y="147971"/>
                </a:cubicBezTo>
                <a:lnTo>
                  <a:pt x="77606" y="7381"/>
                </a:lnTo>
                <a:cubicBezTo>
                  <a:pt x="80066" y="2847"/>
                  <a:pt x="84811" y="0"/>
                  <a:pt x="89978" y="0"/>
                </a:cubicBezTo>
                <a:close/>
                <a:moveTo>
                  <a:pt x="89978" y="59048"/>
                </a:moveTo>
                <a:cubicBezTo>
                  <a:pt x="85303" y="59048"/>
                  <a:pt x="81542" y="62809"/>
                  <a:pt x="81542" y="67483"/>
                </a:cubicBezTo>
                <a:lnTo>
                  <a:pt x="81542" y="106849"/>
                </a:lnTo>
                <a:cubicBezTo>
                  <a:pt x="81542" y="111523"/>
                  <a:pt x="85303" y="115284"/>
                  <a:pt x="89978" y="115284"/>
                </a:cubicBezTo>
                <a:cubicBezTo>
                  <a:pt x="94652" y="115284"/>
                  <a:pt x="98413" y="111523"/>
                  <a:pt x="98413" y="106849"/>
                </a:cubicBezTo>
                <a:lnTo>
                  <a:pt x="98413" y="67483"/>
                </a:lnTo>
                <a:cubicBezTo>
                  <a:pt x="98413" y="62809"/>
                  <a:pt x="94652" y="59048"/>
                  <a:pt x="89978" y="59048"/>
                </a:cubicBezTo>
                <a:close/>
                <a:moveTo>
                  <a:pt x="99362" y="134967"/>
                </a:moveTo>
                <a:cubicBezTo>
                  <a:pt x="99576" y="131483"/>
                  <a:pt x="97839" y="128169"/>
                  <a:pt x="94852" y="126363"/>
                </a:cubicBezTo>
                <a:cubicBezTo>
                  <a:pt x="91866" y="124557"/>
                  <a:pt x="88125" y="124557"/>
                  <a:pt x="85138" y="126363"/>
                </a:cubicBezTo>
                <a:cubicBezTo>
                  <a:pt x="82152" y="128169"/>
                  <a:pt x="80415" y="131483"/>
                  <a:pt x="80629" y="134967"/>
                </a:cubicBezTo>
                <a:cubicBezTo>
                  <a:pt x="80415" y="138450"/>
                  <a:pt x="82152" y="141764"/>
                  <a:pt x="85138" y="143571"/>
                </a:cubicBezTo>
                <a:cubicBezTo>
                  <a:pt x="88125" y="145377"/>
                  <a:pt x="91866" y="145377"/>
                  <a:pt x="94852" y="143571"/>
                </a:cubicBezTo>
                <a:cubicBezTo>
                  <a:pt x="97839" y="141764"/>
                  <a:pt x="99576" y="138450"/>
                  <a:pt x="99362" y="134967"/>
                </a:cubicBezTo>
                <a:close/>
              </a:path>
            </a:pathLst>
          </a:custGeom>
          <a:solidFill>
            <a:srgbClr val="B89A6A"/>
          </a:solidFill>
        </p:spPr>
      </p:sp>
      <p:sp>
        <p:nvSpPr>
          <p:cNvPr id="40" name="Text 38"/>
          <p:cNvSpPr/>
          <p:nvPr/>
        </p:nvSpPr>
        <p:spPr>
          <a:xfrm>
            <a:off x="6580334" y="1268688"/>
            <a:ext cx="5146734" cy="251938"/>
          </a:xfrm>
          <a:prstGeom prst="rect">
            <a:avLst/>
          </a:prstGeom>
          <a:noFill/>
        </p:spPr>
        <p:txBody>
          <a:bodyPr wrap="square" lIns="0" tIns="0" rIns="0" bIns="0" rtlCol="0" anchor="ctr"/>
          <a:lstStyle/>
          <a:p>
            <a:pPr>
              <a:lnSpc>
                <a:spcPct val="120000"/>
              </a:lnSpc>
            </a:pPr>
            <a:r>
              <a:rPr lang="en-US" sz="141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Expected Adjustments</a:t>
            </a:r>
            <a:endParaRPr lang="en-US" sz="1600" dirty="0"/>
          </a:p>
        </p:txBody>
      </p:sp>
      <p:sp>
        <p:nvSpPr>
          <p:cNvPr id="41" name="Shape 39"/>
          <p:cNvSpPr/>
          <p:nvPr/>
        </p:nvSpPr>
        <p:spPr>
          <a:xfrm>
            <a:off x="6373385" y="1664590"/>
            <a:ext cx="5263705" cy="1313677"/>
          </a:xfrm>
          <a:custGeom>
            <a:avLst/>
            <a:gdLst/>
            <a:ahLst/>
            <a:cxnLst/>
            <a:rect l="l" t="t" r="r" b="b"/>
            <a:pathLst>
              <a:path w="5263705" h="1313677">
                <a:moveTo>
                  <a:pt x="0" y="0"/>
                </a:moveTo>
                <a:lnTo>
                  <a:pt x="5191728" y="0"/>
                </a:lnTo>
                <a:cubicBezTo>
                  <a:pt x="5231480" y="0"/>
                  <a:pt x="5263705" y="32225"/>
                  <a:pt x="5263705" y="71976"/>
                </a:cubicBezTo>
                <a:lnTo>
                  <a:pt x="5263705" y="1241700"/>
                </a:lnTo>
                <a:cubicBezTo>
                  <a:pt x="5263705" y="1281452"/>
                  <a:pt x="5231480" y="1313677"/>
                  <a:pt x="5191728" y="1313677"/>
                </a:cubicBezTo>
                <a:lnTo>
                  <a:pt x="0" y="1313677"/>
                </a:lnTo>
                <a:lnTo>
                  <a:pt x="0" y="0"/>
                </a:lnTo>
                <a:close/>
              </a:path>
            </a:pathLst>
          </a:custGeom>
          <a:solidFill>
            <a:srgbClr val="B89A6A">
              <a:alpha val="10196"/>
            </a:srgbClr>
          </a:solidFill>
        </p:spPr>
      </p:sp>
      <p:sp>
        <p:nvSpPr>
          <p:cNvPr id="42" name="Shape 40"/>
          <p:cNvSpPr/>
          <p:nvPr/>
        </p:nvSpPr>
        <p:spPr>
          <a:xfrm>
            <a:off x="6373385" y="1664590"/>
            <a:ext cx="35991" cy="1313677"/>
          </a:xfrm>
          <a:custGeom>
            <a:avLst/>
            <a:gdLst/>
            <a:ahLst/>
            <a:cxnLst/>
            <a:rect l="l" t="t" r="r" b="b"/>
            <a:pathLst>
              <a:path w="35991" h="1313677">
                <a:moveTo>
                  <a:pt x="0" y="0"/>
                </a:moveTo>
                <a:lnTo>
                  <a:pt x="35991" y="0"/>
                </a:lnTo>
                <a:lnTo>
                  <a:pt x="35991" y="1313677"/>
                </a:lnTo>
                <a:lnTo>
                  <a:pt x="0" y="1313677"/>
                </a:lnTo>
                <a:lnTo>
                  <a:pt x="0" y="0"/>
                </a:lnTo>
                <a:close/>
              </a:path>
            </a:pathLst>
          </a:custGeom>
          <a:solidFill>
            <a:srgbClr val="B89A6A"/>
          </a:solidFill>
        </p:spPr>
      </p:sp>
      <p:sp>
        <p:nvSpPr>
          <p:cNvPr id="43" name="Shape 41"/>
          <p:cNvSpPr/>
          <p:nvPr/>
        </p:nvSpPr>
        <p:spPr>
          <a:xfrm>
            <a:off x="6535345" y="1808555"/>
            <a:ext cx="359911" cy="359911"/>
          </a:xfrm>
          <a:custGeom>
            <a:avLst/>
            <a:gdLst/>
            <a:ahLst/>
            <a:cxnLst/>
            <a:rect l="l" t="t" r="r" b="b"/>
            <a:pathLst>
              <a:path w="359911" h="359911">
                <a:moveTo>
                  <a:pt x="71982" y="0"/>
                </a:moveTo>
                <a:lnTo>
                  <a:pt x="287929" y="0"/>
                </a:lnTo>
                <a:cubicBezTo>
                  <a:pt x="327684" y="0"/>
                  <a:pt x="359911" y="32228"/>
                  <a:pt x="359911" y="71982"/>
                </a:cubicBezTo>
                <a:lnTo>
                  <a:pt x="359911" y="287929"/>
                </a:lnTo>
                <a:cubicBezTo>
                  <a:pt x="359911" y="327684"/>
                  <a:pt x="327684" y="359911"/>
                  <a:pt x="287929" y="359911"/>
                </a:cubicBezTo>
                <a:lnTo>
                  <a:pt x="71982" y="359911"/>
                </a:lnTo>
                <a:cubicBezTo>
                  <a:pt x="32228" y="359911"/>
                  <a:pt x="0" y="327684"/>
                  <a:pt x="0" y="287929"/>
                </a:cubicBezTo>
                <a:lnTo>
                  <a:pt x="0" y="71982"/>
                </a:lnTo>
                <a:cubicBezTo>
                  <a:pt x="0" y="32228"/>
                  <a:pt x="32228" y="0"/>
                  <a:pt x="71982" y="0"/>
                </a:cubicBezTo>
                <a:close/>
              </a:path>
            </a:pathLst>
          </a:custGeom>
          <a:solidFill>
            <a:srgbClr val="B89A6A">
              <a:alpha val="20000"/>
            </a:srgbClr>
          </a:solidFill>
        </p:spPr>
      </p:sp>
      <p:sp>
        <p:nvSpPr>
          <p:cNvPr id="44" name="Shape 42"/>
          <p:cNvSpPr/>
          <p:nvPr/>
        </p:nvSpPr>
        <p:spPr>
          <a:xfrm>
            <a:off x="6636570" y="1907531"/>
            <a:ext cx="161960" cy="161960"/>
          </a:xfrm>
          <a:custGeom>
            <a:avLst/>
            <a:gdLst/>
            <a:ahLst/>
            <a:cxnLst/>
            <a:rect l="l" t="t" r="r" b="b"/>
            <a:pathLst>
              <a:path w="161960" h="161960">
                <a:moveTo>
                  <a:pt x="151869" y="60735"/>
                </a:moveTo>
                <a:lnTo>
                  <a:pt x="154368" y="60735"/>
                </a:lnTo>
                <a:cubicBezTo>
                  <a:pt x="158575" y="60735"/>
                  <a:pt x="161960" y="57350"/>
                  <a:pt x="161960" y="53143"/>
                </a:cubicBezTo>
                <a:lnTo>
                  <a:pt x="161960" y="7592"/>
                </a:lnTo>
                <a:cubicBezTo>
                  <a:pt x="161960" y="4523"/>
                  <a:pt x="160125" y="1740"/>
                  <a:pt x="157278" y="569"/>
                </a:cubicBezTo>
                <a:cubicBezTo>
                  <a:pt x="154432" y="-601"/>
                  <a:pt x="151173" y="63"/>
                  <a:pt x="148991" y="2214"/>
                </a:cubicBezTo>
                <a:lnTo>
                  <a:pt x="132637" y="18600"/>
                </a:lnTo>
                <a:cubicBezTo>
                  <a:pt x="118623" y="6991"/>
                  <a:pt x="100592" y="0"/>
                  <a:pt x="80980" y="0"/>
                </a:cubicBezTo>
                <a:cubicBezTo>
                  <a:pt x="40174" y="0"/>
                  <a:pt x="6421" y="30178"/>
                  <a:pt x="822" y="69434"/>
                </a:cubicBezTo>
                <a:cubicBezTo>
                  <a:pt x="32" y="74970"/>
                  <a:pt x="3859" y="80094"/>
                  <a:pt x="9395" y="80885"/>
                </a:cubicBezTo>
                <a:cubicBezTo>
                  <a:pt x="14931" y="81676"/>
                  <a:pt x="20055" y="77817"/>
                  <a:pt x="20846" y="72313"/>
                </a:cubicBezTo>
                <a:cubicBezTo>
                  <a:pt x="25053" y="42863"/>
                  <a:pt x="50391" y="20245"/>
                  <a:pt x="80980" y="20245"/>
                </a:cubicBezTo>
                <a:cubicBezTo>
                  <a:pt x="95025" y="20245"/>
                  <a:pt x="107931" y="24990"/>
                  <a:pt x="118212" y="32993"/>
                </a:cubicBezTo>
                <a:lnTo>
                  <a:pt x="103439" y="47766"/>
                </a:lnTo>
                <a:cubicBezTo>
                  <a:pt x="101257" y="49948"/>
                  <a:pt x="100624" y="53206"/>
                  <a:pt x="101794" y="56053"/>
                </a:cubicBezTo>
                <a:cubicBezTo>
                  <a:pt x="102965" y="58900"/>
                  <a:pt x="105749" y="60735"/>
                  <a:pt x="108817" y="60735"/>
                </a:cubicBezTo>
                <a:lnTo>
                  <a:pt x="151869" y="60735"/>
                </a:lnTo>
                <a:close/>
                <a:moveTo>
                  <a:pt x="161169" y="92526"/>
                </a:moveTo>
                <a:cubicBezTo>
                  <a:pt x="161960" y="86990"/>
                  <a:pt x="158101" y="81866"/>
                  <a:pt x="152597" y="81075"/>
                </a:cubicBezTo>
                <a:cubicBezTo>
                  <a:pt x="147093" y="80284"/>
                  <a:pt x="141937" y="84143"/>
                  <a:pt x="141146" y="89647"/>
                </a:cubicBezTo>
                <a:cubicBezTo>
                  <a:pt x="136939" y="119066"/>
                  <a:pt x="111601" y="141683"/>
                  <a:pt x="81012" y="141683"/>
                </a:cubicBezTo>
                <a:cubicBezTo>
                  <a:pt x="66967" y="141683"/>
                  <a:pt x="54061" y="136939"/>
                  <a:pt x="43780" y="128935"/>
                </a:cubicBezTo>
                <a:lnTo>
                  <a:pt x="58521" y="114195"/>
                </a:lnTo>
                <a:cubicBezTo>
                  <a:pt x="60703" y="112012"/>
                  <a:pt x="61336" y="108754"/>
                  <a:pt x="60166" y="105907"/>
                </a:cubicBezTo>
                <a:cubicBezTo>
                  <a:pt x="58995" y="103060"/>
                  <a:pt x="56212" y="101225"/>
                  <a:pt x="53143" y="101225"/>
                </a:cubicBezTo>
                <a:lnTo>
                  <a:pt x="7592" y="101225"/>
                </a:lnTo>
                <a:cubicBezTo>
                  <a:pt x="3385" y="101225"/>
                  <a:pt x="0" y="104610"/>
                  <a:pt x="0" y="108817"/>
                </a:cubicBezTo>
                <a:lnTo>
                  <a:pt x="0" y="154368"/>
                </a:lnTo>
                <a:cubicBezTo>
                  <a:pt x="0" y="157437"/>
                  <a:pt x="1835" y="160220"/>
                  <a:pt x="4682" y="161391"/>
                </a:cubicBezTo>
                <a:cubicBezTo>
                  <a:pt x="7529" y="162561"/>
                  <a:pt x="10787" y="161897"/>
                  <a:pt x="12969" y="159746"/>
                </a:cubicBezTo>
                <a:lnTo>
                  <a:pt x="29355" y="143360"/>
                </a:lnTo>
                <a:cubicBezTo>
                  <a:pt x="43337" y="154969"/>
                  <a:pt x="61368" y="161960"/>
                  <a:pt x="80980" y="161960"/>
                </a:cubicBezTo>
                <a:cubicBezTo>
                  <a:pt x="121786" y="161960"/>
                  <a:pt x="155539" y="131782"/>
                  <a:pt x="161138" y="92526"/>
                </a:cubicBezTo>
                <a:close/>
              </a:path>
            </a:pathLst>
          </a:custGeom>
          <a:solidFill>
            <a:srgbClr val="B89A6A"/>
          </a:solidFill>
        </p:spPr>
      </p:sp>
      <p:sp>
        <p:nvSpPr>
          <p:cNvPr id="45" name="Text 43"/>
          <p:cNvSpPr/>
          <p:nvPr/>
        </p:nvSpPr>
        <p:spPr>
          <a:xfrm>
            <a:off x="7003230" y="1808555"/>
            <a:ext cx="4570875" cy="251938"/>
          </a:xfrm>
          <a:prstGeom prst="rect">
            <a:avLst/>
          </a:prstGeom>
          <a:noFill/>
        </p:spPr>
        <p:txBody>
          <a:bodyPr wrap="square" lIns="0" tIns="0" rIns="0" bIns="0" rtlCol="0" anchor="ctr"/>
          <a:lstStyle/>
          <a:p>
            <a:pPr>
              <a:lnSpc>
                <a:spcPct val="130000"/>
              </a:lnSpc>
            </a:pPr>
            <a:r>
              <a:rPr lang="en-US" sz="127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SaaS Deferred Revenue Recognition</a:t>
            </a:r>
            <a:endParaRPr lang="en-US" sz="1600" dirty="0"/>
          </a:p>
        </p:txBody>
      </p:sp>
      <p:sp>
        <p:nvSpPr>
          <p:cNvPr id="46" name="Text 44"/>
          <p:cNvSpPr/>
          <p:nvPr/>
        </p:nvSpPr>
        <p:spPr>
          <a:xfrm>
            <a:off x="7003230" y="2132475"/>
            <a:ext cx="4561877" cy="701827"/>
          </a:xfrm>
          <a:prstGeom prst="rect">
            <a:avLst/>
          </a:prstGeom>
          <a:noFill/>
        </p:spPr>
        <p:txBody>
          <a:bodyPr wrap="square" lIns="0" tIns="0" rIns="0" bIns="0" rtlCol="0" anchor="ctr"/>
          <a:lstStyle/>
          <a:p>
            <a:pPr>
              <a:lnSpc>
                <a:spcPct val="140000"/>
              </a:lnSpc>
            </a:pPr>
            <a:r>
              <a:rPr lang="en-US" sz="1135" dirty="0">
                <a:solidFill>
                  <a:srgbClr val="78828A"/>
                </a:solidFill>
                <a:latin typeface="Liter" panose="02000503030000020004" pitchFamily="34" charset="0"/>
                <a:ea typeface="Liter" panose="02000503030000020004" pitchFamily="34" charset="-122"/>
                <a:cs typeface="Liter" panose="02000503030000020004" pitchFamily="34" charset="-120"/>
              </a:rPr>
              <a:t>Minor adjustments expected on SaaS deferred revenue recognition practices to ensure full compliance with </a:t>
            </a:r>
            <a:r>
              <a:rPr lang="en-US" sz="1135" b="1" dirty="0">
                <a:solidFill>
                  <a:srgbClr val="B89A6A"/>
                </a:solidFill>
                <a:latin typeface="Liter" panose="02000503030000020004" pitchFamily="34" charset="0"/>
                <a:ea typeface="Liter" panose="02000503030000020004" pitchFamily="34" charset="-122"/>
                <a:cs typeface="Liter" panose="02000503030000020004" pitchFamily="34" charset="-120"/>
              </a:rPr>
              <a:t>ASC 606</a:t>
            </a:r>
            <a:r>
              <a:rPr lang="en-US" sz="1135" dirty="0">
                <a:solidFill>
                  <a:srgbClr val="78828A"/>
                </a:solidFill>
                <a:latin typeface="Liter" panose="02000503030000020004" pitchFamily="34" charset="0"/>
                <a:ea typeface="Liter" panose="02000503030000020004" pitchFamily="34" charset="-122"/>
                <a:cs typeface="Liter" panose="02000503030000020004" pitchFamily="34" charset="-120"/>
              </a:rPr>
              <a:t> standards. This may impact timing of revenue recognition but not total contract value.</a:t>
            </a:r>
            <a:endParaRPr lang="en-US" sz="1600" dirty="0"/>
          </a:p>
        </p:txBody>
      </p:sp>
      <p:sp>
        <p:nvSpPr>
          <p:cNvPr id="47" name="Shape 45"/>
          <p:cNvSpPr/>
          <p:nvPr/>
        </p:nvSpPr>
        <p:spPr>
          <a:xfrm>
            <a:off x="6359888" y="3126731"/>
            <a:ext cx="5272703" cy="440892"/>
          </a:xfrm>
          <a:custGeom>
            <a:avLst/>
            <a:gdLst/>
            <a:ahLst/>
            <a:cxnLst/>
            <a:rect l="l" t="t" r="r" b="b"/>
            <a:pathLst>
              <a:path w="5272703" h="440892">
                <a:moveTo>
                  <a:pt x="71984" y="0"/>
                </a:moveTo>
                <a:lnTo>
                  <a:pt x="5200718" y="0"/>
                </a:lnTo>
                <a:cubicBezTo>
                  <a:pt x="5240447" y="0"/>
                  <a:pt x="5272703" y="32255"/>
                  <a:pt x="5272703" y="71984"/>
                </a:cubicBezTo>
                <a:lnTo>
                  <a:pt x="5272703" y="368907"/>
                </a:lnTo>
                <a:cubicBezTo>
                  <a:pt x="5272703" y="408663"/>
                  <a:pt x="5240474" y="440892"/>
                  <a:pt x="5200718" y="440892"/>
                </a:cubicBezTo>
                <a:lnTo>
                  <a:pt x="71984" y="440892"/>
                </a:lnTo>
                <a:cubicBezTo>
                  <a:pt x="32255" y="440892"/>
                  <a:pt x="0" y="408636"/>
                  <a:pt x="0" y="368907"/>
                </a:cubicBezTo>
                <a:lnTo>
                  <a:pt x="0" y="71984"/>
                </a:lnTo>
                <a:cubicBezTo>
                  <a:pt x="0" y="32255"/>
                  <a:pt x="32255" y="0"/>
                  <a:pt x="71984" y="0"/>
                </a:cubicBezTo>
                <a:close/>
              </a:path>
            </a:pathLst>
          </a:custGeom>
          <a:solidFill>
            <a:srgbClr val="1A1D24">
              <a:alpha val="60000"/>
            </a:srgbClr>
          </a:solidFill>
          <a:ln w="12700">
            <a:solidFill>
              <a:srgbClr val="4A5C6A">
                <a:alpha val="30196"/>
              </a:srgbClr>
            </a:solidFill>
            <a:prstDash val="solid"/>
          </a:ln>
        </p:spPr>
      </p:sp>
      <p:sp>
        <p:nvSpPr>
          <p:cNvPr id="48" name="Shape 46"/>
          <p:cNvSpPr/>
          <p:nvPr/>
        </p:nvSpPr>
        <p:spPr>
          <a:xfrm>
            <a:off x="6490356" y="3284192"/>
            <a:ext cx="125969" cy="125969"/>
          </a:xfrm>
          <a:custGeom>
            <a:avLst/>
            <a:gdLst/>
            <a:ahLst/>
            <a:cxnLst/>
            <a:rect l="l" t="t" r="r" b="b"/>
            <a:pathLst>
              <a:path w="125969" h="125969">
                <a:moveTo>
                  <a:pt x="123656" y="68545"/>
                </a:moveTo>
                <a:cubicBezTo>
                  <a:pt x="126732" y="65469"/>
                  <a:pt x="126732" y="60475"/>
                  <a:pt x="123656" y="57400"/>
                </a:cubicBezTo>
                <a:lnTo>
                  <a:pt x="84291" y="18034"/>
                </a:lnTo>
                <a:cubicBezTo>
                  <a:pt x="81216" y="14959"/>
                  <a:pt x="76221" y="14959"/>
                  <a:pt x="73146" y="18034"/>
                </a:cubicBezTo>
                <a:cubicBezTo>
                  <a:pt x="70070" y="21110"/>
                  <a:pt x="70070" y="26104"/>
                  <a:pt x="73146" y="29180"/>
                </a:cubicBezTo>
                <a:lnTo>
                  <a:pt x="99078" y="55111"/>
                </a:lnTo>
                <a:lnTo>
                  <a:pt x="7873" y="55111"/>
                </a:lnTo>
                <a:cubicBezTo>
                  <a:pt x="3518" y="55111"/>
                  <a:pt x="0" y="58630"/>
                  <a:pt x="0" y="62985"/>
                </a:cubicBezTo>
                <a:cubicBezTo>
                  <a:pt x="0" y="67339"/>
                  <a:pt x="3518" y="70858"/>
                  <a:pt x="7873" y="70858"/>
                </a:cubicBezTo>
                <a:lnTo>
                  <a:pt x="99078" y="70858"/>
                </a:lnTo>
                <a:lnTo>
                  <a:pt x="73146" y="96789"/>
                </a:lnTo>
                <a:cubicBezTo>
                  <a:pt x="70070" y="99865"/>
                  <a:pt x="70070" y="104859"/>
                  <a:pt x="73146" y="107935"/>
                </a:cubicBezTo>
                <a:cubicBezTo>
                  <a:pt x="76221" y="111010"/>
                  <a:pt x="81216" y="111010"/>
                  <a:pt x="84291" y="107935"/>
                </a:cubicBezTo>
                <a:lnTo>
                  <a:pt x="123656" y="68569"/>
                </a:lnTo>
                <a:close/>
              </a:path>
            </a:pathLst>
          </a:custGeom>
          <a:solidFill>
            <a:srgbClr val="B89A6A"/>
          </a:solidFill>
        </p:spPr>
      </p:sp>
      <p:sp>
        <p:nvSpPr>
          <p:cNvPr id="49" name="Text 47"/>
          <p:cNvSpPr/>
          <p:nvPr/>
        </p:nvSpPr>
        <p:spPr>
          <a:xfrm>
            <a:off x="6737795" y="3239203"/>
            <a:ext cx="2609358" cy="215947"/>
          </a:xfrm>
          <a:prstGeom prst="rect">
            <a:avLst/>
          </a:prstGeom>
          <a:noFill/>
        </p:spPr>
        <p:txBody>
          <a:bodyPr wrap="square" lIns="0" tIns="0" rIns="0" bIns="0" rtlCol="0" anchor="ctr"/>
          <a:lstStyle/>
          <a:p>
            <a:pPr>
              <a:lnSpc>
                <a:spcPct val="130000"/>
              </a:lnSpc>
            </a:pPr>
            <a:r>
              <a:rPr lang="en-US" sz="1135" dirty="0">
                <a:solidFill>
                  <a:srgbClr val="E0E2E5"/>
                </a:solidFill>
                <a:latin typeface="Liter" panose="02000503030000020004" pitchFamily="34" charset="0"/>
                <a:ea typeface="Liter" panose="02000503030000020004" pitchFamily="34" charset="-122"/>
                <a:cs typeface="Liter" panose="02000503030000020004" pitchFamily="34" charset="-120"/>
              </a:rPr>
              <a:t>Revenue recognition timing adjustments</a:t>
            </a:r>
            <a:endParaRPr lang="en-US" sz="1600" dirty="0"/>
          </a:p>
        </p:txBody>
      </p:sp>
      <p:sp>
        <p:nvSpPr>
          <p:cNvPr id="50" name="Shape 48"/>
          <p:cNvSpPr/>
          <p:nvPr/>
        </p:nvSpPr>
        <p:spPr>
          <a:xfrm>
            <a:off x="6359888" y="3684593"/>
            <a:ext cx="5272703" cy="440892"/>
          </a:xfrm>
          <a:custGeom>
            <a:avLst/>
            <a:gdLst/>
            <a:ahLst/>
            <a:cxnLst/>
            <a:rect l="l" t="t" r="r" b="b"/>
            <a:pathLst>
              <a:path w="5272703" h="440892">
                <a:moveTo>
                  <a:pt x="71984" y="0"/>
                </a:moveTo>
                <a:lnTo>
                  <a:pt x="5200718" y="0"/>
                </a:lnTo>
                <a:cubicBezTo>
                  <a:pt x="5240447" y="0"/>
                  <a:pt x="5272703" y="32255"/>
                  <a:pt x="5272703" y="71984"/>
                </a:cubicBezTo>
                <a:lnTo>
                  <a:pt x="5272703" y="368907"/>
                </a:lnTo>
                <a:cubicBezTo>
                  <a:pt x="5272703" y="408663"/>
                  <a:pt x="5240474" y="440892"/>
                  <a:pt x="5200718" y="440892"/>
                </a:cubicBezTo>
                <a:lnTo>
                  <a:pt x="71984" y="440892"/>
                </a:lnTo>
                <a:cubicBezTo>
                  <a:pt x="32255" y="440892"/>
                  <a:pt x="0" y="408636"/>
                  <a:pt x="0" y="368907"/>
                </a:cubicBezTo>
                <a:lnTo>
                  <a:pt x="0" y="71984"/>
                </a:lnTo>
                <a:cubicBezTo>
                  <a:pt x="0" y="32255"/>
                  <a:pt x="32255" y="0"/>
                  <a:pt x="71984" y="0"/>
                </a:cubicBezTo>
                <a:close/>
              </a:path>
            </a:pathLst>
          </a:custGeom>
          <a:solidFill>
            <a:srgbClr val="1A1D24">
              <a:alpha val="60000"/>
            </a:srgbClr>
          </a:solidFill>
          <a:ln w="12700">
            <a:solidFill>
              <a:srgbClr val="4A5C6A">
                <a:alpha val="30196"/>
              </a:srgbClr>
            </a:solidFill>
            <a:prstDash val="solid"/>
          </a:ln>
        </p:spPr>
      </p:sp>
      <p:sp>
        <p:nvSpPr>
          <p:cNvPr id="51" name="Shape 49"/>
          <p:cNvSpPr/>
          <p:nvPr/>
        </p:nvSpPr>
        <p:spPr>
          <a:xfrm>
            <a:off x="6490356" y="3842055"/>
            <a:ext cx="125969" cy="125969"/>
          </a:xfrm>
          <a:custGeom>
            <a:avLst/>
            <a:gdLst/>
            <a:ahLst/>
            <a:cxnLst/>
            <a:rect l="l" t="t" r="r" b="b"/>
            <a:pathLst>
              <a:path w="125969" h="125969">
                <a:moveTo>
                  <a:pt x="123656" y="68545"/>
                </a:moveTo>
                <a:cubicBezTo>
                  <a:pt x="126732" y="65469"/>
                  <a:pt x="126732" y="60475"/>
                  <a:pt x="123656" y="57400"/>
                </a:cubicBezTo>
                <a:lnTo>
                  <a:pt x="84291" y="18034"/>
                </a:lnTo>
                <a:cubicBezTo>
                  <a:pt x="81216" y="14959"/>
                  <a:pt x="76221" y="14959"/>
                  <a:pt x="73146" y="18034"/>
                </a:cubicBezTo>
                <a:cubicBezTo>
                  <a:pt x="70070" y="21110"/>
                  <a:pt x="70070" y="26104"/>
                  <a:pt x="73146" y="29180"/>
                </a:cubicBezTo>
                <a:lnTo>
                  <a:pt x="99078" y="55111"/>
                </a:lnTo>
                <a:lnTo>
                  <a:pt x="7873" y="55111"/>
                </a:lnTo>
                <a:cubicBezTo>
                  <a:pt x="3518" y="55111"/>
                  <a:pt x="0" y="58630"/>
                  <a:pt x="0" y="62985"/>
                </a:cubicBezTo>
                <a:cubicBezTo>
                  <a:pt x="0" y="67339"/>
                  <a:pt x="3518" y="70858"/>
                  <a:pt x="7873" y="70858"/>
                </a:cubicBezTo>
                <a:lnTo>
                  <a:pt x="99078" y="70858"/>
                </a:lnTo>
                <a:lnTo>
                  <a:pt x="73146" y="96789"/>
                </a:lnTo>
                <a:cubicBezTo>
                  <a:pt x="70070" y="99865"/>
                  <a:pt x="70070" y="104859"/>
                  <a:pt x="73146" y="107935"/>
                </a:cubicBezTo>
                <a:cubicBezTo>
                  <a:pt x="76221" y="111010"/>
                  <a:pt x="81216" y="111010"/>
                  <a:pt x="84291" y="107935"/>
                </a:cubicBezTo>
                <a:lnTo>
                  <a:pt x="123656" y="68569"/>
                </a:lnTo>
                <a:close/>
              </a:path>
            </a:pathLst>
          </a:custGeom>
          <a:solidFill>
            <a:srgbClr val="B89A6A"/>
          </a:solidFill>
        </p:spPr>
      </p:sp>
      <p:sp>
        <p:nvSpPr>
          <p:cNvPr id="52" name="Text 50"/>
          <p:cNvSpPr/>
          <p:nvPr/>
        </p:nvSpPr>
        <p:spPr>
          <a:xfrm>
            <a:off x="6737795" y="3797066"/>
            <a:ext cx="2312431" cy="215947"/>
          </a:xfrm>
          <a:prstGeom prst="rect">
            <a:avLst/>
          </a:prstGeom>
          <a:noFill/>
        </p:spPr>
        <p:txBody>
          <a:bodyPr wrap="square" lIns="0" tIns="0" rIns="0" bIns="0" rtlCol="0" anchor="ctr"/>
          <a:lstStyle/>
          <a:p>
            <a:pPr>
              <a:lnSpc>
                <a:spcPct val="130000"/>
              </a:lnSpc>
            </a:pPr>
            <a:r>
              <a:rPr lang="en-US" sz="1135" dirty="0">
                <a:solidFill>
                  <a:srgbClr val="E0E2E5"/>
                </a:solidFill>
                <a:latin typeface="Liter" panose="02000503030000020004" pitchFamily="34" charset="0"/>
                <a:ea typeface="Liter" panose="02000503030000020004" pitchFamily="34" charset="-122"/>
                <a:cs typeface="Liter" panose="02000503030000020004" pitchFamily="34" charset="-120"/>
              </a:rPr>
              <a:t>Contract modification assessments</a:t>
            </a:r>
            <a:endParaRPr lang="en-US" sz="1600" dirty="0"/>
          </a:p>
        </p:txBody>
      </p:sp>
      <p:sp>
        <p:nvSpPr>
          <p:cNvPr id="53" name="Shape 51"/>
          <p:cNvSpPr/>
          <p:nvPr/>
        </p:nvSpPr>
        <p:spPr>
          <a:xfrm>
            <a:off x="6359888" y="4242456"/>
            <a:ext cx="5272703" cy="440892"/>
          </a:xfrm>
          <a:custGeom>
            <a:avLst/>
            <a:gdLst/>
            <a:ahLst/>
            <a:cxnLst/>
            <a:rect l="l" t="t" r="r" b="b"/>
            <a:pathLst>
              <a:path w="5272703" h="440892">
                <a:moveTo>
                  <a:pt x="71984" y="0"/>
                </a:moveTo>
                <a:lnTo>
                  <a:pt x="5200718" y="0"/>
                </a:lnTo>
                <a:cubicBezTo>
                  <a:pt x="5240447" y="0"/>
                  <a:pt x="5272703" y="32255"/>
                  <a:pt x="5272703" y="71984"/>
                </a:cubicBezTo>
                <a:lnTo>
                  <a:pt x="5272703" y="368907"/>
                </a:lnTo>
                <a:cubicBezTo>
                  <a:pt x="5272703" y="408663"/>
                  <a:pt x="5240474" y="440892"/>
                  <a:pt x="5200718" y="440892"/>
                </a:cubicBezTo>
                <a:lnTo>
                  <a:pt x="71984" y="440892"/>
                </a:lnTo>
                <a:cubicBezTo>
                  <a:pt x="32255" y="440892"/>
                  <a:pt x="0" y="408636"/>
                  <a:pt x="0" y="368907"/>
                </a:cubicBezTo>
                <a:lnTo>
                  <a:pt x="0" y="71984"/>
                </a:lnTo>
                <a:cubicBezTo>
                  <a:pt x="0" y="32255"/>
                  <a:pt x="32255" y="0"/>
                  <a:pt x="71984" y="0"/>
                </a:cubicBezTo>
                <a:close/>
              </a:path>
            </a:pathLst>
          </a:custGeom>
          <a:solidFill>
            <a:srgbClr val="1A1D24">
              <a:alpha val="60000"/>
            </a:srgbClr>
          </a:solidFill>
          <a:ln w="12700">
            <a:solidFill>
              <a:srgbClr val="4A5C6A">
                <a:alpha val="30196"/>
              </a:srgbClr>
            </a:solidFill>
            <a:prstDash val="solid"/>
          </a:ln>
        </p:spPr>
      </p:sp>
      <p:sp>
        <p:nvSpPr>
          <p:cNvPr id="54" name="Shape 52"/>
          <p:cNvSpPr/>
          <p:nvPr/>
        </p:nvSpPr>
        <p:spPr>
          <a:xfrm>
            <a:off x="6490356" y="4399917"/>
            <a:ext cx="125969" cy="125969"/>
          </a:xfrm>
          <a:custGeom>
            <a:avLst/>
            <a:gdLst/>
            <a:ahLst/>
            <a:cxnLst/>
            <a:rect l="l" t="t" r="r" b="b"/>
            <a:pathLst>
              <a:path w="125969" h="125969">
                <a:moveTo>
                  <a:pt x="123656" y="68545"/>
                </a:moveTo>
                <a:cubicBezTo>
                  <a:pt x="126732" y="65469"/>
                  <a:pt x="126732" y="60475"/>
                  <a:pt x="123656" y="57400"/>
                </a:cubicBezTo>
                <a:lnTo>
                  <a:pt x="84291" y="18034"/>
                </a:lnTo>
                <a:cubicBezTo>
                  <a:pt x="81216" y="14959"/>
                  <a:pt x="76221" y="14959"/>
                  <a:pt x="73146" y="18034"/>
                </a:cubicBezTo>
                <a:cubicBezTo>
                  <a:pt x="70070" y="21110"/>
                  <a:pt x="70070" y="26104"/>
                  <a:pt x="73146" y="29180"/>
                </a:cubicBezTo>
                <a:lnTo>
                  <a:pt x="99078" y="55111"/>
                </a:lnTo>
                <a:lnTo>
                  <a:pt x="7873" y="55111"/>
                </a:lnTo>
                <a:cubicBezTo>
                  <a:pt x="3518" y="55111"/>
                  <a:pt x="0" y="58630"/>
                  <a:pt x="0" y="62985"/>
                </a:cubicBezTo>
                <a:cubicBezTo>
                  <a:pt x="0" y="67339"/>
                  <a:pt x="3518" y="70858"/>
                  <a:pt x="7873" y="70858"/>
                </a:cubicBezTo>
                <a:lnTo>
                  <a:pt x="99078" y="70858"/>
                </a:lnTo>
                <a:lnTo>
                  <a:pt x="73146" y="96789"/>
                </a:lnTo>
                <a:cubicBezTo>
                  <a:pt x="70070" y="99865"/>
                  <a:pt x="70070" y="104859"/>
                  <a:pt x="73146" y="107935"/>
                </a:cubicBezTo>
                <a:cubicBezTo>
                  <a:pt x="76221" y="111010"/>
                  <a:pt x="81216" y="111010"/>
                  <a:pt x="84291" y="107935"/>
                </a:cubicBezTo>
                <a:lnTo>
                  <a:pt x="123656" y="68569"/>
                </a:lnTo>
                <a:close/>
              </a:path>
            </a:pathLst>
          </a:custGeom>
          <a:solidFill>
            <a:srgbClr val="B89A6A"/>
          </a:solidFill>
        </p:spPr>
      </p:sp>
      <p:sp>
        <p:nvSpPr>
          <p:cNvPr id="55" name="Text 53"/>
          <p:cNvSpPr/>
          <p:nvPr/>
        </p:nvSpPr>
        <p:spPr>
          <a:xfrm>
            <a:off x="6737795" y="4354928"/>
            <a:ext cx="2303433" cy="215947"/>
          </a:xfrm>
          <a:prstGeom prst="rect">
            <a:avLst/>
          </a:prstGeom>
          <a:noFill/>
        </p:spPr>
        <p:txBody>
          <a:bodyPr wrap="square" lIns="0" tIns="0" rIns="0" bIns="0" rtlCol="0" anchor="ctr"/>
          <a:lstStyle/>
          <a:p>
            <a:pPr>
              <a:lnSpc>
                <a:spcPct val="130000"/>
              </a:lnSpc>
            </a:pPr>
            <a:r>
              <a:rPr lang="en-US" sz="1135" dirty="0">
                <a:solidFill>
                  <a:srgbClr val="E0E2E5"/>
                </a:solidFill>
                <a:latin typeface="Liter" panose="02000503030000020004" pitchFamily="34" charset="0"/>
                <a:ea typeface="Liter" panose="02000503030000020004" pitchFamily="34" charset="-122"/>
                <a:cs typeface="Liter" panose="02000503030000020004" pitchFamily="34" charset="-120"/>
              </a:rPr>
              <a:t>Performance obligation evaluations</a:t>
            </a:r>
            <a:endParaRPr lang="en-US" sz="1600" dirty="0"/>
          </a:p>
        </p:txBody>
      </p:sp>
      <p:sp>
        <p:nvSpPr>
          <p:cNvPr id="56" name="Shape 54"/>
          <p:cNvSpPr/>
          <p:nvPr/>
        </p:nvSpPr>
        <p:spPr>
          <a:xfrm>
            <a:off x="6170935" y="4989272"/>
            <a:ext cx="5650610" cy="1628599"/>
          </a:xfrm>
          <a:custGeom>
            <a:avLst/>
            <a:gdLst/>
            <a:ahLst/>
            <a:cxnLst/>
            <a:rect l="l" t="t" r="r" b="b"/>
            <a:pathLst>
              <a:path w="5650610" h="1628599">
                <a:moveTo>
                  <a:pt x="71984" y="0"/>
                </a:moveTo>
                <a:lnTo>
                  <a:pt x="5578626" y="0"/>
                </a:lnTo>
                <a:cubicBezTo>
                  <a:pt x="5618381" y="0"/>
                  <a:pt x="5650610" y="32228"/>
                  <a:pt x="5650610" y="71984"/>
                </a:cubicBezTo>
                <a:lnTo>
                  <a:pt x="5650610" y="1556615"/>
                </a:lnTo>
                <a:cubicBezTo>
                  <a:pt x="5650610" y="1596371"/>
                  <a:pt x="5618381" y="1628599"/>
                  <a:pt x="5578626" y="1628599"/>
                </a:cubicBezTo>
                <a:lnTo>
                  <a:pt x="71984" y="1628599"/>
                </a:lnTo>
                <a:cubicBezTo>
                  <a:pt x="32255" y="1628599"/>
                  <a:pt x="0" y="1596344"/>
                  <a:pt x="0" y="1556615"/>
                </a:cubicBezTo>
                <a:lnTo>
                  <a:pt x="0" y="71984"/>
                </a:lnTo>
                <a:cubicBezTo>
                  <a:pt x="0" y="32228"/>
                  <a:pt x="32228" y="0"/>
                  <a:pt x="71984" y="0"/>
                </a:cubicBezTo>
                <a:close/>
              </a:path>
            </a:pathLst>
          </a:custGeom>
          <a:solidFill>
            <a:srgbClr val="4A5C6A">
              <a:alpha val="10196"/>
            </a:srgbClr>
          </a:solidFill>
          <a:ln w="12700">
            <a:solidFill>
              <a:srgbClr val="4A5C6A">
                <a:alpha val="30196"/>
              </a:srgbClr>
            </a:solidFill>
            <a:prstDash val="solid"/>
          </a:ln>
        </p:spPr>
      </p:sp>
      <p:sp>
        <p:nvSpPr>
          <p:cNvPr id="57" name="Text 55"/>
          <p:cNvSpPr/>
          <p:nvPr/>
        </p:nvSpPr>
        <p:spPr>
          <a:xfrm>
            <a:off x="6319398" y="5137736"/>
            <a:ext cx="5434663" cy="251938"/>
          </a:xfrm>
          <a:prstGeom prst="rect">
            <a:avLst/>
          </a:prstGeom>
          <a:noFill/>
        </p:spPr>
        <p:txBody>
          <a:bodyPr wrap="square" lIns="0" tIns="0" rIns="0" bIns="0" rtlCol="0" anchor="ctr"/>
          <a:lstStyle/>
          <a:p>
            <a:pPr>
              <a:lnSpc>
                <a:spcPct val="130000"/>
              </a:lnSpc>
            </a:pPr>
            <a:r>
              <a:rPr lang="en-US" sz="1275"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Key Audit Focus Areas</a:t>
            </a:r>
            <a:endParaRPr lang="en-US" sz="1600" dirty="0"/>
          </a:p>
        </p:txBody>
      </p:sp>
      <p:sp>
        <p:nvSpPr>
          <p:cNvPr id="58" name="Shape 56"/>
          <p:cNvSpPr/>
          <p:nvPr/>
        </p:nvSpPr>
        <p:spPr>
          <a:xfrm>
            <a:off x="6319398" y="5497647"/>
            <a:ext cx="2627354" cy="431894"/>
          </a:xfrm>
          <a:custGeom>
            <a:avLst/>
            <a:gdLst/>
            <a:ahLst/>
            <a:cxnLst/>
            <a:rect l="l" t="t" r="r" b="b"/>
            <a:pathLst>
              <a:path w="2627354" h="431894">
                <a:moveTo>
                  <a:pt x="71984" y="0"/>
                </a:moveTo>
                <a:lnTo>
                  <a:pt x="2555370" y="0"/>
                </a:lnTo>
                <a:cubicBezTo>
                  <a:pt x="2595099" y="0"/>
                  <a:pt x="2627354" y="32255"/>
                  <a:pt x="2627354" y="71984"/>
                </a:cubicBezTo>
                <a:lnTo>
                  <a:pt x="2627354" y="359910"/>
                </a:lnTo>
                <a:cubicBezTo>
                  <a:pt x="2627354" y="399639"/>
                  <a:pt x="2595099" y="431894"/>
                  <a:pt x="2555370" y="431894"/>
                </a:cubicBezTo>
                <a:lnTo>
                  <a:pt x="71984" y="431894"/>
                </a:lnTo>
                <a:cubicBezTo>
                  <a:pt x="32255" y="431894"/>
                  <a:pt x="0" y="399639"/>
                  <a:pt x="0" y="359910"/>
                </a:cubicBezTo>
                <a:lnTo>
                  <a:pt x="0" y="71984"/>
                </a:lnTo>
                <a:cubicBezTo>
                  <a:pt x="0" y="32255"/>
                  <a:pt x="32255" y="0"/>
                  <a:pt x="71984" y="0"/>
                </a:cubicBezTo>
                <a:close/>
              </a:path>
            </a:pathLst>
          </a:custGeom>
          <a:solidFill>
            <a:srgbClr val="1A1D24">
              <a:alpha val="60000"/>
            </a:srgbClr>
          </a:solidFill>
        </p:spPr>
      </p:sp>
      <p:sp>
        <p:nvSpPr>
          <p:cNvPr id="59" name="Shape 57"/>
          <p:cNvSpPr/>
          <p:nvPr/>
        </p:nvSpPr>
        <p:spPr>
          <a:xfrm>
            <a:off x="6480234" y="5632614"/>
            <a:ext cx="101225" cy="161960"/>
          </a:xfrm>
          <a:custGeom>
            <a:avLst/>
            <a:gdLst/>
            <a:ahLst/>
            <a:cxnLst/>
            <a:rect l="l" t="t" r="r" b="b"/>
            <a:pathLst>
              <a:path w="101225" h="161960">
                <a:moveTo>
                  <a:pt x="43021" y="7592"/>
                </a:moveTo>
                <a:cubicBezTo>
                  <a:pt x="43021" y="3385"/>
                  <a:pt x="46405" y="0"/>
                  <a:pt x="50613" y="0"/>
                </a:cubicBezTo>
                <a:cubicBezTo>
                  <a:pt x="54820" y="0"/>
                  <a:pt x="58204" y="3385"/>
                  <a:pt x="58204" y="7592"/>
                </a:cubicBezTo>
                <a:lnTo>
                  <a:pt x="58204" y="20245"/>
                </a:lnTo>
                <a:lnTo>
                  <a:pt x="75919" y="20245"/>
                </a:lnTo>
                <a:cubicBezTo>
                  <a:pt x="81518" y="20245"/>
                  <a:pt x="86041" y="24769"/>
                  <a:pt x="86041" y="30368"/>
                </a:cubicBezTo>
                <a:cubicBezTo>
                  <a:pt x="86041" y="35967"/>
                  <a:pt x="81518" y="40490"/>
                  <a:pt x="75919" y="40490"/>
                </a:cubicBezTo>
                <a:lnTo>
                  <a:pt x="39573" y="40490"/>
                </a:lnTo>
                <a:cubicBezTo>
                  <a:pt x="31696" y="40490"/>
                  <a:pt x="25306" y="46880"/>
                  <a:pt x="25306" y="54756"/>
                </a:cubicBezTo>
                <a:cubicBezTo>
                  <a:pt x="25306" y="61874"/>
                  <a:pt x="30526" y="67884"/>
                  <a:pt x="37548" y="68896"/>
                </a:cubicBezTo>
                <a:lnTo>
                  <a:pt x="66524" y="73040"/>
                </a:lnTo>
                <a:cubicBezTo>
                  <a:pt x="83542" y="75476"/>
                  <a:pt x="96164" y="90027"/>
                  <a:pt x="96164" y="107204"/>
                </a:cubicBezTo>
                <a:cubicBezTo>
                  <a:pt x="96164" y="126278"/>
                  <a:pt x="80695" y="141715"/>
                  <a:pt x="61652" y="141715"/>
                </a:cubicBezTo>
                <a:lnTo>
                  <a:pt x="58204" y="141715"/>
                </a:lnTo>
                <a:lnTo>
                  <a:pt x="58204" y="154368"/>
                </a:lnTo>
                <a:cubicBezTo>
                  <a:pt x="58204" y="158575"/>
                  <a:pt x="54820" y="161960"/>
                  <a:pt x="50613" y="161960"/>
                </a:cubicBezTo>
                <a:cubicBezTo>
                  <a:pt x="46405" y="161960"/>
                  <a:pt x="43021" y="158575"/>
                  <a:pt x="43021" y="154368"/>
                </a:cubicBezTo>
                <a:lnTo>
                  <a:pt x="43021" y="141715"/>
                </a:lnTo>
                <a:lnTo>
                  <a:pt x="20245" y="141715"/>
                </a:lnTo>
                <a:cubicBezTo>
                  <a:pt x="14646" y="141715"/>
                  <a:pt x="10123" y="137192"/>
                  <a:pt x="10123" y="131593"/>
                </a:cubicBezTo>
                <a:cubicBezTo>
                  <a:pt x="10123" y="125994"/>
                  <a:pt x="14646" y="121470"/>
                  <a:pt x="20245" y="121470"/>
                </a:cubicBezTo>
                <a:lnTo>
                  <a:pt x="61652" y="121470"/>
                </a:lnTo>
                <a:cubicBezTo>
                  <a:pt x="69529" y="121470"/>
                  <a:pt x="75919" y="115080"/>
                  <a:pt x="75919" y="107204"/>
                </a:cubicBezTo>
                <a:cubicBezTo>
                  <a:pt x="75919" y="100086"/>
                  <a:pt x="70699" y="94076"/>
                  <a:pt x="63677" y="93064"/>
                </a:cubicBezTo>
                <a:lnTo>
                  <a:pt x="34701" y="88920"/>
                </a:lnTo>
                <a:cubicBezTo>
                  <a:pt x="17683" y="86516"/>
                  <a:pt x="5061" y="71933"/>
                  <a:pt x="5061" y="54756"/>
                </a:cubicBezTo>
                <a:cubicBezTo>
                  <a:pt x="5061" y="35713"/>
                  <a:pt x="20530" y="20245"/>
                  <a:pt x="39573" y="20245"/>
                </a:cubicBezTo>
                <a:lnTo>
                  <a:pt x="43021" y="20245"/>
                </a:lnTo>
                <a:lnTo>
                  <a:pt x="43021" y="7592"/>
                </a:lnTo>
                <a:close/>
              </a:path>
            </a:pathLst>
          </a:custGeom>
          <a:solidFill>
            <a:srgbClr val="B89A6A"/>
          </a:solidFill>
        </p:spPr>
      </p:sp>
      <p:sp>
        <p:nvSpPr>
          <p:cNvPr id="60" name="Text 58"/>
          <p:cNvSpPr/>
          <p:nvPr/>
        </p:nvSpPr>
        <p:spPr>
          <a:xfrm>
            <a:off x="6737795" y="5605621"/>
            <a:ext cx="1412652" cy="215947"/>
          </a:xfrm>
          <a:prstGeom prst="rect">
            <a:avLst/>
          </a:prstGeom>
          <a:noFill/>
        </p:spPr>
        <p:txBody>
          <a:bodyPr wrap="square" lIns="0" tIns="0" rIns="0" bIns="0" rtlCol="0" anchor="ctr"/>
          <a:lstStyle/>
          <a:p>
            <a:pPr>
              <a:lnSpc>
                <a:spcPct val="130000"/>
              </a:lnSpc>
            </a:pPr>
            <a:r>
              <a:rPr lang="en-US" sz="1135" dirty="0">
                <a:solidFill>
                  <a:srgbClr val="E0E2E5"/>
                </a:solidFill>
                <a:latin typeface="Liter" panose="02000503030000020004" pitchFamily="34" charset="0"/>
                <a:ea typeface="Liter" panose="02000503030000020004" pitchFamily="34" charset="-122"/>
                <a:cs typeface="Liter" panose="02000503030000020004" pitchFamily="34" charset="-120"/>
              </a:rPr>
              <a:t>Revenue Recognition</a:t>
            </a:r>
            <a:endParaRPr lang="en-US" sz="1600" dirty="0"/>
          </a:p>
        </p:txBody>
      </p:sp>
      <p:sp>
        <p:nvSpPr>
          <p:cNvPr id="61" name="Shape 59"/>
          <p:cNvSpPr/>
          <p:nvPr/>
        </p:nvSpPr>
        <p:spPr>
          <a:xfrm>
            <a:off x="9051702" y="5497647"/>
            <a:ext cx="2627354" cy="431894"/>
          </a:xfrm>
          <a:custGeom>
            <a:avLst/>
            <a:gdLst/>
            <a:ahLst/>
            <a:cxnLst/>
            <a:rect l="l" t="t" r="r" b="b"/>
            <a:pathLst>
              <a:path w="2627354" h="431894">
                <a:moveTo>
                  <a:pt x="71984" y="0"/>
                </a:moveTo>
                <a:lnTo>
                  <a:pt x="2555370" y="0"/>
                </a:lnTo>
                <a:cubicBezTo>
                  <a:pt x="2595099" y="0"/>
                  <a:pt x="2627354" y="32255"/>
                  <a:pt x="2627354" y="71984"/>
                </a:cubicBezTo>
                <a:lnTo>
                  <a:pt x="2627354" y="359910"/>
                </a:lnTo>
                <a:cubicBezTo>
                  <a:pt x="2627354" y="399639"/>
                  <a:pt x="2595099" y="431894"/>
                  <a:pt x="2555370" y="431894"/>
                </a:cubicBezTo>
                <a:lnTo>
                  <a:pt x="71984" y="431894"/>
                </a:lnTo>
                <a:cubicBezTo>
                  <a:pt x="32255" y="431894"/>
                  <a:pt x="0" y="399639"/>
                  <a:pt x="0" y="359910"/>
                </a:cubicBezTo>
                <a:lnTo>
                  <a:pt x="0" y="71984"/>
                </a:lnTo>
                <a:cubicBezTo>
                  <a:pt x="0" y="32255"/>
                  <a:pt x="32255" y="0"/>
                  <a:pt x="71984" y="0"/>
                </a:cubicBezTo>
                <a:close/>
              </a:path>
            </a:pathLst>
          </a:custGeom>
          <a:solidFill>
            <a:srgbClr val="1A1D24">
              <a:alpha val="60000"/>
            </a:srgbClr>
          </a:solidFill>
        </p:spPr>
      </p:sp>
      <p:sp>
        <p:nvSpPr>
          <p:cNvPr id="62" name="Shape 60"/>
          <p:cNvSpPr/>
          <p:nvPr/>
        </p:nvSpPr>
        <p:spPr>
          <a:xfrm>
            <a:off x="9182170" y="5632614"/>
            <a:ext cx="161960" cy="161960"/>
          </a:xfrm>
          <a:custGeom>
            <a:avLst/>
            <a:gdLst/>
            <a:ahLst/>
            <a:cxnLst/>
            <a:rect l="l" t="t" r="r" b="b"/>
            <a:pathLst>
              <a:path w="161960" h="161960">
                <a:moveTo>
                  <a:pt x="40490" y="30368"/>
                </a:moveTo>
                <a:lnTo>
                  <a:pt x="40490" y="25306"/>
                </a:lnTo>
                <a:cubicBezTo>
                  <a:pt x="40490" y="11325"/>
                  <a:pt x="67694" y="0"/>
                  <a:pt x="101225" y="0"/>
                </a:cubicBezTo>
                <a:cubicBezTo>
                  <a:pt x="134756" y="0"/>
                  <a:pt x="161960" y="11325"/>
                  <a:pt x="161960" y="25306"/>
                </a:cubicBezTo>
                <a:lnTo>
                  <a:pt x="161960" y="30368"/>
                </a:lnTo>
                <a:cubicBezTo>
                  <a:pt x="161960" y="40047"/>
                  <a:pt x="148896" y="48462"/>
                  <a:pt x="129695" y="52732"/>
                </a:cubicBezTo>
                <a:cubicBezTo>
                  <a:pt x="128935" y="51846"/>
                  <a:pt x="128145" y="50992"/>
                  <a:pt x="127354" y="50201"/>
                </a:cubicBezTo>
                <a:cubicBezTo>
                  <a:pt x="122451" y="45361"/>
                  <a:pt x="116124" y="41692"/>
                  <a:pt x="109513" y="38972"/>
                </a:cubicBezTo>
                <a:cubicBezTo>
                  <a:pt x="96259" y="33436"/>
                  <a:pt x="78987" y="30399"/>
                  <a:pt x="60735" y="30399"/>
                </a:cubicBezTo>
                <a:cubicBezTo>
                  <a:pt x="53807" y="30399"/>
                  <a:pt x="47038" y="30842"/>
                  <a:pt x="40553" y="31696"/>
                </a:cubicBezTo>
                <a:cubicBezTo>
                  <a:pt x="40490" y="31285"/>
                  <a:pt x="40490" y="30842"/>
                  <a:pt x="40490" y="30399"/>
                </a:cubicBezTo>
                <a:close/>
                <a:moveTo>
                  <a:pt x="136654" y="111664"/>
                </a:moveTo>
                <a:lnTo>
                  <a:pt x="136654" y="97050"/>
                </a:lnTo>
                <a:cubicBezTo>
                  <a:pt x="141430" y="95816"/>
                  <a:pt x="145922" y="94361"/>
                  <a:pt x="150003" y="92653"/>
                </a:cubicBezTo>
                <a:cubicBezTo>
                  <a:pt x="154178" y="90913"/>
                  <a:pt x="158259" y="88793"/>
                  <a:pt x="161960" y="86231"/>
                </a:cubicBezTo>
                <a:lnTo>
                  <a:pt x="161960" y="91103"/>
                </a:lnTo>
                <a:cubicBezTo>
                  <a:pt x="161960" y="99580"/>
                  <a:pt x="151996" y="107077"/>
                  <a:pt x="136654" y="111664"/>
                </a:cubicBezTo>
                <a:close/>
                <a:moveTo>
                  <a:pt x="136654" y="81296"/>
                </a:moveTo>
                <a:lnTo>
                  <a:pt x="136654" y="70858"/>
                </a:lnTo>
                <a:cubicBezTo>
                  <a:pt x="136654" y="69434"/>
                  <a:pt x="136527" y="68074"/>
                  <a:pt x="136338" y="66745"/>
                </a:cubicBezTo>
                <a:cubicBezTo>
                  <a:pt x="141241" y="65512"/>
                  <a:pt x="145827" y="64025"/>
                  <a:pt x="150003" y="62253"/>
                </a:cubicBezTo>
                <a:cubicBezTo>
                  <a:pt x="154178" y="60482"/>
                  <a:pt x="158259" y="58394"/>
                  <a:pt x="161960" y="55832"/>
                </a:cubicBezTo>
                <a:lnTo>
                  <a:pt x="161960" y="60703"/>
                </a:lnTo>
                <a:cubicBezTo>
                  <a:pt x="161960" y="69181"/>
                  <a:pt x="151996" y="76678"/>
                  <a:pt x="136654" y="81265"/>
                </a:cubicBezTo>
                <a:close/>
                <a:moveTo>
                  <a:pt x="0" y="75919"/>
                </a:moveTo>
                <a:lnTo>
                  <a:pt x="0" y="70858"/>
                </a:lnTo>
                <a:cubicBezTo>
                  <a:pt x="0" y="56876"/>
                  <a:pt x="27204" y="45551"/>
                  <a:pt x="60735" y="45551"/>
                </a:cubicBezTo>
                <a:cubicBezTo>
                  <a:pt x="94266" y="45551"/>
                  <a:pt x="121470" y="56876"/>
                  <a:pt x="121470" y="70858"/>
                </a:cubicBezTo>
                <a:lnTo>
                  <a:pt x="121470" y="75919"/>
                </a:lnTo>
                <a:cubicBezTo>
                  <a:pt x="121470" y="89901"/>
                  <a:pt x="94266" y="101225"/>
                  <a:pt x="60735" y="101225"/>
                </a:cubicBezTo>
                <a:cubicBezTo>
                  <a:pt x="27204" y="101225"/>
                  <a:pt x="0" y="89901"/>
                  <a:pt x="0" y="75919"/>
                </a:cubicBezTo>
                <a:close/>
                <a:moveTo>
                  <a:pt x="121470" y="106286"/>
                </a:moveTo>
                <a:cubicBezTo>
                  <a:pt x="121470" y="120268"/>
                  <a:pt x="94266" y="131593"/>
                  <a:pt x="60735" y="131593"/>
                </a:cubicBezTo>
                <a:cubicBezTo>
                  <a:pt x="27204" y="131593"/>
                  <a:pt x="0" y="120268"/>
                  <a:pt x="0" y="106286"/>
                </a:cubicBezTo>
                <a:lnTo>
                  <a:pt x="0" y="101415"/>
                </a:lnTo>
                <a:cubicBezTo>
                  <a:pt x="3669" y="103977"/>
                  <a:pt x="7750" y="106065"/>
                  <a:pt x="11957" y="107836"/>
                </a:cubicBezTo>
                <a:cubicBezTo>
                  <a:pt x="25211" y="113372"/>
                  <a:pt x="42483" y="116409"/>
                  <a:pt x="60735" y="116409"/>
                </a:cubicBezTo>
                <a:cubicBezTo>
                  <a:pt x="78987" y="116409"/>
                  <a:pt x="96259" y="113340"/>
                  <a:pt x="109513" y="107836"/>
                </a:cubicBezTo>
                <a:cubicBezTo>
                  <a:pt x="113688" y="106097"/>
                  <a:pt x="117769" y="103977"/>
                  <a:pt x="121470" y="101415"/>
                </a:cubicBezTo>
                <a:lnTo>
                  <a:pt x="121470" y="106286"/>
                </a:lnTo>
                <a:close/>
                <a:moveTo>
                  <a:pt x="121470" y="131782"/>
                </a:moveTo>
                <a:lnTo>
                  <a:pt x="121470" y="136654"/>
                </a:lnTo>
                <a:cubicBezTo>
                  <a:pt x="121470" y="150636"/>
                  <a:pt x="94266" y="161960"/>
                  <a:pt x="60735" y="161960"/>
                </a:cubicBezTo>
                <a:cubicBezTo>
                  <a:pt x="27204" y="161960"/>
                  <a:pt x="0" y="150636"/>
                  <a:pt x="0" y="136654"/>
                </a:cubicBezTo>
                <a:lnTo>
                  <a:pt x="0" y="131782"/>
                </a:lnTo>
                <a:cubicBezTo>
                  <a:pt x="3669" y="134345"/>
                  <a:pt x="7750" y="136432"/>
                  <a:pt x="11957" y="138204"/>
                </a:cubicBezTo>
                <a:cubicBezTo>
                  <a:pt x="25211" y="143740"/>
                  <a:pt x="42483" y="146776"/>
                  <a:pt x="60735" y="146776"/>
                </a:cubicBezTo>
                <a:cubicBezTo>
                  <a:pt x="78987" y="146776"/>
                  <a:pt x="96259" y="143708"/>
                  <a:pt x="109513" y="138204"/>
                </a:cubicBezTo>
                <a:cubicBezTo>
                  <a:pt x="113688" y="136464"/>
                  <a:pt x="117769" y="134345"/>
                  <a:pt x="121470" y="131782"/>
                </a:cubicBezTo>
                <a:close/>
              </a:path>
            </a:pathLst>
          </a:custGeom>
          <a:solidFill>
            <a:srgbClr val="B89A6A"/>
          </a:solidFill>
        </p:spPr>
      </p:sp>
      <p:sp>
        <p:nvSpPr>
          <p:cNvPr id="63" name="Text 61"/>
          <p:cNvSpPr/>
          <p:nvPr/>
        </p:nvSpPr>
        <p:spPr>
          <a:xfrm>
            <a:off x="9470099" y="5605621"/>
            <a:ext cx="1502630" cy="215947"/>
          </a:xfrm>
          <a:prstGeom prst="rect">
            <a:avLst/>
          </a:prstGeom>
          <a:noFill/>
        </p:spPr>
        <p:txBody>
          <a:bodyPr wrap="square" lIns="0" tIns="0" rIns="0" bIns="0" rtlCol="0" anchor="ctr"/>
          <a:lstStyle/>
          <a:p>
            <a:pPr>
              <a:lnSpc>
                <a:spcPct val="130000"/>
              </a:lnSpc>
            </a:pPr>
            <a:r>
              <a:rPr lang="en-US" sz="1135" dirty="0">
                <a:solidFill>
                  <a:srgbClr val="E0E2E5"/>
                </a:solidFill>
                <a:latin typeface="Liter" panose="02000503030000020004" pitchFamily="34" charset="0"/>
                <a:ea typeface="Liter" panose="02000503030000020004" pitchFamily="34" charset="-122"/>
                <a:cs typeface="Liter" panose="02000503030000020004" pitchFamily="34" charset="-120"/>
              </a:rPr>
              <a:t>Expense Classification</a:t>
            </a:r>
            <a:endParaRPr lang="en-US" sz="1600" dirty="0"/>
          </a:p>
        </p:txBody>
      </p:sp>
      <p:sp>
        <p:nvSpPr>
          <p:cNvPr id="64" name="Shape 62"/>
          <p:cNvSpPr/>
          <p:nvPr/>
        </p:nvSpPr>
        <p:spPr>
          <a:xfrm>
            <a:off x="6319398" y="6037514"/>
            <a:ext cx="2627354" cy="431894"/>
          </a:xfrm>
          <a:custGeom>
            <a:avLst/>
            <a:gdLst/>
            <a:ahLst/>
            <a:cxnLst/>
            <a:rect l="l" t="t" r="r" b="b"/>
            <a:pathLst>
              <a:path w="2627354" h="431894">
                <a:moveTo>
                  <a:pt x="71984" y="0"/>
                </a:moveTo>
                <a:lnTo>
                  <a:pt x="2555370" y="0"/>
                </a:lnTo>
                <a:cubicBezTo>
                  <a:pt x="2595099" y="0"/>
                  <a:pt x="2627354" y="32255"/>
                  <a:pt x="2627354" y="71984"/>
                </a:cubicBezTo>
                <a:lnTo>
                  <a:pt x="2627354" y="359910"/>
                </a:lnTo>
                <a:cubicBezTo>
                  <a:pt x="2627354" y="399639"/>
                  <a:pt x="2595099" y="431894"/>
                  <a:pt x="2555370" y="431894"/>
                </a:cubicBezTo>
                <a:lnTo>
                  <a:pt x="71984" y="431894"/>
                </a:lnTo>
                <a:cubicBezTo>
                  <a:pt x="32255" y="431894"/>
                  <a:pt x="0" y="399639"/>
                  <a:pt x="0" y="359910"/>
                </a:cubicBezTo>
                <a:lnTo>
                  <a:pt x="0" y="71984"/>
                </a:lnTo>
                <a:cubicBezTo>
                  <a:pt x="0" y="32255"/>
                  <a:pt x="32255" y="0"/>
                  <a:pt x="71984" y="0"/>
                </a:cubicBezTo>
                <a:close/>
              </a:path>
            </a:pathLst>
          </a:custGeom>
          <a:solidFill>
            <a:srgbClr val="1A1D24">
              <a:alpha val="60000"/>
            </a:srgbClr>
          </a:solidFill>
        </p:spPr>
      </p:sp>
      <p:sp>
        <p:nvSpPr>
          <p:cNvPr id="65" name="Shape 63"/>
          <p:cNvSpPr/>
          <p:nvPr/>
        </p:nvSpPr>
        <p:spPr>
          <a:xfrm>
            <a:off x="6429621" y="6172481"/>
            <a:ext cx="202450" cy="161960"/>
          </a:xfrm>
          <a:custGeom>
            <a:avLst/>
            <a:gdLst/>
            <a:ahLst/>
            <a:cxnLst/>
            <a:rect l="l" t="t" r="r" b="b"/>
            <a:pathLst>
              <a:path w="202450" h="161960">
                <a:moveTo>
                  <a:pt x="121470" y="10123"/>
                </a:moveTo>
                <a:lnTo>
                  <a:pt x="161960" y="10123"/>
                </a:lnTo>
                <a:cubicBezTo>
                  <a:pt x="167559" y="10123"/>
                  <a:pt x="172083" y="14646"/>
                  <a:pt x="172083" y="20245"/>
                </a:cubicBezTo>
                <a:cubicBezTo>
                  <a:pt x="172083" y="25844"/>
                  <a:pt x="167559" y="30368"/>
                  <a:pt x="161960" y="30368"/>
                </a:cubicBezTo>
                <a:lnTo>
                  <a:pt x="126025" y="30368"/>
                </a:lnTo>
                <a:cubicBezTo>
                  <a:pt x="124380" y="38529"/>
                  <a:pt x="118781" y="45267"/>
                  <a:pt x="111348" y="48493"/>
                </a:cubicBezTo>
                <a:lnTo>
                  <a:pt x="111348" y="141715"/>
                </a:lnTo>
                <a:lnTo>
                  <a:pt x="161960" y="141715"/>
                </a:lnTo>
                <a:cubicBezTo>
                  <a:pt x="167559" y="141715"/>
                  <a:pt x="172083" y="146239"/>
                  <a:pt x="172083" y="151838"/>
                </a:cubicBezTo>
                <a:cubicBezTo>
                  <a:pt x="172083" y="157437"/>
                  <a:pt x="167559" y="161960"/>
                  <a:pt x="161960" y="161960"/>
                </a:cubicBezTo>
                <a:lnTo>
                  <a:pt x="40490" y="161960"/>
                </a:lnTo>
                <a:cubicBezTo>
                  <a:pt x="34891" y="161960"/>
                  <a:pt x="30368" y="157437"/>
                  <a:pt x="30368" y="151838"/>
                </a:cubicBezTo>
                <a:cubicBezTo>
                  <a:pt x="30368" y="146239"/>
                  <a:pt x="34891" y="141715"/>
                  <a:pt x="40490" y="141715"/>
                </a:cubicBezTo>
                <a:lnTo>
                  <a:pt x="91103" y="141715"/>
                </a:lnTo>
                <a:lnTo>
                  <a:pt x="91103" y="48493"/>
                </a:lnTo>
                <a:cubicBezTo>
                  <a:pt x="83669" y="45235"/>
                  <a:pt x="78070" y="38497"/>
                  <a:pt x="76425" y="30368"/>
                </a:cubicBezTo>
                <a:lnTo>
                  <a:pt x="40490" y="30368"/>
                </a:lnTo>
                <a:cubicBezTo>
                  <a:pt x="34891" y="30368"/>
                  <a:pt x="30368" y="25844"/>
                  <a:pt x="30368" y="20245"/>
                </a:cubicBezTo>
                <a:cubicBezTo>
                  <a:pt x="30368" y="14646"/>
                  <a:pt x="34891" y="10123"/>
                  <a:pt x="40490" y="10123"/>
                </a:cubicBezTo>
                <a:lnTo>
                  <a:pt x="80980" y="10123"/>
                </a:lnTo>
                <a:cubicBezTo>
                  <a:pt x="85598" y="3986"/>
                  <a:pt x="92937" y="0"/>
                  <a:pt x="101225" y="0"/>
                </a:cubicBezTo>
                <a:cubicBezTo>
                  <a:pt x="109513" y="0"/>
                  <a:pt x="116852" y="3986"/>
                  <a:pt x="121470" y="10123"/>
                </a:cubicBezTo>
                <a:close/>
                <a:moveTo>
                  <a:pt x="139058" y="101225"/>
                </a:moveTo>
                <a:lnTo>
                  <a:pt x="184862" y="101225"/>
                </a:lnTo>
                <a:lnTo>
                  <a:pt x="161960" y="61937"/>
                </a:lnTo>
                <a:lnTo>
                  <a:pt x="139058" y="101225"/>
                </a:lnTo>
                <a:close/>
                <a:moveTo>
                  <a:pt x="161960" y="131593"/>
                </a:moveTo>
                <a:cubicBezTo>
                  <a:pt x="142063" y="131593"/>
                  <a:pt x="125519" y="120837"/>
                  <a:pt x="122103" y="106634"/>
                </a:cubicBezTo>
                <a:cubicBezTo>
                  <a:pt x="121280" y="103155"/>
                  <a:pt x="122419" y="99580"/>
                  <a:pt x="124222" y="96480"/>
                </a:cubicBezTo>
                <a:lnTo>
                  <a:pt x="154337" y="44855"/>
                </a:lnTo>
                <a:cubicBezTo>
                  <a:pt x="155918" y="42135"/>
                  <a:pt x="158828" y="40490"/>
                  <a:pt x="161960" y="40490"/>
                </a:cubicBezTo>
                <a:cubicBezTo>
                  <a:pt x="165092" y="40490"/>
                  <a:pt x="168002" y="42167"/>
                  <a:pt x="169584" y="44855"/>
                </a:cubicBezTo>
                <a:lnTo>
                  <a:pt x="199698" y="96480"/>
                </a:lnTo>
                <a:cubicBezTo>
                  <a:pt x="201501" y="99580"/>
                  <a:pt x="202640" y="103155"/>
                  <a:pt x="201818" y="106634"/>
                </a:cubicBezTo>
                <a:cubicBezTo>
                  <a:pt x="198401" y="120806"/>
                  <a:pt x="181857" y="131593"/>
                  <a:pt x="161960" y="131593"/>
                </a:cubicBezTo>
                <a:close/>
                <a:moveTo>
                  <a:pt x="40110" y="61937"/>
                </a:moveTo>
                <a:lnTo>
                  <a:pt x="17208" y="101225"/>
                </a:lnTo>
                <a:lnTo>
                  <a:pt x="63044" y="101225"/>
                </a:lnTo>
                <a:lnTo>
                  <a:pt x="40110" y="61937"/>
                </a:lnTo>
                <a:close/>
                <a:moveTo>
                  <a:pt x="285" y="106634"/>
                </a:moveTo>
                <a:cubicBezTo>
                  <a:pt x="-538" y="103155"/>
                  <a:pt x="601" y="99580"/>
                  <a:pt x="2404" y="96480"/>
                </a:cubicBezTo>
                <a:lnTo>
                  <a:pt x="32519" y="44855"/>
                </a:lnTo>
                <a:cubicBezTo>
                  <a:pt x="34100" y="42135"/>
                  <a:pt x="37010" y="40490"/>
                  <a:pt x="40142" y="40490"/>
                </a:cubicBezTo>
                <a:cubicBezTo>
                  <a:pt x="43274" y="40490"/>
                  <a:pt x="46184" y="42167"/>
                  <a:pt x="47766" y="44855"/>
                </a:cubicBezTo>
                <a:lnTo>
                  <a:pt x="77880" y="96480"/>
                </a:lnTo>
                <a:cubicBezTo>
                  <a:pt x="79683" y="99580"/>
                  <a:pt x="80822" y="103155"/>
                  <a:pt x="79999" y="106634"/>
                </a:cubicBezTo>
                <a:cubicBezTo>
                  <a:pt x="76583" y="120806"/>
                  <a:pt x="60039" y="131593"/>
                  <a:pt x="40142" y="131593"/>
                </a:cubicBezTo>
                <a:cubicBezTo>
                  <a:pt x="20245" y="131593"/>
                  <a:pt x="3701" y="120837"/>
                  <a:pt x="285" y="106634"/>
                </a:cubicBezTo>
                <a:close/>
              </a:path>
            </a:pathLst>
          </a:custGeom>
          <a:solidFill>
            <a:srgbClr val="B89A6A"/>
          </a:solidFill>
        </p:spPr>
      </p:sp>
      <p:sp>
        <p:nvSpPr>
          <p:cNvPr id="66" name="Text 64"/>
          <p:cNvSpPr/>
          <p:nvPr/>
        </p:nvSpPr>
        <p:spPr>
          <a:xfrm>
            <a:off x="6737795" y="6145488"/>
            <a:ext cx="1124723" cy="215947"/>
          </a:xfrm>
          <a:prstGeom prst="rect">
            <a:avLst/>
          </a:prstGeom>
          <a:noFill/>
        </p:spPr>
        <p:txBody>
          <a:bodyPr wrap="square" lIns="0" tIns="0" rIns="0" bIns="0" rtlCol="0" anchor="ctr"/>
          <a:lstStyle/>
          <a:p>
            <a:pPr>
              <a:lnSpc>
                <a:spcPct val="130000"/>
              </a:lnSpc>
            </a:pPr>
            <a:r>
              <a:rPr lang="en-US" sz="1135" dirty="0">
                <a:solidFill>
                  <a:srgbClr val="E0E2E5"/>
                </a:solidFill>
                <a:latin typeface="Liter" panose="02000503030000020004" pitchFamily="34" charset="0"/>
                <a:ea typeface="Liter" panose="02000503030000020004" pitchFamily="34" charset="-122"/>
                <a:cs typeface="Liter" panose="02000503030000020004" pitchFamily="34" charset="-120"/>
              </a:rPr>
              <a:t>Internal Controls</a:t>
            </a:r>
            <a:endParaRPr lang="en-US" sz="1600" dirty="0"/>
          </a:p>
        </p:txBody>
      </p:sp>
      <p:sp>
        <p:nvSpPr>
          <p:cNvPr id="67" name="Shape 65"/>
          <p:cNvSpPr/>
          <p:nvPr/>
        </p:nvSpPr>
        <p:spPr>
          <a:xfrm>
            <a:off x="9202197" y="5999414"/>
            <a:ext cx="2627354" cy="431894"/>
          </a:xfrm>
          <a:custGeom>
            <a:avLst/>
            <a:gdLst/>
            <a:ahLst/>
            <a:cxnLst/>
            <a:rect l="l" t="t" r="r" b="b"/>
            <a:pathLst>
              <a:path w="2627354" h="431894">
                <a:moveTo>
                  <a:pt x="71984" y="0"/>
                </a:moveTo>
                <a:lnTo>
                  <a:pt x="2555370" y="0"/>
                </a:lnTo>
                <a:cubicBezTo>
                  <a:pt x="2595099" y="0"/>
                  <a:pt x="2627354" y="32255"/>
                  <a:pt x="2627354" y="71984"/>
                </a:cubicBezTo>
                <a:lnTo>
                  <a:pt x="2627354" y="359910"/>
                </a:lnTo>
                <a:cubicBezTo>
                  <a:pt x="2627354" y="399639"/>
                  <a:pt x="2595099" y="431894"/>
                  <a:pt x="2555370" y="431894"/>
                </a:cubicBezTo>
                <a:lnTo>
                  <a:pt x="71984" y="431894"/>
                </a:lnTo>
                <a:cubicBezTo>
                  <a:pt x="32255" y="431894"/>
                  <a:pt x="0" y="399639"/>
                  <a:pt x="0" y="359910"/>
                </a:cubicBezTo>
                <a:lnTo>
                  <a:pt x="0" y="71984"/>
                </a:lnTo>
                <a:cubicBezTo>
                  <a:pt x="0" y="32255"/>
                  <a:pt x="32255" y="0"/>
                  <a:pt x="71984" y="0"/>
                </a:cubicBezTo>
                <a:close/>
              </a:path>
            </a:pathLst>
          </a:custGeom>
          <a:solidFill>
            <a:srgbClr val="1A1D24">
              <a:alpha val="60000"/>
            </a:srgbClr>
          </a:solidFill>
        </p:spPr>
      </p:sp>
      <p:sp>
        <p:nvSpPr>
          <p:cNvPr id="68" name="Shape 66"/>
          <p:cNvSpPr/>
          <p:nvPr/>
        </p:nvSpPr>
        <p:spPr>
          <a:xfrm>
            <a:off x="9202415" y="6172481"/>
            <a:ext cx="121470" cy="161960"/>
          </a:xfrm>
          <a:custGeom>
            <a:avLst/>
            <a:gdLst/>
            <a:ahLst/>
            <a:cxnLst/>
            <a:rect l="l" t="t" r="r" b="b"/>
            <a:pathLst>
              <a:path w="121470" h="161960">
                <a:moveTo>
                  <a:pt x="0" y="20245"/>
                </a:moveTo>
                <a:cubicBezTo>
                  <a:pt x="0" y="9079"/>
                  <a:pt x="9079" y="0"/>
                  <a:pt x="20245" y="0"/>
                </a:cubicBezTo>
                <a:lnTo>
                  <a:pt x="67536" y="0"/>
                </a:lnTo>
                <a:cubicBezTo>
                  <a:pt x="72914" y="0"/>
                  <a:pt x="78070" y="2119"/>
                  <a:pt x="81866" y="5915"/>
                </a:cubicBezTo>
                <a:lnTo>
                  <a:pt x="115555" y="39636"/>
                </a:lnTo>
                <a:cubicBezTo>
                  <a:pt x="119351" y="43432"/>
                  <a:pt x="121470" y="48588"/>
                  <a:pt x="121470" y="53966"/>
                </a:cubicBezTo>
                <a:lnTo>
                  <a:pt x="121470" y="141715"/>
                </a:lnTo>
                <a:cubicBezTo>
                  <a:pt x="121470" y="152882"/>
                  <a:pt x="112391" y="161960"/>
                  <a:pt x="101225" y="161960"/>
                </a:cubicBezTo>
                <a:lnTo>
                  <a:pt x="20245" y="161960"/>
                </a:lnTo>
                <a:cubicBezTo>
                  <a:pt x="9079" y="161960"/>
                  <a:pt x="0" y="152882"/>
                  <a:pt x="0" y="141715"/>
                </a:cubicBezTo>
                <a:lnTo>
                  <a:pt x="0" y="20245"/>
                </a:lnTo>
                <a:close/>
                <a:moveTo>
                  <a:pt x="65796" y="18505"/>
                </a:moveTo>
                <a:lnTo>
                  <a:pt x="65796" y="48082"/>
                </a:lnTo>
                <a:cubicBezTo>
                  <a:pt x="65796" y="52289"/>
                  <a:pt x="69181" y="55674"/>
                  <a:pt x="73388" y="55674"/>
                </a:cubicBezTo>
                <a:lnTo>
                  <a:pt x="102965" y="55674"/>
                </a:lnTo>
                <a:lnTo>
                  <a:pt x="65796" y="18505"/>
                </a:lnTo>
                <a:close/>
                <a:moveTo>
                  <a:pt x="27837" y="20245"/>
                </a:moveTo>
                <a:cubicBezTo>
                  <a:pt x="23630" y="20245"/>
                  <a:pt x="20245" y="23630"/>
                  <a:pt x="20245" y="27837"/>
                </a:cubicBezTo>
                <a:cubicBezTo>
                  <a:pt x="20245" y="32044"/>
                  <a:pt x="23630" y="35429"/>
                  <a:pt x="27837" y="35429"/>
                </a:cubicBezTo>
                <a:lnTo>
                  <a:pt x="43021" y="35429"/>
                </a:lnTo>
                <a:cubicBezTo>
                  <a:pt x="47228" y="35429"/>
                  <a:pt x="50613" y="32044"/>
                  <a:pt x="50613" y="27837"/>
                </a:cubicBezTo>
                <a:cubicBezTo>
                  <a:pt x="50613" y="23630"/>
                  <a:pt x="47228" y="20245"/>
                  <a:pt x="43021" y="20245"/>
                </a:cubicBezTo>
                <a:lnTo>
                  <a:pt x="27837" y="20245"/>
                </a:lnTo>
                <a:close/>
                <a:moveTo>
                  <a:pt x="27837" y="50613"/>
                </a:moveTo>
                <a:cubicBezTo>
                  <a:pt x="23630" y="50613"/>
                  <a:pt x="20245" y="53997"/>
                  <a:pt x="20245" y="58204"/>
                </a:cubicBezTo>
                <a:cubicBezTo>
                  <a:pt x="20245" y="62412"/>
                  <a:pt x="23630" y="65796"/>
                  <a:pt x="27837" y="65796"/>
                </a:cubicBezTo>
                <a:lnTo>
                  <a:pt x="43021" y="65796"/>
                </a:lnTo>
                <a:cubicBezTo>
                  <a:pt x="47228" y="65796"/>
                  <a:pt x="50613" y="62412"/>
                  <a:pt x="50613" y="58204"/>
                </a:cubicBezTo>
                <a:cubicBezTo>
                  <a:pt x="50613" y="53997"/>
                  <a:pt x="47228" y="50613"/>
                  <a:pt x="43021" y="50613"/>
                </a:cubicBezTo>
                <a:lnTo>
                  <a:pt x="27837" y="50613"/>
                </a:lnTo>
                <a:close/>
                <a:moveTo>
                  <a:pt x="50075" y="101225"/>
                </a:moveTo>
                <a:cubicBezTo>
                  <a:pt x="46500" y="101225"/>
                  <a:pt x="43147" y="102838"/>
                  <a:pt x="40933" y="105622"/>
                </a:cubicBezTo>
                <a:lnTo>
                  <a:pt x="21922" y="129378"/>
                </a:lnTo>
                <a:cubicBezTo>
                  <a:pt x="19296" y="132637"/>
                  <a:pt x="19834" y="137445"/>
                  <a:pt x="23092" y="140039"/>
                </a:cubicBezTo>
                <a:cubicBezTo>
                  <a:pt x="26350" y="142632"/>
                  <a:pt x="31158" y="142126"/>
                  <a:pt x="33752" y="138837"/>
                </a:cubicBezTo>
                <a:lnTo>
                  <a:pt x="48651" y="120236"/>
                </a:lnTo>
                <a:lnTo>
                  <a:pt x="53460" y="136274"/>
                </a:lnTo>
                <a:cubicBezTo>
                  <a:pt x="54408" y="139501"/>
                  <a:pt x="57382" y="141683"/>
                  <a:pt x="60735" y="141683"/>
                </a:cubicBezTo>
                <a:lnTo>
                  <a:pt x="93633" y="141683"/>
                </a:lnTo>
                <a:cubicBezTo>
                  <a:pt x="97840" y="141683"/>
                  <a:pt x="101225" y="138299"/>
                  <a:pt x="101225" y="134092"/>
                </a:cubicBezTo>
                <a:cubicBezTo>
                  <a:pt x="101225" y="129884"/>
                  <a:pt x="97840" y="126500"/>
                  <a:pt x="93633" y="126500"/>
                </a:cubicBezTo>
                <a:lnTo>
                  <a:pt x="66397" y="126500"/>
                </a:lnTo>
                <a:lnTo>
                  <a:pt x="61304" y="109545"/>
                </a:lnTo>
                <a:cubicBezTo>
                  <a:pt x="59818" y="104578"/>
                  <a:pt x="55263" y="101193"/>
                  <a:pt x="50075" y="101193"/>
                </a:cubicBezTo>
                <a:close/>
              </a:path>
            </a:pathLst>
          </a:custGeom>
          <a:solidFill>
            <a:srgbClr val="B89A6A"/>
          </a:solidFill>
        </p:spPr>
      </p:sp>
      <p:sp>
        <p:nvSpPr>
          <p:cNvPr id="69" name="Text 67"/>
          <p:cNvSpPr/>
          <p:nvPr/>
        </p:nvSpPr>
        <p:spPr>
          <a:xfrm>
            <a:off x="9470099" y="6145488"/>
            <a:ext cx="1187708" cy="215947"/>
          </a:xfrm>
          <a:prstGeom prst="rect">
            <a:avLst/>
          </a:prstGeom>
          <a:noFill/>
        </p:spPr>
        <p:txBody>
          <a:bodyPr wrap="square" lIns="0" tIns="0" rIns="0" bIns="0" rtlCol="0" anchor="ctr"/>
          <a:lstStyle/>
          <a:p>
            <a:pPr>
              <a:lnSpc>
                <a:spcPct val="130000"/>
              </a:lnSpc>
            </a:pPr>
            <a:r>
              <a:rPr lang="en-US" sz="1135" dirty="0">
                <a:solidFill>
                  <a:srgbClr val="E0E2E5"/>
                </a:solidFill>
                <a:latin typeface="Liter" panose="02000503030000020004" pitchFamily="34" charset="0"/>
                <a:ea typeface="Liter" panose="02000503030000020004" pitchFamily="34" charset="-122"/>
                <a:cs typeface="Liter" panose="02000503030000020004" pitchFamily="34" charset="-120"/>
              </a:rPr>
              <a:t>Contract Reviews</a:t>
            </a:r>
            <a:endParaRPr lang="en-US" sz="1600" dirty="0"/>
          </a:p>
        </p:txBody>
      </p:sp>
      <p:sp>
        <p:nvSpPr>
          <p:cNvPr id="70" name="Shape 68"/>
          <p:cNvSpPr/>
          <p:nvPr/>
        </p:nvSpPr>
        <p:spPr>
          <a:xfrm>
            <a:off x="368855" y="6334221"/>
            <a:ext cx="11463179" cy="440892"/>
          </a:xfrm>
          <a:custGeom>
            <a:avLst/>
            <a:gdLst/>
            <a:ahLst/>
            <a:cxnLst/>
            <a:rect l="l" t="t" r="r" b="b"/>
            <a:pathLst>
              <a:path w="11463179" h="440892">
                <a:moveTo>
                  <a:pt x="71984" y="0"/>
                </a:moveTo>
                <a:lnTo>
                  <a:pt x="11391195" y="0"/>
                </a:lnTo>
                <a:cubicBezTo>
                  <a:pt x="11430951" y="0"/>
                  <a:pt x="11463179" y="32228"/>
                  <a:pt x="11463179" y="71984"/>
                </a:cubicBezTo>
                <a:lnTo>
                  <a:pt x="11463179" y="368907"/>
                </a:lnTo>
                <a:cubicBezTo>
                  <a:pt x="11463179" y="408663"/>
                  <a:pt x="11430951" y="440892"/>
                  <a:pt x="11391195" y="440892"/>
                </a:cubicBezTo>
                <a:lnTo>
                  <a:pt x="71984" y="440892"/>
                </a:lnTo>
                <a:cubicBezTo>
                  <a:pt x="32255" y="440892"/>
                  <a:pt x="0" y="408636"/>
                  <a:pt x="0" y="368907"/>
                </a:cubicBezTo>
                <a:lnTo>
                  <a:pt x="0" y="71984"/>
                </a:lnTo>
                <a:cubicBezTo>
                  <a:pt x="0" y="32255"/>
                  <a:pt x="32255" y="0"/>
                  <a:pt x="71984" y="0"/>
                </a:cubicBezTo>
                <a:close/>
              </a:path>
            </a:pathLst>
          </a:custGeom>
          <a:solidFill>
            <a:srgbClr val="B89A6A">
              <a:alpha val="10196"/>
            </a:srgbClr>
          </a:solidFill>
          <a:ln w="12700">
            <a:solidFill>
              <a:srgbClr val="B89A6A">
                <a:alpha val="30196"/>
              </a:srgbClr>
            </a:solidFill>
            <a:prstDash val="solid"/>
          </a:ln>
        </p:spPr>
      </p:sp>
      <p:sp>
        <p:nvSpPr>
          <p:cNvPr id="71" name="Shape 69"/>
          <p:cNvSpPr/>
          <p:nvPr/>
        </p:nvSpPr>
        <p:spPr>
          <a:xfrm>
            <a:off x="535368" y="6190477"/>
            <a:ext cx="161960" cy="161960"/>
          </a:xfrm>
          <a:custGeom>
            <a:avLst/>
            <a:gdLst/>
            <a:ahLst/>
            <a:cxnLst/>
            <a:rect l="l" t="t" r="r" b="b"/>
            <a:pathLst>
              <a:path w="161960" h="161960">
                <a:moveTo>
                  <a:pt x="80980" y="0"/>
                </a:moveTo>
                <a:cubicBezTo>
                  <a:pt x="82435" y="0"/>
                  <a:pt x="83890" y="316"/>
                  <a:pt x="85219" y="917"/>
                </a:cubicBezTo>
                <a:lnTo>
                  <a:pt x="144815" y="26192"/>
                </a:lnTo>
                <a:cubicBezTo>
                  <a:pt x="151774" y="29134"/>
                  <a:pt x="156962" y="35998"/>
                  <a:pt x="156931" y="44286"/>
                </a:cubicBezTo>
                <a:cubicBezTo>
                  <a:pt x="156772" y="75666"/>
                  <a:pt x="143866" y="133079"/>
                  <a:pt x="89363" y="159176"/>
                </a:cubicBezTo>
                <a:cubicBezTo>
                  <a:pt x="84080" y="161707"/>
                  <a:pt x="77943" y="161707"/>
                  <a:pt x="72661" y="159176"/>
                </a:cubicBezTo>
                <a:cubicBezTo>
                  <a:pt x="18126" y="133079"/>
                  <a:pt x="5251" y="75666"/>
                  <a:pt x="5093" y="44286"/>
                </a:cubicBezTo>
                <a:cubicBezTo>
                  <a:pt x="5061" y="35998"/>
                  <a:pt x="10249" y="29134"/>
                  <a:pt x="17208" y="26192"/>
                </a:cubicBezTo>
                <a:lnTo>
                  <a:pt x="76773" y="917"/>
                </a:lnTo>
                <a:cubicBezTo>
                  <a:pt x="78101" y="316"/>
                  <a:pt x="79525" y="0"/>
                  <a:pt x="80980" y="0"/>
                </a:cubicBezTo>
                <a:close/>
                <a:moveTo>
                  <a:pt x="80980" y="21131"/>
                </a:moveTo>
                <a:lnTo>
                  <a:pt x="80980" y="140735"/>
                </a:lnTo>
                <a:cubicBezTo>
                  <a:pt x="124633" y="119604"/>
                  <a:pt x="136369" y="72787"/>
                  <a:pt x="136654" y="44760"/>
                </a:cubicBezTo>
                <a:lnTo>
                  <a:pt x="80980" y="21162"/>
                </a:lnTo>
                <a:lnTo>
                  <a:pt x="80980" y="21162"/>
                </a:lnTo>
                <a:close/>
              </a:path>
            </a:pathLst>
          </a:custGeom>
          <a:solidFill>
            <a:srgbClr val="B89A6A"/>
          </a:solidFill>
        </p:spPr>
      </p:sp>
      <p:sp>
        <p:nvSpPr>
          <p:cNvPr id="72" name="Text 70"/>
          <p:cNvSpPr/>
          <p:nvPr/>
        </p:nvSpPr>
        <p:spPr>
          <a:xfrm>
            <a:off x="823297" y="6163483"/>
            <a:ext cx="3968024" cy="215947"/>
          </a:xfrm>
          <a:prstGeom prst="rect">
            <a:avLst/>
          </a:prstGeom>
          <a:noFill/>
        </p:spPr>
        <p:txBody>
          <a:bodyPr wrap="square" lIns="0" tIns="0" rIns="0" bIns="0" rtlCol="0" anchor="ctr"/>
          <a:lstStyle/>
          <a:p>
            <a:pPr>
              <a:lnSpc>
                <a:spcPct val="130000"/>
              </a:lnSpc>
            </a:pPr>
            <a:r>
              <a:rPr lang="en-US" sz="1135" b="1" dirty="0">
                <a:solidFill>
                  <a:srgbClr val="E0E2E5"/>
                </a:solidFill>
                <a:latin typeface="Liter" panose="02000503030000020004" pitchFamily="34" charset="0"/>
                <a:ea typeface="Liter" panose="02000503030000020004" pitchFamily="34" charset="-122"/>
                <a:cs typeface="Liter" panose="02000503030000020004" pitchFamily="34" charset="-120"/>
              </a:rPr>
              <a:t>Compliance Status:</a:t>
            </a:r>
            <a:r>
              <a:rPr lang="en-US" sz="1135" dirty="0">
                <a:solidFill>
                  <a:srgbClr val="78828A"/>
                </a:solidFill>
                <a:latin typeface="Liter" panose="02000503030000020004" pitchFamily="34" charset="0"/>
                <a:ea typeface="Liter" panose="02000503030000020004" pitchFamily="34" charset="-122"/>
                <a:cs typeface="Liter" panose="02000503030000020004" pitchFamily="34" charset="-120"/>
              </a:rPr>
              <a:t> No material weaknesses identified to date</a:t>
            </a:r>
            <a:endParaRPr lang="en-US" sz="1600" dirty="0"/>
          </a:p>
        </p:txBody>
      </p:sp>
      <p:sp>
        <p:nvSpPr>
          <p:cNvPr id="74" name="文本框 73"/>
          <p:cNvSpPr txBox="1"/>
          <p:nvPr/>
        </p:nvSpPr>
        <p:spPr>
          <a:xfrm>
            <a:off x="720090" y="6431280"/>
            <a:ext cx="11297285" cy="693420"/>
          </a:xfrm>
          <a:prstGeom prst="rect">
            <a:avLst/>
          </a:prstGeom>
          <a:noFill/>
        </p:spPr>
        <p:txBody>
          <a:bodyPr wrap="square" rtlCol="0">
            <a:noAutofit/>
          </a:bodyPr>
          <a:p>
            <a:r>
              <a:rPr lang="en-US" altLang="zh-CN" sz="1000">
                <a:solidFill>
                  <a:schemeClr val="accent2"/>
                </a:solidFill>
                <a:uFillTx/>
              </a:rPr>
              <a:t>This presentation contains internal business information and preliminary financial figures for board discussion only. Please do not distribute externally.</a:t>
            </a:r>
            <a:endParaRPr lang="en-US" altLang="zh-CN" sz="1000">
              <a:solidFill>
                <a:schemeClr val="accent2"/>
              </a:solidFill>
              <a:uFillTx/>
            </a:endParaRPr>
          </a:p>
        </p:txBody>
      </p:sp>
      <p:sp>
        <p:nvSpPr>
          <p:cNvPr id="75" name="Shape 36"/>
          <p:cNvSpPr/>
          <p:nvPr/>
        </p:nvSpPr>
        <p:spPr>
          <a:xfrm>
            <a:off x="6171570" y="1114078"/>
            <a:ext cx="5650610" cy="3788068"/>
          </a:xfrm>
          <a:custGeom>
            <a:avLst/>
            <a:gdLst/>
            <a:ahLst/>
            <a:cxnLst/>
            <a:rect l="l" t="t" r="r" b="b"/>
            <a:pathLst>
              <a:path w="5650610" h="3788068">
                <a:moveTo>
                  <a:pt x="71973" y="0"/>
                </a:moveTo>
                <a:lnTo>
                  <a:pt x="5578636" y="0"/>
                </a:lnTo>
                <a:cubicBezTo>
                  <a:pt x="5618386" y="0"/>
                  <a:pt x="5650610" y="32224"/>
                  <a:pt x="5650610" y="71973"/>
                </a:cubicBezTo>
                <a:lnTo>
                  <a:pt x="5650610" y="3716095"/>
                </a:lnTo>
                <a:cubicBezTo>
                  <a:pt x="5650610" y="3755844"/>
                  <a:pt x="5618386" y="3788068"/>
                  <a:pt x="5578636" y="3788068"/>
                </a:cubicBezTo>
                <a:lnTo>
                  <a:pt x="71973" y="3788068"/>
                </a:lnTo>
                <a:cubicBezTo>
                  <a:pt x="32224" y="3788068"/>
                  <a:pt x="0" y="3755844"/>
                  <a:pt x="0" y="3716095"/>
                </a:cubicBezTo>
                <a:lnTo>
                  <a:pt x="0" y="71973"/>
                </a:lnTo>
                <a:cubicBezTo>
                  <a:pt x="0" y="32224"/>
                  <a:pt x="32224" y="0"/>
                  <a:pt x="71973" y="0"/>
                </a:cubicBezTo>
                <a:close/>
              </a:path>
            </a:pathLst>
          </a:custGeom>
          <a:solidFill>
            <a:srgbClr val="4A5C6A">
              <a:alpha val="10196"/>
            </a:srgbClr>
          </a:solidFill>
          <a:ln w="12700">
            <a:solidFill>
              <a:srgbClr val="4A5C6A">
                <a:alpha val="30196"/>
              </a:srgbClr>
            </a:solidFill>
            <a:prstDash val="solid"/>
          </a:ln>
        </p:spPr>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D24"/>
        </a:solidFill>
        <a:effectLst/>
      </p:bgPr>
    </p:bg>
    <p:spTree>
      <p:nvGrpSpPr>
        <p:cNvPr id="1" name=""/>
        <p:cNvGrpSpPr/>
        <p:nvPr/>
      </p:nvGrpSpPr>
      <p:grpSpPr>
        <a:xfrm>
          <a:off x="0" y="0"/>
          <a:ext cx="0" cy="0"/>
          <a:chOff x="0" y="0"/>
          <a:chExt cx="0" cy="0"/>
        </a:xfrm>
      </p:grpSpPr>
      <p:pic>
        <p:nvPicPr>
          <p:cNvPr id="2" name="Image 0" descr="https://kimi-web-img.moonshot.cn/img/png.pngtree.com/be62a44a6f436ded33d3251f620715b57a532f2a.webp"/>
          <p:cNvPicPr>
            <a:picLocks noChangeAspect="1"/>
          </p:cNvPicPr>
          <p:nvPr/>
        </p:nvPicPr>
        <p:blipFill>
          <a:blip r:embed="rId1">
            <a:alphaModFix amt="20000"/>
          </a:blip>
          <a:srcRect t="2756" b="2756"/>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4">
                  <a:alpha val="95000"/>
                </a:srgbClr>
              </a:gs>
              <a:gs pos="50000">
                <a:srgbClr val="1A1D24">
                  <a:alpha val="90000"/>
                </a:srgbClr>
              </a:gs>
              <a:gs pos="100000">
                <a:srgbClr val="4A5C6A">
                  <a:alpha val="85000"/>
                </a:srgbClr>
              </a:gs>
            </a:gsLst>
            <a:lin ang="2700000" scaled="1"/>
          </a:gradFill>
        </p:spPr>
      </p:sp>
      <p:sp>
        <p:nvSpPr>
          <p:cNvPr id="4" name="Shape 1"/>
          <p:cNvSpPr/>
          <p:nvPr/>
        </p:nvSpPr>
        <p:spPr>
          <a:xfrm>
            <a:off x="381000" y="495300"/>
            <a:ext cx="57150" cy="381000"/>
          </a:xfrm>
          <a:custGeom>
            <a:avLst/>
            <a:gdLst/>
            <a:ahLst/>
            <a:cxnLst/>
            <a:rect l="l" t="t" r="r" b="b"/>
            <a:pathLst>
              <a:path w="57150" h="381000">
                <a:moveTo>
                  <a:pt x="0" y="0"/>
                </a:moveTo>
                <a:lnTo>
                  <a:pt x="57150" y="0"/>
                </a:lnTo>
                <a:lnTo>
                  <a:pt x="57150" y="381000"/>
                </a:lnTo>
                <a:lnTo>
                  <a:pt x="0" y="381000"/>
                </a:lnTo>
                <a:lnTo>
                  <a:pt x="0" y="0"/>
                </a:lnTo>
                <a:close/>
              </a:path>
            </a:pathLst>
          </a:custGeom>
          <a:solidFill>
            <a:srgbClr val="B89A6A"/>
          </a:solidFill>
        </p:spPr>
      </p:sp>
      <p:sp>
        <p:nvSpPr>
          <p:cNvPr id="5" name="Text 2"/>
          <p:cNvSpPr/>
          <p:nvPr/>
        </p:nvSpPr>
        <p:spPr>
          <a:xfrm>
            <a:off x="552450" y="381000"/>
            <a:ext cx="3752850" cy="228600"/>
          </a:xfrm>
          <a:prstGeom prst="rect">
            <a:avLst/>
          </a:prstGeom>
          <a:noFill/>
        </p:spPr>
        <p:txBody>
          <a:bodyPr wrap="square" lIns="0" tIns="0" rIns="0" bIns="0" rtlCol="0" anchor="ctr"/>
          <a:lstStyle/>
          <a:p>
            <a:pPr>
              <a:lnSpc>
                <a:spcPct val="130000"/>
              </a:lnSpc>
            </a:pPr>
            <a:r>
              <a:rPr lang="en-US" sz="1200" b="1" kern="0" spc="60" dirty="0">
                <a:solidFill>
                  <a:srgbClr val="B89A6A"/>
                </a:solidFill>
                <a:latin typeface="Liter" panose="02000503030000020004" pitchFamily="34" charset="0"/>
                <a:ea typeface="Liter" panose="02000503030000020004" pitchFamily="34" charset="-122"/>
                <a:cs typeface="Liter" panose="02000503030000020004" pitchFamily="34" charset="-120"/>
              </a:rPr>
              <a:t>STRATEGIC FOCUS</a:t>
            </a:r>
            <a:endParaRPr lang="en-US" sz="1600" dirty="0"/>
          </a:p>
        </p:txBody>
      </p:sp>
      <p:sp>
        <p:nvSpPr>
          <p:cNvPr id="6" name="Text 3"/>
          <p:cNvSpPr/>
          <p:nvPr/>
        </p:nvSpPr>
        <p:spPr>
          <a:xfrm>
            <a:off x="552450" y="609600"/>
            <a:ext cx="3848100" cy="381000"/>
          </a:xfrm>
          <a:prstGeom prst="rect">
            <a:avLst/>
          </a:prstGeom>
          <a:noFill/>
        </p:spPr>
        <p:txBody>
          <a:bodyPr wrap="square" lIns="0" tIns="0" rIns="0" bIns="0" rtlCol="0" anchor="ctr"/>
          <a:lstStyle/>
          <a:p>
            <a:pPr>
              <a:lnSpc>
                <a:spcPct val="90000"/>
              </a:lnSpc>
            </a:pPr>
            <a:r>
              <a:rPr lang="en-US" sz="27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Financial Priorities for Q2</a:t>
            </a:r>
            <a:endParaRPr lang="en-US" sz="1600" dirty="0"/>
          </a:p>
        </p:txBody>
      </p:sp>
      <p:sp>
        <p:nvSpPr>
          <p:cNvPr id="7" name="Shape 4"/>
          <p:cNvSpPr/>
          <p:nvPr/>
        </p:nvSpPr>
        <p:spPr>
          <a:xfrm>
            <a:off x="390525" y="1152525"/>
            <a:ext cx="5619750" cy="4305300"/>
          </a:xfrm>
          <a:custGeom>
            <a:avLst/>
            <a:gdLst/>
            <a:ahLst/>
            <a:cxnLst/>
            <a:rect l="l" t="t" r="r" b="b"/>
            <a:pathLst>
              <a:path w="5619750" h="4305300">
                <a:moveTo>
                  <a:pt x="76204" y="0"/>
                </a:moveTo>
                <a:lnTo>
                  <a:pt x="5543546" y="0"/>
                </a:lnTo>
                <a:cubicBezTo>
                  <a:pt x="5585632" y="0"/>
                  <a:pt x="5619750" y="34118"/>
                  <a:pt x="5619750" y="76204"/>
                </a:cubicBezTo>
                <a:lnTo>
                  <a:pt x="5619750" y="4229096"/>
                </a:lnTo>
                <a:cubicBezTo>
                  <a:pt x="5619750" y="4271182"/>
                  <a:pt x="5585632" y="4305300"/>
                  <a:pt x="5543546" y="4305300"/>
                </a:cubicBezTo>
                <a:lnTo>
                  <a:pt x="76204" y="4305300"/>
                </a:lnTo>
                <a:cubicBezTo>
                  <a:pt x="34118" y="4305300"/>
                  <a:pt x="0" y="4271182"/>
                  <a:pt x="0" y="4229096"/>
                </a:cubicBezTo>
                <a:lnTo>
                  <a:pt x="0" y="76204"/>
                </a:lnTo>
                <a:cubicBezTo>
                  <a:pt x="0" y="34146"/>
                  <a:pt x="34146" y="0"/>
                  <a:pt x="76204" y="0"/>
                </a:cubicBezTo>
                <a:close/>
              </a:path>
            </a:pathLst>
          </a:custGeom>
          <a:solidFill>
            <a:srgbClr val="B89A6A">
              <a:alpha val="10196"/>
            </a:srgbClr>
          </a:solidFill>
          <a:ln w="25400">
            <a:solidFill>
              <a:srgbClr val="B89A6A">
                <a:alpha val="40000"/>
              </a:srgbClr>
            </a:solidFill>
            <a:prstDash val="solid"/>
          </a:ln>
        </p:spPr>
      </p:sp>
      <p:sp>
        <p:nvSpPr>
          <p:cNvPr id="8" name="Shape 5"/>
          <p:cNvSpPr/>
          <p:nvPr/>
        </p:nvSpPr>
        <p:spPr>
          <a:xfrm>
            <a:off x="590550" y="1352550"/>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B89A6A">
              <a:alpha val="20000"/>
            </a:srgbClr>
          </a:solidFill>
        </p:spPr>
      </p:sp>
      <p:sp>
        <p:nvSpPr>
          <p:cNvPr id="9" name="Shape 6"/>
          <p:cNvSpPr/>
          <p:nvPr/>
        </p:nvSpPr>
        <p:spPr>
          <a:xfrm>
            <a:off x="736997" y="1514475"/>
            <a:ext cx="321469" cy="285750"/>
          </a:xfrm>
          <a:custGeom>
            <a:avLst/>
            <a:gdLst/>
            <a:ahLst/>
            <a:cxnLst/>
            <a:rect l="l" t="t" r="r" b="b"/>
            <a:pathLst>
              <a:path w="321469" h="285750">
                <a:moveTo>
                  <a:pt x="160734" y="-8930"/>
                </a:moveTo>
                <a:cubicBezTo>
                  <a:pt x="153312" y="-8930"/>
                  <a:pt x="147340" y="-2958"/>
                  <a:pt x="147340" y="4465"/>
                </a:cubicBezTo>
                <a:lnTo>
                  <a:pt x="147340" y="11162"/>
                </a:lnTo>
                <a:lnTo>
                  <a:pt x="146335" y="11162"/>
                </a:lnTo>
                <a:cubicBezTo>
                  <a:pt x="125909" y="11162"/>
                  <a:pt x="109389" y="27738"/>
                  <a:pt x="109389" y="48109"/>
                </a:cubicBezTo>
                <a:cubicBezTo>
                  <a:pt x="109389" y="66749"/>
                  <a:pt x="123285" y="82488"/>
                  <a:pt x="141759" y="84776"/>
                </a:cubicBezTo>
                <a:lnTo>
                  <a:pt x="175803" y="89018"/>
                </a:lnTo>
                <a:cubicBezTo>
                  <a:pt x="178650" y="89353"/>
                  <a:pt x="180826" y="91808"/>
                  <a:pt x="180826" y="94710"/>
                </a:cubicBezTo>
                <a:cubicBezTo>
                  <a:pt x="180826" y="97892"/>
                  <a:pt x="178259" y="100403"/>
                  <a:pt x="175133" y="100403"/>
                </a:cubicBezTo>
                <a:lnTo>
                  <a:pt x="133945" y="100459"/>
                </a:lnTo>
                <a:cubicBezTo>
                  <a:pt x="125295" y="100459"/>
                  <a:pt x="118318" y="107435"/>
                  <a:pt x="118318" y="116086"/>
                </a:cubicBezTo>
                <a:cubicBezTo>
                  <a:pt x="118318" y="124737"/>
                  <a:pt x="125295" y="131713"/>
                  <a:pt x="133945" y="131713"/>
                </a:cubicBezTo>
                <a:lnTo>
                  <a:pt x="147340" y="131713"/>
                </a:lnTo>
                <a:lnTo>
                  <a:pt x="147340" y="138410"/>
                </a:lnTo>
                <a:cubicBezTo>
                  <a:pt x="147340" y="145833"/>
                  <a:pt x="153312" y="151805"/>
                  <a:pt x="160734" y="151805"/>
                </a:cubicBezTo>
                <a:cubicBezTo>
                  <a:pt x="168157" y="151805"/>
                  <a:pt x="174129" y="145833"/>
                  <a:pt x="174129" y="138410"/>
                </a:cubicBezTo>
                <a:lnTo>
                  <a:pt x="174129" y="131713"/>
                </a:lnTo>
                <a:lnTo>
                  <a:pt x="175133" y="131713"/>
                </a:lnTo>
                <a:cubicBezTo>
                  <a:pt x="195560" y="131713"/>
                  <a:pt x="212080" y="115137"/>
                  <a:pt x="212080" y="94766"/>
                </a:cubicBezTo>
                <a:cubicBezTo>
                  <a:pt x="212080" y="76126"/>
                  <a:pt x="198183" y="60387"/>
                  <a:pt x="179710" y="58099"/>
                </a:cubicBezTo>
                <a:lnTo>
                  <a:pt x="145666" y="53857"/>
                </a:lnTo>
                <a:cubicBezTo>
                  <a:pt x="142819" y="53522"/>
                  <a:pt x="140643" y="51067"/>
                  <a:pt x="140643" y="48165"/>
                </a:cubicBezTo>
                <a:cubicBezTo>
                  <a:pt x="140643" y="44983"/>
                  <a:pt x="143210" y="42472"/>
                  <a:pt x="146335" y="42472"/>
                </a:cubicBezTo>
                <a:lnTo>
                  <a:pt x="183059" y="42416"/>
                </a:lnTo>
                <a:cubicBezTo>
                  <a:pt x="191709" y="42416"/>
                  <a:pt x="198686" y="35440"/>
                  <a:pt x="198686" y="26789"/>
                </a:cubicBezTo>
                <a:cubicBezTo>
                  <a:pt x="198686" y="18138"/>
                  <a:pt x="191709" y="11162"/>
                  <a:pt x="183059" y="11162"/>
                </a:cubicBezTo>
                <a:lnTo>
                  <a:pt x="174129" y="11162"/>
                </a:lnTo>
                <a:lnTo>
                  <a:pt x="174129" y="4465"/>
                </a:lnTo>
                <a:cubicBezTo>
                  <a:pt x="174129" y="-2958"/>
                  <a:pt x="168157" y="-8930"/>
                  <a:pt x="160734" y="-8930"/>
                </a:cubicBezTo>
                <a:close/>
                <a:moveTo>
                  <a:pt x="61001" y="190593"/>
                </a:moveTo>
                <a:lnTo>
                  <a:pt x="37226" y="214313"/>
                </a:lnTo>
                <a:lnTo>
                  <a:pt x="17859" y="214313"/>
                </a:lnTo>
                <a:cubicBezTo>
                  <a:pt x="7981" y="214313"/>
                  <a:pt x="0" y="222293"/>
                  <a:pt x="0" y="232172"/>
                </a:cubicBezTo>
                <a:lnTo>
                  <a:pt x="0" y="267891"/>
                </a:lnTo>
                <a:cubicBezTo>
                  <a:pt x="0" y="277769"/>
                  <a:pt x="7981" y="285750"/>
                  <a:pt x="17859" y="285750"/>
                </a:cubicBezTo>
                <a:lnTo>
                  <a:pt x="196732" y="285750"/>
                </a:lnTo>
                <a:cubicBezTo>
                  <a:pt x="212917" y="285750"/>
                  <a:pt x="228712" y="280560"/>
                  <a:pt x="241771" y="270960"/>
                </a:cubicBezTo>
                <a:lnTo>
                  <a:pt x="312427" y="218889"/>
                </a:lnTo>
                <a:cubicBezTo>
                  <a:pt x="322362" y="211578"/>
                  <a:pt x="324483" y="197625"/>
                  <a:pt x="317171" y="187691"/>
                </a:cubicBezTo>
                <a:cubicBezTo>
                  <a:pt x="309860" y="177757"/>
                  <a:pt x="295908" y="175636"/>
                  <a:pt x="285973" y="182947"/>
                </a:cubicBezTo>
                <a:lnTo>
                  <a:pt x="219112" y="232172"/>
                </a:lnTo>
                <a:lnTo>
                  <a:pt x="156270" y="232172"/>
                </a:lnTo>
                <a:cubicBezTo>
                  <a:pt x="148847" y="232172"/>
                  <a:pt x="142875" y="226200"/>
                  <a:pt x="142875" y="218777"/>
                </a:cubicBezTo>
                <a:cubicBezTo>
                  <a:pt x="142875" y="211355"/>
                  <a:pt x="148847" y="205383"/>
                  <a:pt x="156270" y="205383"/>
                </a:cubicBezTo>
                <a:lnTo>
                  <a:pt x="196453" y="205383"/>
                </a:lnTo>
                <a:cubicBezTo>
                  <a:pt x="206332" y="205383"/>
                  <a:pt x="214313" y="197402"/>
                  <a:pt x="214313" y="187523"/>
                </a:cubicBezTo>
                <a:cubicBezTo>
                  <a:pt x="214313" y="177645"/>
                  <a:pt x="206332" y="169664"/>
                  <a:pt x="196453" y="169664"/>
                </a:cubicBezTo>
                <a:lnTo>
                  <a:pt x="111509" y="169664"/>
                </a:lnTo>
                <a:cubicBezTo>
                  <a:pt x="92590" y="169664"/>
                  <a:pt x="74395" y="177198"/>
                  <a:pt x="61001" y="190593"/>
                </a:cubicBezTo>
                <a:close/>
              </a:path>
            </a:pathLst>
          </a:custGeom>
          <a:solidFill>
            <a:srgbClr val="B89A6A"/>
          </a:solidFill>
        </p:spPr>
      </p:sp>
      <p:sp>
        <p:nvSpPr>
          <p:cNvPr id="10" name="Shape 7"/>
          <p:cNvSpPr/>
          <p:nvPr/>
        </p:nvSpPr>
        <p:spPr>
          <a:xfrm>
            <a:off x="1352550" y="1352550"/>
            <a:ext cx="971550" cy="266700"/>
          </a:xfrm>
          <a:custGeom>
            <a:avLst/>
            <a:gdLst/>
            <a:ahLst/>
            <a:cxnLst/>
            <a:rect l="l" t="t" r="r" b="b"/>
            <a:pathLst>
              <a:path w="971550" h="266700">
                <a:moveTo>
                  <a:pt x="76199" y="0"/>
                </a:moveTo>
                <a:lnTo>
                  <a:pt x="895351" y="0"/>
                </a:lnTo>
                <a:cubicBezTo>
                  <a:pt x="937406" y="0"/>
                  <a:pt x="971550" y="34144"/>
                  <a:pt x="971550" y="76199"/>
                </a:cubicBezTo>
                <a:lnTo>
                  <a:pt x="971550" y="190501"/>
                </a:lnTo>
                <a:cubicBezTo>
                  <a:pt x="971550" y="232556"/>
                  <a:pt x="937406" y="266700"/>
                  <a:pt x="895351" y="266700"/>
                </a:cubicBezTo>
                <a:lnTo>
                  <a:pt x="76199" y="266700"/>
                </a:lnTo>
                <a:cubicBezTo>
                  <a:pt x="34144" y="266700"/>
                  <a:pt x="0" y="232556"/>
                  <a:pt x="0" y="190501"/>
                </a:cubicBezTo>
                <a:lnTo>
                  <a:pt x="0" y="76199"/>
                </a:lnTo>
                <a:cubicBezTo>
                  <a:pt x="0" y="34144"/>
                  <a:pt x="34144" y="0"/>
                  <a:pt x="76199" y="0"/>
                </a:cubicBezTo>
                <a:close/>
              </a:path>
            </a:pathLst>
          </a:custGeom>
          <a:solidFill>
            <a:srgbClr val="B89A6A">
              <a:alpha val="20000"/>
            </a:srgbClr>
          </a:solidFill>
        </p:spPr>
      </p:sp>
      <p:sp>
        <p:nvSpPr>
          <p:cNvPr id="11" name="Text 8"/>
          <p:cNvSpPr/>
          <p:nvPr/>
        </p:nvSpPr>
        <p:spPr>
          <a:xfrm>
            <a:off x="1466850" y="1390650"/>
            <a:ext cx="809625" cy="190500"/>
          </a:xfrm>
          <a:prstGeom prst="rect">
            <a:avLst/>
          </a:prstGeom>
          <a:noFill/>
        </p:spPr>
        <p:txBody>
          <a:bodyPr wrap="square" lIns="0" tIns="0" rIns="0" bIns="0" rtlCol="0" anchor="ctr"/>
          <a:lstStyle/>
          <a:p>
            <a:pPr>
              <a:lnSpc>
                <a:spcPct val="120000"/>
              </a:lnSpc>
            </a:pPr>
            <a:r>
              <a:rPr lang="en-US" sz="1050" b="1" dirty="0">
                <a:solidFill>
                  <a:srgbClr val="B89A6A"/>
                </a:solidFill>
                <a:latin typeface="Liter" panose="02000503030000020004" pitchFamily="34" charset="0"/>
                <a:ea typeface="Liter" panose="02000503030000020004" pitchFamily="34" charset="-122"/>
                <a:cs typeface="Liter" panose="02000503030000020004" pitchFamily="34" charset="-120"/>
              </a:rPr>
              <a:t>PRIORITY 01</a:t>
            </a:r>
            <a:endParaRPr lang="en-US" sz="1600" dirty="0"/>
          </a:p>
        </p:txBody>
      </p:sp>
      <p:sp>
        <p:nvSpPr>
          <p:cNvPr id="12" name="Text 9"/>
          <p:cNvSpPr/>
          <p:nvPr/>
        </p:nvSpPr>
        <p:spPr>
          <a:xfrm>
            <a:off x="1352550" y="1657350"/>
            <a:ext cx="2752725" cy="304800"/>
          </a:xfrm>
          <a:prstGeom prst="rect">
            <a:avLst/>
          </a:prstGeom>
          <a:noFill/>
        </p:spPr>
        <p:txBody>
          <a:bodyPr wrap="square" lIns="0" tIns="0" rIns="0" bIns="0" rtlCol="0" anchor="ctr"/>
          <a:lstStyle/>
          <a:p>
            <a:pPr>
              <a:lnSpc>
                <a:spcPct val="110000"/>
              </a:lnSpc>
            </a:pPr>
            <a:r>
              <a:rPr lang="en-US" sz="18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Accelerate Cash Collection</a:t>
            </a:r>
            <a:endParaRPr lang="en-US" sz="1600" dirty="0"/>
          </a:p>
        </p:txBody>
      </p:sp>
      <p:sp>
        <p:nvSpPr>
          <p:cNvPr id="13" name="Text 10"/>
          <p:cNvSpPr/>
          <p:nvPr/>
        </p:nvSpPr>
        <p:spPr>
          <a:xfrm>
            <a:off x="590550" y="2114550"/>
            <a:ext cx="5305425" cy="838200"/>
          </a:xfrm>
          <a:prstGeom prst="rect">
            <a:avLst/>
          </a:prstGeom>
          <a:noFill/>
        </p:spPr>
        <p:txBody>
          <a:bodyPr wrap="square" lIns="0" tIns="0" rIns="0" bIns="0" rtlCol="0" anchor="ctr"/>
          <a:lstStyle/>
          <a:p>
            <a:pPr>
              <a:lnSpc>
                <a:spcPct val="140000"/>
              </a:lnSpc>
            </a:pPr>
            <a:r>
              <a:rPr lang="en-US" sz="1350" dirty="0">
                <a:solidFill>
                  <a:srgbClr val="78828A"/>
                </a:solidFill>
                <a:latin typeface="Liter" panose="02000503030000020004" pitchFamily="34" charset="0"/>
                <a:ea typeface="Liter" panose="02000503030000020004" pitchFamily="34" charset="-122"/>
                <a:cs typeface="Liter" panose="02000503030000020004" pitchFamily="34" charset="-120"/>
              </a:rPr>
              <a:t>Accelerate cash collection from </a:t>
            </a:r>
            <a:r>
              <a:rPr lang="en-US" sz="1350" b="1" dirty="0">
                <a:solidFill>
                  <a:srgbClr val="B89A6A"/>
                </a:solidFill>
                <a:latin typeface="Liter" panose="02000503030000020004" pitchFamily="34" charset="0"/>
                <a:ea typeface="Liter" panose="02000503030000020004" pitchFamily="34" charset="-122"/>
                <a:cs typeface="Liter" panose="02000503030000020004" pitchFamily="34" charset="-120"/>
              </a:rPr>
              <a:t>APAC deployments</a:t>
            </a:r>
            <a:r>
              <a:rPr lang="en-US" sz="1350" dirty="0">
                <a:solidFill>
                  <a:srgbClr val="78828A"/>
                </a:solidFill>
                <a:latin typeface="Liter" panose="02000503030000020004" pitchFamily="34" charset="0"/>
                <a:ea typeface="Liter" panose="02000503030000020004" pitchFamily="34" charset="-122"/>
                <a:cs typeface="Liter" panose="02000503030000020004" pitchFamily="34" charset="-120"/>
              </a:rPr>
              <a:t> to improve working capital and reduce DSO. Focus on enterprise accounts with extended payment terms.</a:t>
            </a:r>
            <a:endParaRPr lang="en-US" sz="1600" dirty="0"/>
          </a:p>
        </p:txBody>
      </p:sp>
      <p:sp>
        <p:nvSpPr>
          <p:cNvPr id="14" name="Shape 11"/>
          <p:cNvSpPr/>
          <p:nvPr/>
        </p:nvSpPr>
        <p:spPr>
          <a:xfrm>
            <a:off x="595313" y="3107531"/>
            <a:ext cx="5210175" cy="657225"/>
          </a:xfrm>
          <a:custGeom>
            <a:avLst/>
            <a:gdLst/>
            <a:ahLst/>
            <a:cxnLst/>
            <a:rect l="l" t="t" r="r" b="b"/>
            <a:pathLst>
              <a:path w="5210175" h="657225">
                <a:moveTo>
                  <a:pt x="76199" y="0"/>
                </a:moveTo>
                <a:lnTo>
                  <a:pt x="5133976" y="0"/>
                </a:lnTo>
                <a:cubicBezTo>
                  <a:pt x="5176060" y="0"/>
                  <a:pt x="5210175" y="34115"/>
                  <a:pt x="5210175" y="76199"/>
                </a:cubicBezTo>
                <a:lnTo>
                  <a:pt x="5210175" y="581026"/>
                </a:lnTo>
                <a:cubicBezTo>
                  <a:pt x="5210175" y="623110"/>
                  <a:pt x="5176060" y="657225"/>
                  <a:pt x="5133976" y="657225"/>
                </a:cubicBezTo>
                <a:lnTo>
                  <a:pt x="76199" y="657225"/>
                </a:lnTo>
                <a:cubicBezTo>
                  <a:pt x="34115" y="657225"/>
                  <a:pt x="0" y="623110"/>
                  <a:pt x="0" y="581026"/>
                </a:cubicBezTo>
                <a:lnTo>
                  <a:pt x="0" y="76199"/>
                </a:lnTo>
                <a:cubicBezTo>
                  <a:pt x="0" y="34143"/>
                  <a:pt x="34143" y="0"/>
                  <a:pt x="76199" y="0"/>
                </a:cubicBezTo>
                <a:close/>
              </a:path>
            </a:pathLst>
          </a:custGeom>
          <a:solidFill>
            <a:srgbClr val="1A1D24">
              <a:alpha val="60000"/>
            </a:srgbClr>
          </a:solidFill>
          <a:ln w="12700">
            <a:solidFill>
              <a:srgbClr val="B89A6A">
                <a:alpha val="30196"/>
              </a:srgbClr>
            </a:solidFill>
            <a:prstDash val="solid"/>
          </a:ln>
        </p:spPr>
      </p:sp>
      <p:sp>
        <p:nvSpPr>
          <p:cNvPr id="15" name="Shape 12"/>
          <p:cNvSpPr/>
          <p:nvPr/>
        </p:nvSpPr>
        <p:spPr>
          <a:xfrm>
            <a:off x="738188" y="3245644"/>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B89A6A"/>
          </a:solidFill>
        </p:spPr>
      </p:sp>
      <p:sp>
        <p:nvSpPr>
          <p:cNvPr id="16" name="Text 13"/>
          <p:cNvSpPr/>
          <p:nvPr/>
        </p:nvSpPr>
        <p:spPr>
          <a:xfrm>
            <a:off x="1042988" y="3226594"/>
            <a:ext cx="2162175"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Target: Reduce DSO to 55 days</a:t>
            </a:r>
            <a:endParaRPr lang="en-US" sz="1600" dirty="0"/>
          </a:p>
        </p:txBody>
      </p:sp>
      <p:sp>
        <p:nvSpPr>
          <p:cNvPr id="17" name="Text 14"/>
          <p:cNvSpPr/>
          <p:nvPr/>
        </p:nvSpPr>
        <p:spPr>
          <a:xfrm>
            <a:off x="1042988" y="3455194"/>
            <a:ext cx="2152650"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From current 65 days</a:t>
            </a:r>
            <a:endParaRPr lang="en-US" sz="1600" dirty="0"/>
          </a:p>
        </p:txBody>
      </p:sp>
      <p:sp>
        <p:nvSpPr>
          <p:cNvPr id="18" name="Shape 15"/>
          <p:cNvSpPr/>
          <p:nvPr/>
        </p:nvSpPr>
        <p:spPr>
          <a:xfrm>
            <a:off x="595313" y="3850481"/>
            <a:ext cx="5210175" cy="657225"/>
          </a:xfrm>
          <a:custGeom>
            <a:avLst/>
            <a:gdLst/>
            <a:ahLst/>
            <a:cxnLst/>
            <a:rect l="l" t="t" r="r" b="b"/>
            <a:pathLst>
              <a:path w="5210175" h="657225">
                <a:moveTo>
                  <a:pt x="76199" y="0"/>
                </a:moveTo>
                <a:lnTo>
                  <a:pt x="5133976" y="0"/>
                </a:lnTo>
                <a:cubicBezTo>
                  <a:pt x="5176060" y="0"/>
                  <a:pt x="5210175" y="34115"/>
                  <a:pt x="5210175" y="76199"/>
                </a:cubicBezTo>
                <a:lnTo>
                  <a:pt x="5210175" y="581026"/>
                </a:lnTo>
                <a:cubicBezTo>
                  <a:pt x="5210175" y="623110"/>
                  <a:pt x="5176060" y="657225"/>
                  <a:pt x="5133976" y="657225"/>
                </a:cubicBezTo>
                <a:lnTo>
                  <a:pt x="76199" y="657225"/>
                </a:lnTo>
                <a:cubicBezTo>
                  <a:pt x="34115" y="657225"/>
                  <a:pt x="0" y="623110"/>
                  <a:pt x="0" y="581026"/>
                </a:cubicBezTo>
                <a:lnTo>
                  <a:pt x="0" y="76199"/>
                </a:lnTo>
                <a:cubicBezTo>
                  <a:pt x="0" y="34143"/>
                  <a:pt x="34143" y="0"/>
                  <a:pt x="76199" y="0"/>
                </a:cubicBezTo>
                <a:close/>
              </a:path>
            </a:pathLst>
          </a:custGeom>
          <a:solidFill>
            <a:srgbClr val="1A1D24">
              <a:alpha val="60000"/>
            </a:srgbClr>
          </a:solidFill>
          <a:ln w="12700">
            <a:solidFill>
              <a:srgbClr val="B89A6A">
                <a:alpha val="30196"/>
              </a:srgbClr>
            </a:solidFill>
            <a:prstDash val="solid"/>
          </a:ln>
        </p:spPr>
      </p:sp>
      <p:sp>
        <p:nvSpPr>
          <p:cNvPr id="19" name="Shape 16"/>
          <p:cNvSpPr/>
          <p:nvPr/>
        </p:nvSpPr>
        <p:spPr>
          <a:xfrm>
            <a:off x="738188" y="3988594"/>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B89A6A"/>
          </a:solidFill>
        </p:spPr>
      </p:sp>
      <p:sp>
        <p:nvSpPr>
          <p:cNvPr id="20" name="Text 17"/>
          <p:cNvSpPr/>
          <p:nvPr/>
        </p:nvSpPr>
        <p:spPr>
          <a:xfrm>
            <a:off x="1042988" y="3969544"/>
            <a:ext cx="2495550"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Implement early payment incentives</a:t>
            </a:r>
            <a:endParaRPr lang="en-US" sz="1600" dirty="0"/>
          </a:p>
        </p:txBody>
      </p:sp>
      <p:sp>
        <p:nvSpPr>
          <p:cNvPr id="21" name="Text 18"/>
          <p:cNvSpPr/>
          <p:nvPr/>
        </p:nvSpPr>
        <p:spPr>
          <a:xfrm>
            <a:off x="1042988" y="4198144"/>
            <a:ext cx="248602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2% discount for 15-day payment</a:t>
            </a:r>
            <a:endParaRPr lang="en-US" sz="1600" dirty="0"/>
          </a:p>
        </p:txBody>
      </p:sp>
      <p:sp>
        <p:nvSpPr>
          <p:cNvPr id="22" name="Shape 19"/>
          <p:cNvSpPr/>
          <p:nvPr/>
        </p:nvSpPr>
        <p:spPr>
          <a:xfrm>
            <a:off x="595313" y="4593431"/>
            <a:ext cx="5210175" cy="657225"/>
          </a:xfrm>
          <a:custGeom>
            <a:avLst/>
            <a:gdLst/>
            <a:ahLst/>
            <a:cxnLst/>
            <a:rect l="l" t="t" r="r" b="b"/>
            <a:pathLst>
              <a:path w="5210175" h="657225">
                <a:moveTo>
                  <a:pt x="76199" y="0"/>
                </a:moveTo>
                <a:lnTo>
                  <a:pt x="5133976" y="0"/>
                </a:lnTo>
                <a:cubicBezTo>
                  <a:pt x="5176060" y="0"/>
                  <a:pt x="5210175" y="34115"/>
                  <a:pt x="5210175" y="76199"/>
                </a:cubicBezTo>
                <a:lnTo>
                  <a:pt x="5210175" y="581026"/>
                </a:lnTo>
                <a:cubicBezTo>
                  <a:pt x="5210175" y="623110"/>
                  <a:pt x="5176060" y="657225"/>
                  <a:pt x="5133976" y="657225"/>
                </a:cubicBezTo>
                <a:lnTo>
                  <a:pt x="76199" y="657225"/>
                </a:lnTo>
                <a:cubicBezTo>
                  <a:pt x="34115" y="657225"/>
                  <a:pt x="0" y="623110"/>
                  <a:pt x="0" y="581026"/>
                </a:cubicBezTo>
                <a:lnTo>
                  <a:pt x="0" y="76199"/>
                </a:lnTo>
                <a:cubicBezTo>
                  <a:pt x="0" y="34143"/>
                  <a:pt x="34143" y="0"/>
                  <a:pt x="76199" y="0"/>
                </a:cubicBezTo>
                <a:close/>
              </a:path>
            </a:pathLst>
          </a:custGeom>
          <a:solidFill>
            <a:srgbClr val="1A1D24">
              <a:alpha val="60000"/>
            </a:srgbClr>
          </a:solidFill>
          <a:ln w="12700">
            <a:solidFill>
              <a:srgbClr val="B89A6A">
                <a:alpha val="30196"/>
              </a:srgbClr>
            </a:solidFill>
            <a:prstDash val="solid"/>
          </a:ln>
        </p:spPr>
      </p:sp>
      <p:sp>
        <p:nvSpPr>
          <p:cNvPr id="23" name="Shape 20"/>
          <p:cNvSpPr/>
          <p:nvPr/>
        </p:nvSpPr>
        <p:spPr>
          <a:xfrm>
            <a:off x="738188" y="4731544"/>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B89A6A"/>
          </a:solidFill>
        </p:spPr>
      </p:sp>
      <p:sp>
        <p:nvSpPr>
          <p:cNvPr id="24" name="Text 21"/>
          <p:cNvSpPr/>
          <p:nvPr/>
        </p:nvSpPr>
        <p:spPr>
          <a:xfrm>
            <a:off x="1042988" y="4712494"/>
            <a:ext cx="2552700"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Dedicated collections team for APAC</a:t>
            </a:r>
            <a:endParaRPr lang="en-US" sz="1600" dirty="0"/>
          </a:p>
        </p:txBody>
      </p:sp>
      <p:sp>
        <p:nvSpPr>
          <p:cNvPr id="25" name="Text 22"/>
          <p:cNvSpPr/>
          <p:nvPr/>
        </p:nvSpPr>
        <p:spPr>
          <a:xfrm>
            <a:off x="1042988" y="4941094"/>
            <a:ext cx="254317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Local language support</a:t>
            </a:r>
            <a:endParaRPr lang="en-US" sz="1600" dirty="0"/>
          </a:p>
        </p:txBody>
      </p:sp>
      <p:sp>
        <p:nvSpPr>
          <p:cNvPr id="26" name="Shape 23"/>
          <p:cNvSpPr/>
          <p:nvPr/>
        </p:nvSpPr>
        <p:spPr>
          <a:xfrm>
            <a:off x="385763" y="5584031"/>
            <a:ext cx="5629275" cy="771525"/>
          </a:xfrm>
          <a:custGeom>
            <a:avLst/>
            <a:gdLst/>
            <a:ahLst/>
            <a:cxnLst/>
            <a:rect l="l" t="t" r="r" b="b"/>
            <a:pathLst>
              <a:path w="5629275" h="771525">
                <a:moveTo>
                  <a:pt x="76204" y="0"/>
                </a:moveTo>
                <a:lnTo>
                  <a:pt x="5553071" y="0"/>
                </a:lnTo>
                <a:cubicBezTo>
                  <a:pt x="5595158" y="0"/>
                  <a:pt x="5629275" y="34117"/>
                  <a:pt x="5629275" y="76204"/>
                </a:cubicBezTo>
                <a:lnTo>
                  <a:pt x="5629275" y="695321"/>
                </a:lnTo>
                <a:cubicBezTo>
                  <a:pt x="5629275" y="737408"/>
                  <a:pt x="5595158" y="771525"/>
                  <a:pt x="5553071" y="771525"/>
                </a:cubicBezTo>
                <a:lnTo>
                  <a:pt x="76204" y="771525"/>
                </a:lnTo>
                <a:cubicBezTo>
                  <a:pt x="34117" y="771525"/>
                  <a:pt x="0" y="737408"/>
                  <a:pt x="0" y="695321"/>
                </a:cubicBezTo>
                <a:lnTo>
                  <a:pt x="0" y="76204"/>
                </a:lnTo>
                <a:cubicBezTo>
                  <a:pt x="0" y="34146"/>
                  <a:pt x="34146" y="0"/>
                  <a:pt x="76204" y="0"/>
                </a:cubicBezTo>
                <a:close/>
              </a:path>
            </a:pathLst>
          </a:custGeom>
          <a:solidFill>
            <a:srgbClr val="4A5C6A">
              <a:alpha val="20000"/>
            </a:srgbClr>
          </a:solidFill>
          <a:ln w="12700">
            <a:solidFill>
              <a:srgbClr val="4A5C6A">
                <a:alpha val="30196"/>
              </a:srgbClr>
            </a:solidFill>
            <a:prstDash val="solid"/>
          </a:ln>
        </p:spPr>
      </p:sp>
      <p:sp>
        <p:nvSpPr>
          <p:cNvPr id="27" name="Shape 24"/>
          <p:cNvSpPr/>
          <p:nvPr/>
        </p:nvSpPr>
        <p:spPr>
          <a:xfrm>
            <a:off x="566738" y="5874544"/>
            <a:ext cx="190500" cy="190500"/>
          </a:xfrm>
          <a:custGeom>
            <a:avLst/>
            <a:gdLst/>
            <a:ahLst/>
            <a:cxnLst/>
            <a:rect l="l" t="t" r="r" b="b"/>
            <a:pathLst>
              <a:path w="190500" h="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B89A6A"/>
          </a:solidFill>
        </p:spPr>
      </p:sp>
      <p:sp>
        <p:nvSpPr>
          <p:cNvPr id="28" name="Text 25"/>
          <p:cNvSpPr/>
          <p:nvPr/>
        </p:nvSpPr>
        <p:spPr>
          <a:xfrm>
            <a:off x="895350" y="5741194"/>
            <a:ext cx="193357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Expected Impact</a:t>
            </a:r>
            <a:endParaRPr lang="en-US" sz="1600" dirty="0"/>
          </a:p>
        </p:txBody>
      </p:sp>
      <p:sp>
        <p:nvSpPr>
          <p:cNvPr id="29" name="Text 26"/>
          <p:cNvSpPr/>
          <p:nvPr/>
        </p:nvSpPr>
        <p:spPr>
          <a:xfrm>
            <a:off x="895350" y="5931694"/>
            <a:ext cx="1962150" cy="266700"/>
          </a:xfrm>
          <a:prstGeom prst="rect">
            <a:avLst/>
          </a:prstGeom>
          <a:noFill/>
        </p:spPr>
        <p:txBody>
          <a:bodyPr wrap="square" lIns="0" tIns="0" rIns="0" bIns="0" rtlCol="0" anchor="ctr"/>
          <a:lstStyle/>
          <a:p>
            <a:pPr>
              <a:lnSpc>
                <a:spcPct val="120000"/>
              </a:lnSpc>
            </a:pPr>
            <a:r>
              <a:rPr lang="en-US" sz="1500"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+45M RMB cash inflow</a:t>
            </a:r>
            <a:endParaRPr lang="en-US" sz="1600" dirty="0"/>
          </a:p>
        </p:txBody>
      </p:sp>
      <p:sp>
        <p:nvSpPr>
          <p:cNvPr id="30" name="Text 27"/>
          <p:cNvSpPr/>
          <p:nvPr/>
        </p:nvSpPr>
        <p:spPr>
          <a:xfrm>
            <a:off x="5080397" y="5741194"/>
            <a:ext cx="781050" cy="190500"/>
          </a:xfrm>
          <a:prstGeom prst="rect">
            <a:avLst/>
          </a:prstGeom>
          <a:noFill/>
        </p:spPr>
        <p:txBody>
          <a:bodyPr wrap="square" lIns="0" tIns="0" rIns="0" bIns="0" rtlCol="0" anchor="ctr"/>
          <a:lstStyle/>
          <a:p>
            <a:pPr algn="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Timeline</a:t>
            </a:r>
            <a:endParaRPr lang="en-US" sz="1600" dirty="0"/>
          </a:p>
        </p:txBody>
      </p:sp>
      <p:sp>
        <p:nvSpPr>
          <p:cNvPr id="31" name="Text 28"/>
          <p:cNvSpPr/>
          <p:nvPr/>
        </p:nvSpPr>
        <p:spPr>
          <a:xfrm>
            <a:off x="5051822" y="5931694"/>
            <a:ext cx="809625" cy="266700"/>
          </a:xfrm>
          <a:prstGeom prst="rect">
            <a:avLst/>
          </a:prstGeom>
          <a:noFill/>
        </p:spPr>
        <p:txBody>
          <a:bodyPr wrap="square" lIns="0" tIns="0" rIns="0" bIns="0" rtlCol="0" anchor="ctr"/>
          <a:lstStyle/>
          <a:p>
            <a:pPr algn="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Q2 2026</a:t>
            </a:r>
            <a:endParaRPr lang="en-US" sz="1600" dirty="0"/>
          </a:p>
        </p:txBody>
      </p:sp>
      <p:sp>
        <p:nvSpPr>
          <p:cNvPr id="32" name="Shape 29"/>
          <p:cNvSpPr/>
          <p:nvPr/>
        </p:nvSpPr>
        <p:spPr>
          <a:xfrm>
            <a:off x="6181725" y="1152525"/>
            <a:ext cx="5619750" cy="4305300"/>
          </a:xfrm>
          <a:custGeom>
            <a:avLst/>
            <a:gdLst/>
            <a:ahLst/>
            <a:cxnLst/>
            <a:rect l="l" t="t" r="r" b="b"/>
            <a:pathLst>
              <a:path w="5619750" h="4305300">
                <a:moveTo>
                  <a:pt x="76204" y="0"/>
                </a:moveTo>
                <a:lnTo>
                  <a:pt x="5543546" y="0"/>
                </a:lnTo>
                <a:cubicBezTo>
                  <a:pt x="5585632" y="0"/>
                  <a:pt x="5619750" y="34118"/>
                  <a:pt x="5619750" y="76204"/>
                </a:cubicBezTo>
                <a:lnTo>
                  <a:pt x="5619750" y="4229096"/>
                </a:lnTo>
                <a:cubicBezTo>
                  <a:pt x="5619750" y="4271182"/>
                  <a:pt x="5585632" y="4305300"/>
                  <a:pt x="5543546" y="4305300"/>
                </a:cubicBezTo>
                <a:lnTo>
                  <a:pt x="76204" y="4305300"/>
                </a:lnTo>
                <a:cubicBezTo>
                  <a:pt x="34118" y="4305300"/>
                  <a:pt x="0" y="4271182"/>
                  <a:pt x="0" y="4229096"/>
                </a:cubicBezTo>
                <a:lnTo>
                  <a:pt x="0" y="76204"/>
                </a:lnTo>
                <a:cubicBezTo>
                  <a:pt x="0" y="34146"/>
                  <a:pt x="34146" y="0"/>
                  <a:pt x="76204" y="0"/>
                </a:cubicBezTo>
                <a:close/>
              </a:path>
            </a:pathLst>
          </a:custGeom>
          <a:solidFill>
            <a:srgbClr val="4A5C6A">
              <a:alpha val="10196"/>
            </a:srgbClr>
          </a:solidFill>
          <a:ln w="25400">
            <a:solidFill>
              <a:srgbClr val="4A5C6A">
                <a:alpha val="40000"/>
              </a:srgbClr>
            </a:solidFill>
            <a:prstDash val="solid"/>
          </a:ln>
        </p:spPr>
      </p:sp>
      <p:sp>
        <p:nvSpPr>
          <p:cNvPr id="33" name="Shape 30"/>
          <p:cNvSpPr/>
          <p:nvPr/>
        </p:nvSpPr>
        <p:spPr>
          <a:xfrm>
            <a:off x="6381750" y="1352550"/>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4A5C6A">
              <a:alpha val="40000"/>
            </a:srgbClr>
          </a:solidFill>
        </p:spPr>
      </p:sp>
      <p:sp>
        <p:nvSpPr>
          <p:cNvPr id="34" name="Shape 31"/>
          <p:cNvSpPr/>
          <p:nvPr/>
        </p:nvSpPr>
        <p:spPr>
          <a:xfrm>
            <a:off x="6563916" y="1514475"/>
            <a:ext cx="250031" cy="285750"/>
          </a:xfrm>
          <a:custGeom>
            <a:avLst/>
            <a:gdLst/>
            <a:ahLst/>
            <a:cxnLst/>
            <a:rect l="l" t="t" r="r" b="b"/>
            <a:pathLst>
              <a:path w="250031" h="285750">
                <a:moveTo>
                  <a:pt x="35719" y="17859"/>
                </a:moveTo>
                <a:cubicBezTo>
                  <a:pt x="16018" y="17859"/>
                  <a:pt x="0" y="33877"/>
                  <a:pt x="0" y="53578"/>
                </a:cubicBezTo>
                <a:lnTo>
                  <a:pt x="0" y="89297"/>
                </a:lnTo>
                <a:cubicBezTo>
                  <a:pt x="0" y="108998"/>
                  <a:pt x="16018" y="125016"/>
                  <a:pt x="35719" y="125016"/>
                </a:cubicBezTo>
                <a:lnTo>
                  <a:pt x="214313" y="125016"/>
                </a:lnTo>
                <a:cubicBezTo>
                  <a:pt x="234014" y="125016"/>
                  <a:pt x="250031" y="108998"/>
                  <a:pt x="250031" y="89297"/>
                </a:cubicBezTo>
                <a:lnTo>
                  <a:pt x="250031" y="53578"/>
                </a:lnTo>
                <a:cubicBezTo>
                  <a:pt x="250031" y="33877"/>
                  <a:pt x="234014" y="17859"/>
                  <a:pt x="214313" y="17859"/>
                </a:cubicBezTo>
                <a:lnTo>
                  <a:pt x="35719" y="17859"/>
                </a:lnTo>
                <a:close/>
                <a:moveTo>
                  <a:pt x="156270" y="58043"/>
                </a:moveTo>
                <a:cubicBezTo>
                  <a:pt x="163662" y="58043"/>
                  <a:pt x="169664" y="64045"/>
                  <a:pt x="169664" y="71438"/>
                </a:cubicBezTo>
                <a:cubicBezTo>
                  <a:pt x="169664" y="78830"/>
                  <a:pt x="163662" y="84832"/>
                  <a:pt x="156270" y="84832"/>
                </a:cubicBezTo>
                <a:cubicBezTo>
                  <a:pt x="148877" y="84832"/>
                  <a:pt x="142875" y="78830"/>
                  <a:pt x="142875" y="71438"/>
                </a:cubicBezTo>
                <a:cubicBezTo>
                  <a:pt x="142875" y="64045"/>
                  <a:pt x="148877" y="58043"/>
                  <a:pt x="156270" y="58043"/>
                </a:cubicBezTo>
                <a:close/>
                <a:moveTo>
                  <a:pt x="187523" y="71438"/>
                </a:moveTo>
                <a:cubicBezTo>
                  <a:pt x="187523" y="64045"/>
                  <a:pt x="193525" y="58043"/>
                  <a:pt x="200918" y="58043"/>
                </a:cubicBezTo>
                <a:cubicBezTo>
                  <a:pt x="208311" y="58043"/>
                  <a:pt x="214313" y="64045"/>
                  <a:pt x="214313" y="71438"/>
                </a:cubicBezTo>
                <a:cubicBezTo>
                  <a:pt x="214313" y="78830"/>
                  <a:pt x="208311" y="84832"/>
                  <a:pt x="200918" y="84832"/>
                </a:cubicBezTo>
                <a:cubicBezTo>
                  <a:pt x="193525" y="84832"/>
                  <a:pt x="187523" y="78830"/>
                  <a:pt x="187523" y="71438"/>
                </a:cubicBezTo>
                <a:close/>
                <a:moveTo>
                  <a:pt x="35719" y="160734"/>
                </a:moveTo>
                <a:cubicBezTo>
                  <a:pt x="16018" y="160734"/>
                  <a:pt x="0" y="176752"/>
                  <a:pt x="0" y="196453"/>
                </a:cubicBezTo>
                <a:lnTo>
                  <a:pt x="0" y="232172"/>
                </a:lnTo>
                <a:cubicBezTo>
                  <a:pt x="0" y="251873"/>
                  <a:pt x="16018" y="267891"/>
                  <a:pt x="35719" y="267891"/>
                </a:cubicBezTo>
                <a:lnTo>
                  <a:pt x="214313" y="267891"/>
                </a:lnTo>
                <a:cubicBezTo>
                  <a:pt x="234014" y="267891"/>
                  <a:pt x="250031" y="251873"/>
                  <a:pt x="250031" y="232172"/>
                </a:cubicBezTo>
                <a:lnTo>
                  <a:pt x="250031" y="196453"/>
                </a:lnTo>
                <a:cubicBezTo>
                  <a:pt x="250031" y="176752"/>
                  <a:pt x="234014" y="160734"/>
                  <a:pt x="214313" y="160734"/>
                </a:cubicBezTo>
                <a:lnTo>
                  <a:pt x="35719" y="160734"/>
                </a:lnTo>
                <a:close/>
                <a:moveTo>
                  <a:pt x="156270" y="200918"/>
                </a:moveTo>
                <a:cubicBezTo>
                  <a:pt x="163662" y="200918"/>
                  <a:pt x="169664" y="206920"/>
                  <a:pt x="169664" y="214313"/>
                </a:cubicBezTo>
                <a:cubicBezTo>
                  <a:pt x="169664" y="221705"/>
                  <a:pt x="163662" y="227707"/>
                  <a:pt x="156270" y="227707"/>
                </a:cubicBezTo>
                <a:cubicBezTo>
                  <a:pt x="148877" y="227707"/>
                  <a:pt x="142875" y="221705"/>
                  <a:pt x="142875" y="214313"/>
                </a:cubicBezTo>
                <a:cubicBezTo>
                  <a:pt x="142875" y="206920"/>
                  <a:pt x="148877" y="200918"/>
                  <a:pt x="156270" y="200918"/>
                </a:cubicBezTo>
                <a:close/>
                <a:moveTo>
                  <a:pt x="187523" y="214313"/>
                </a:moveTo>
                <a:cubicBezTo>
                  <a:pt x="187523" y="206920"/>
                  <a:pt x="193525" y="200918"/>
                  <a:pt x="200918" y="200918"/>
                </a:cubicBezTo>
                <a:cubicBezTo>
                  <a:pt x="208311" y="200918"/>
                  <a:pt x="214313" y="206920"/>
                  <a:pt x="214313" y="214313"/>
                </a:cubicBezTo>
                <a:cubicBezTo>
                  <a:pt x="214313" y="221705"/>
                  <a:pt x="208311" y="227707"/>
                  <a:pt x="200918" y="227707"/>
                </a:cubicBezTo>
                <a:cubicBezTo>
                  <a:pt x="193525" y="227707"/>
                  <a:pt x="187523" y="221705"/>
                  <a:pt x="187523" y="214313"/>
                </a:cubicBezTo>
                <a:close/>
              </a:path>
            </a:pathLst>
          </a:custGeom>
          <a:solidFill>
            <a:srgbClr val="B89A6A"/>
          </a:solidFill>
        </p:spPr>
      </p:sp>
      <p:sp>
        <p:nvSpPr>
          <p:cNvPr id="35" name="Shape 32"/>
          <p:cNvSpPr/>
          <p:nvPr/>
        </p:nvSpPr>
        <p:spPr>
          <a:xfrm>
            <a:off x="7143750" y="1352550"/>
            <a:ext cx="990600" cy="266700"/>
          </a:xfrm>
          <a:custGeom>
            <a:avLst/>
            <a:gdLst/>
            <a:ahLst/>
            <a:cxnLst/>
            <a:rect l="l" t="t" r="r" b="b"/>
            <a:pathLst>
              <a:path w="990600" h="266700">
                <a:moveTo>
                  <a:pt x="76199" y="0"/>
                </a:moveTo>
                <a:lnTo>
                  <a:pt x="914401" y="0"/>
                </a:lnTo>
                <a:cubicBezTo>
                  <a:pt x="956456" y="0"/>
                  <a:pt x="990600" y="34144"/>
                  <a:pt x="990600" y="76199"/>
                </a:cubicBezTo>
                <a:lnTo>
                  <a:pt x="990600" y="190501"/>
                </a:lnTo>
                <a:cubicBezTo>
                  <a:pt x="990600" y="232556"/>
                  <a:pt x="956456" y="266700"/>
                  <a:pt x="914401" y="266700"/>
                </a:cubicBezTo>
                <a:lnTo>
                  <a:pt x="76199" y="266700"/>
                </a:lnTo>
                <a:cubicBezTo>
                  <a:pt x="34144" y="266700"/>
                  <a:pt x="0" y="232556"/>
                  <a:pt x="0" y="190501"/>
                </a:cubicBezTo>
                <a:lnTo>
                  <a:pt x="0" y="76199"/>
                </a:lnTo>
                <a:cubicBezTo>
                  <a:pt x="0" y="34144"/>
                  <a:pt x="34144" y="0"/>
                  <a:pt x="76199" y="0"/>
                </a:cubicBezTo>
                <a:close/>
              </a:path>
            </a:pathLst>
          </a:custGeom>
          <a:solidFill>
            <a:srgbClr val="4A5C6A">
              <a:alpha val="30196"/>
            </a:srgbClr>
          </a:solidFill>
        </p:spPr>
      </p:sp>
      <p:sp>
        <p:nvSpPr>
          <p:cNvPr id="36" name="Text 33"/>
          <p:cNvSpPr/>
          <p:nvPr/>
        </p:nvSpPr>
        <p:spPr>
          <a:xfrm>
            <a:off x="7258050" y="1390650"/>
            <a:ext cx="828675" cy="190500"/>
          </a:xfrm>
          <a:prstGeom prst="rect">
            <a:avLst/>
          </a:prstGeom>
          <a:noFill/>
        </p:spPr>
        <p:txBody>
          <a:bodyPr wrap="square" lIns="0" tIns="0" rIns="0" bIns="0" rtlCol="0" anchor="ctr"/>
          <a:lstStyle/>
          <a:p>
            <a:pPr>
              <a:lnSpc>
                <a:spcPct val="120000"/>
              </a:lnSpc>
            </a:pPr>
            <a:r>
              <a:rPr lang="en-US" sz="1050" b="1" dirty="0">
                <a:solidFill>
                  <a:srgbClr val="78828A"/>
                </a:solidFill>
                <a:latin typeface="Liter" panose="02000503030000020004" pitchFamily="34" charset="0"/>
                <a:ea typeface="Liter" panose="02000503030000020004" pitchFamily="34" charset="-122"/>
                <a:cs typeface="Liter" panose="02000503030000020004" pitchFamily="34" charset="-120"/>
              </a:rPr>
              <a:t>PRIORITY 02</a:t>
            </a:r>
            <a:endParaRPr lang="en-US" sz="1600" dirty="0"/>
          </a:p>
        </p:txBody>
      </p:sp>
      <p:sp>
        <p:nvSpPr>
          <p:cNvPr id="37" name="Text 34"/>
          <p:cNvSpPr/>
          <p:nvPr/>
        </p:nvSpPr>
        <p:spPr>
          <a:xfrm>
            <a:off x="7143750" y="1657350"/>
            <a:ext cx="3467100" cy="304800"/>
          </a:xfrm>
          <a:prstGeom prst="rect">
            <a:avLst/>
          </a:prstGeom>
          <a:noFill/>
        </p:spPr>
        <p:txBody>
          <a:bodyPr wrap="square" lIns="0" tIns="0" rIns="0" bIns="0" rtlCol="0" anchor="ctr"/>
          <a:lstStyle/>
          <a:p>
            <a:pPr>
              <a:lnSpc>
                <a:spcPct val="110000"/>
              </a:lnSpc>
            </a:pPr>
            <a:r>
              <a:rPr lang="en-US" sz="18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Optimize Cloud Infrastructure ROI</a:t>
            </a:r>
            <a:endParaRPr lang="en-US" sz="1600" dirty="0"/>
          </a:p>
        </p:txBody>
      </p:sp>
      <p:sp>
        <p:nvSpPr>
          <p:cNvPr id="38" name="Text 35"/>
          <p:cNvSpPr/>
          <p:nvPr/>
        </p:nvSpPr>
        <p:spPr>
          <a:xfrm>
            <a:off x="6381750" y="2114550"/>
            <a:ext cx="5305425" cy="838200"/>
          </a:xfrm>
          <a:prstGeom prst="rect">
            <a:avLst/>
          </a:prstGeom>
          <a:noFill/>
        </p:spPr>
        <p:txBody>
          <a:bodyPr wrap="square" lIns="0" tIns="0" rIns="0" bIns="0" rtlCol="0" anchor="ctr"/>
          <a:lstStyle/>
          <a:p>
            <a:pPr>
              <a:lnSpc>
                <a:spcPct val="140000"/>
              </a:lnSpc>
            </a:pPr>
            <a:r>
              <a:rPr lang="en-US" sz="1350" dirty="0">
                <a:solidFill>
                  <a:srgbClr val="78828A"/>
                </a:solidFill>
                <a:latin typeface="Liter" panose="02000503030000020004" pitchFamily="34" charset="0"/>
                <a:ea typeface="Liter" panose="02000503030000020004" pitchFamily="34" charset="-122"/>
                <a:cs typeface="Liter" panose="02000503030000020004" pitchFamily="34" charset="-120"/>
              </a:rPr>
              <a:t>Optimize cloud infrastructure ROI through </a:t>
            </a:r>
            <a:r>
              <a:rPr lang="en-US" sz="1350" b="1" dirty="0">
                <a:solidFill>
                  <a:srgbClr val="B89A6A"/>
                </a:solidFill>
                <a:latin typeface="Liter" panose="02000503030000020004" pitchFamily="34" charset="0"/>
                <a:ea typeface="Liter" panose="02000503030000020004" pitchFamily="34" charset="-122"/>
                <a:cs typeface="Liter" panose="02000503030000020004" pitchFamily="34" charset="-120"/>
              </a:rPr>
              <a:t>rightsizing</a:t>
            </a:r>
            <a:r>
              <a:rPr lang="en-US" sz="1350" dirty="0">
                <a:solidFill>
                  <a:srgbClr val="78828A"/>
                </a:solidFill>
                <a:latin typeface="Liter" panose="02000503030000020004" pitchFamily="34" charset="0"/>
                <a:ea typeface="Liter" panose="02000503030000020004" pitchFamily="34" charset="-122"/>
                <a:cs typeface="Liter" panose="02000503030000020004" pitchFamily="34" charset="-120"/>
              </a:rPr>
              <a:t>, reserved instance purchasing, and workload optimization to reduce COGS and improve gross margin.</a:t>
            </a:r>
            <a:endParaRPr lang="en-US" sz="1600" dirty="0"/>
          </a:p>
        </p:txBody>
      </p:sp>
      <p:sp>
        <p:nvSpPr>
          <p:cNvPr id="39" name="Shape 36"/>
          <p:cNvSpPr/>
          <p:nvPr/>
        </p:nvSpPr>
        <p:spPr>
          <a:xfrm>
            <a:off x="6386513" y="3107531"/>
            <a:ext cx="5210175" cy="657225"/>
          </a:xfrm>
          <a:custGeom>
            <a:avLst/>
            <a:gdLst/>
            <a:ahLst/>
            <a:cxnLst/>
            <a:rect l="l" t="t" r="r" b="b"/>
            <a:pathLst>
              <a:path w="5210175" h="657225">
                <a:moveTo>
                  <a:pt x="76199" y="0"/>
                </a:moveTo>
                <a:lnTo>
                  <a:pt x="5133976" y="0"/>
                </a:lnTo>
                <a:cubicBezTo>
                  <a:pt x="5176060" y="0"/>
                  <a:pt x="5210175" y="34115"/>
                  <a:pt x="5210175" y="76199"/>
                </a:cubicBezTo>
                <a:lnTo>
                  <a:pt x="5210175" y="581026"/>
                </a:lnTo>
                <a:cubicBezTo>
                  <a:pt x="5210175" y="623110"/>
                  <a:pt x="5176060" y="657225"/>
                  <a:pt x="5133976" y="657225"/>
                </a:cubicBezTo>
                <a:lnTo>
                  <a:pt x="76199" y="657225"/>
                </a:lnTo>
                <a:cubicBezTo>
                  <a:pt x="34115" y="657225"/>
                  <a:pt x="0" y="623110"/>
                  <a:pt x="0" y="581026"/>
                </a:cubicBezTo>
                <a:lnTo>
                  <a:pt x="0" y="76199"/>
                </a:lnTo>
                <a:cubicBezTo>
                  <a:pt x="0" y="34143"/>
                  <a:pt x="34143" y="0"/>
                  <a:pt x="76199" y="0"/>
                </a:cubicBezTo>
                <a:close/>
              </a:path>
            </a:pathLst>
          </a:custGeom>
          <a:solidFill>
            <a:srgbClr val="1A1D24">
              <a:alpha val="60000"/>
            </a:srgbClr>
          </a:solidFill>
          <a:ln w="12700">
            <a:solidFill>
              <a:srgbClr val="4A5C6A">
                <a:alpha val="30196"/>
              </a:srgbClr>
            </a:solidFill>
            <a:prstDash val="solid"/>
          </a:ln>
        </p:spPr>
      </p:sp>
      <p:sp>
        <p:nvSpPr>
          <p:cNvPr id="40" name="Shape 37"/>
          <p:cNvSpPr/>
          <p:nvPr/>
        </p:nvSpPr>
        <p:spPr>
          <a:xfrm>
            <a:off x="6529388" y="3245644"/>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4A5C6A"/>
          </a:solidFill>
        </p:spPr>
      </p:sp>
      <p:sp>
        <p:nvSpPr>
          <p:cNvPr id="41" name="Text 38"/>
          <p:cNvSpPr/>
          <p:nvPr/>
        </p:nvSpPr>
        <p:spPr>
          <a:xfrm>
            <a:off x="6834188" y="3226594"/>
            <a:ext cx="2200275"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Reserved Instance commitment</a:t>
            </a:r>
            <a:endParaRPr lang="en-US" sz="1600" dirty="0"/>
          </a:p>
        </p:txBody>
      </p:sp>
      <p:sp>
        <p:nvSpPr>
          <p:cNvPr id="42" name="Text 39"/>
          <p:cNvSpPr/>
          <p:nvPr/>
        </p:nvSpPr>
        <p:spPr>
          <a:xfrm>
            <a:off x="6834188" y="3455194"/>
            <a:ext cx="2190750"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1-year RI for baseline workloads</a:t>
            </a:r>
            <a:endParaRPr lang="en-US" sz="1600" dirty="0"/>
          </a:p>
        </p:txBody>
      </p:sp>
      <p:sp>
        <p:nvSpPr>
          <p:cNvPr id="43" name="Shape 40"/>
          <p:cNvSpPr/>
          <p:nvPr/>
        </p:nvSpPr>
        <p:spPr>
          <a:xfrm>
            <a:off x="6386513" y="3850481"/>
            <a:ext cx="5210175" cy="657225"/>
          </a:xfrm>
          <a:custGeom>
            <a:avLst/>
            <a:gdLst/>
            <a:ahLst/>
            <a:cxnLst/>
            <a:rect l="l" t="t" r="r" b="b"/>
            <a:pathLst>
              <a:path w="5210175" h="657225">
                <a:moveTo>
                  <a:pt x="76199" y="0"/>
                </a:moveTo>
                <a:lnTo>
                  <a:pt x="5133976" y="0"/>
                </a:lnTo>
                <a:cubicBezTo>
                  <a:pt x="5176060" y="0"/>
                  <a:pt x="5210175" y="34115"/>
                  <a:pt x="5210175" y="76199"/>
                </a:cubicBezTo>
                <a:lnTo>
                  <a:pt x="5210175" y="581026"/>
                </a:lnTo>
                <a:cubicBezTo>
                  <a:pt x="5210175" y="623110"/>
                  <a:pt x="5176060" y="657225"/>
                  <a:pt x="5133976" y="657225"/>
                </a:cubicBezTo>
                <a:lnTo>
                  <a:pt x="76199" y="657225"/>
                </a:lnTo>
                <a:cubicBezTo>
                  <a:pt x="34115" y="657225"/>
                  <a:pt x="0" y="623110"/>
                  <a:pt x="0" y="581026"/>
                </a:cubicBezTo>
                <a:lnTo>
                  <a:pt x="0" y="76199"/>
                </a:lnTo>
                <a:cubicBezTo>
                  <a:pt x="0" y="34143"/>
                  <a:pt x="34143" y="0"/>
                  <a:pt x="76199" y="0"/>
                </a:cubicBezTo>
                <a:close/>
              </a:path>
            </a:pathLst>
          </a:custGeom>
          <a:solidFill>
            <a:srgbClr val="1A1D24">
              <a:alpha val="60000"/>
            </a:srgbClr>
          </a:solidFill>
          <a:ln w="12700">
            <a:solidFill>
              <a:srgbClr val="4A5C6A">
                <a:alpha val="30196"/>
              </a:srgbClr>
            </a:solidFill>
            <a:prstDash val="solid"/>
          </a:ln>
        </p:spPr>
      </p:sp>
      <p:sp>
        <p:nvSpPr>
          <p:cNvPr id="44" name="Shape 41"/>
          <p:cNvSpPr/>
          <p:nvPr/>
        </p:nvSpPr>
        <p:spPr>
          <a:xfrm>
            <a:off x="6529388" y="3988594"/>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4A5C6A"/>
          </a:solidFill>
        </p:spPr>
      </p:sp>
      <p:sp>
        <p:nvSpPr>
          <p:cNvPr id="45" name="Text 42"/>
          <p:cNvSpPr/>
          <p:nvPr/>
        </p:nvSpPr>
        <p:spPr>
          <a:xfrm>
            <a:off x="6834188" y="3969544"/>
            <a:ext cx="1800225"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Auto-scaling optimization</a:t>
            </a:r>
            <a:endParaRPr lang="en-US" sz="1600" dirty="0"/>
          </a:p>
        </p:txBody>
      </p:sp>
      <p:sp>
        <p:nvSpPr>
          <p:cNvPr id="46" name="Text 43"/>
          <p:cNvSpPr/>
          <p:nvPr/>
        </p:nvSpPr>
        <p:spPr>
          <a:xfrm>
            <a:off x="6834188" y="4198144"/>
            <a:ext cx="1790700"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Dynamic resource allocation</a:t>
            </a:r>
            <a:endParaRPr lang="en-US" sz="1600" dirty="0"/>
          </a:p>
        </p:txBody>
      </p:sp>
      <p:sp>
        <p:nvSpPr>
          <p:cNvPr id="47" name="Shape 44"/>
          <p:cNvSpPr/>
          <p:nvPr/>
        </p:nvSpPr>
        <p:spPr>
          <a:xfrm>
            <a:off x="6386513" y="4593431"/>
            <a:ext cx="5210175" cy="657225"/>
          </a:xfrm>
          <a:custGeom>
            <a:avLst/>
            <a:gdLst/>
            <a:ahLst/>
            <a:cxnLst/>
            <a:rect l="l" t="t" r="r" b="b"/>
            <a:pathLst>
              <a:path w="5210175" h="657225">
                <a:moveTo>
                  <a:pt x="76199" y="0"/>
                </a:moveTo>
                <a:lnTo>
                  <a:pt x="5133976" y="0"/>
                </a:lnTo>
                <a:cubicBezTo>
                  <a:pt x="5176060" y="0"/>
                  <a:pt x="5210175" y="34115"/>
                  <a:pt x="5210175" y="76199"/>
                </a:cubicBezTo>
                <a:lnTo>
                  <a:pt x="5210175" y="581026"/>
                </a:lnTo>
                <a:cubicBezTo>
                  <a:pt x="5210175" y="623110"/>
                  <a:pt x="5176060" y="657225"/>
                  <a:pt x="5133976" y="657225"/>
                </a:cubicBezTo>
                <a:lnTo>
                  <a:pt x="76199" y="657225"/>
                </a:lnTo>
                <a:cubicBezTo>
                  <a:pt x="34115" y="657225"/>
                  <a:pt x="0" y="623110"/>
                  <a:pt x="0" y="581026"/>
                </a:cubicBezTo>
                <a:lnTo>
                  <a:pt x="0" y="76199"/>
                </a:lnTo>
                <a:cubicBezTo>
                  <a:pt x="0" y="34143"/>
                  <a:pt x="34143" y="0"/>
                  <a:pt x="76199" y="0"/>
                </a:cubicBezTo>
                <a:close/>
              </a:path>
            </a:pathLst>
          </a:custGeom>
          <a:solidFill>
            <a:srgbClr val="1A1D24">
              <a:alpha val="60000"/>
            </a:srgbClr>
          </a:solidFill>
          <a:ln w="12700">
            <a:solidFill>
              <a:srgbClr val="4A5C6A">
                <a:alpha val="30196"/>
              </a:srgbClr>
            </a:solidFill>
            <a:prstDash val="solid"/>
          </a:ln>
        </p:spPr>
      </p:sp>
      <p:sp>
        <p:nvSpPr>
          <p:cNvPr id="48" name="Shape 45"/>
          <p:cNvSpPr/>
          <p:nvPr/>
        </p:nvSpPr>
        <p:spPr>
          <a:xfrm>
            <a:off x="6529388" y="4731544"/>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4A5C6A"/>
          </a:solidFill>
        </p:spPr>
      </p:sp>
      <p:sp>
        <p:nvSpPr>
          <p:cNvPr id="49" name="Text 46"/>
          <p:cNvSpPr/>
          <p:nvPr/>
        </p:nvSpPr>
        <p:spPr>
          <a:xfrm>
            <a:off x="6834188" y="4712494"/>
            <a:ext cx="2000250"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Multi-cloud cost comparison</a:t>
            </a:r>
            <a:endParaRPr lang="en-US" sz="1600" dirty="0"/>
          </a:p>
        </p:txBody>
      </p:sp>
      <p:sp>
        <p:nvSpPr>
          <p:cNvPr id="50" name="Text 47"/>
          <p:cNvSpPr/>
          <p:nvPr/>
        </p:nvSpPr>
        <p:spPr>
          <a:xfrm>
            <a:off x="6834188" y="4941094"/>
            <a:ext cx="199072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Evaluate alternative providers</a:t>
            </a:r>
            <a:endParaRPr lang="en-US" sz="1600" dirty="0"/>
          </a:p>
        </p:txBody>
      </p:sp>
      <p:sp>
        <p:nvSpPr>
          <p:cNvPr id="51" name="Shape 48"/>
          <p:cNvSpPr/>
          <p:nvPr/>
        </p:nvSpPr>
        <p:spPr>
          <a:xfrm>
            <a:off x="6176963" y="5584031"/>
            <a:ext cx="5629275" cy="771525"/>
          </a:xfrm>
          <a:custGeom>
            <a:avLst/>
            <a:gdLst/>
            <a:ahLst/>
            <a:cxnLst/>
            <a:rect l="l" t="t" r="r" b="b"/>
            <a:pathLst>
              <a:path w="5629275" h="771525">
                <a:moveTo>
                  <a:pt x="76204" y="0"/>
                </a:moveTo>
                <a:lnTo>
                  <a:pt x="5553071" y="0"/>
                </a:lnTo>
                <a:cubicBezTo>
                  <a:pt x="5595158" y="0"/>
                  <a:pt x="5629275" y="34117"/>
                  <a:pt x="5629275" y="76204"/>
                </a:cubicBezTo>
                <a:lnTo>
                  <a:pt x="5629275" y="695321"/>
                </a:lnTo>
                <a:cubicBezTo>
                  <a:pt x="5629275" y="737408"/>
                  <a:pt x="5595158" y="771525"/>
                  <a:pt x="5553071" y="771525"/>
                </a:cubicBezTo>
                <a:lnTo>
                  <a:pt x="76204" y="771525"/>
                </a:lnTo>
                <a:cubicBezTo>
                  <a:pt x="34117" y="771525"/>
                  <a:pt x="0" y="737408"/>
                  <a:pt x="0" y="695321"/>
                </a:cubicBezTo>
                <a:lnTo>
                  <a:pt x="0" y="76204"/>
                </a:lnTo>
                <a:cubicBezTo>
                  <a:pt x="0" y="34146"/>
                  <a:pt x="34146" y="0"/>
                  <a:pt x="76204" y="0"/>
                </a:cubicBezTo>
                <a:close/>
              </a:path>
            </a:pathLst>
          </a:custGeom>
          <a:solidFill>
            <a:srgbClr val="4A5C6A">
              <a:alpha val="20000"/>
            </a:srgbClr>
          </a:solidFill>
          <a:ln w="12700">
            <a:solidFill>
              <a:srgbClr val="4A5C6A">
                <a:alpha val="30196"/>
              </a:srgbClr>
            </a:solidFill>
            <a:prstDash val="solid"/>
          </a:ln>
        </p:spPr>
      </p:sp>
      <p:sp>
        <p:nvSpPr>
          <p:cNvPr id="52" name="Shape 49"/>
          <p:cNvSpPr/>
          <p:nvPr/>
        </p:nvSpPr>
        <p:spPr>
          <a:xfrm>
            <a:off x="6357938" y="5874544"/>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B89A6A"/>
          </a:solidFill>
        </p:spPr>
      </p:sp>
      <p:sp>
        <p:nvSpPr>
          <p:cNvPr id="53" name="Text 50"/>
          <p:cNvSpPr/>
          <p:nvPr/>
        </p:nvSpPr>
        <p:spPr>
          <a:xfrm>
            <a:off x="6686550" y="5741194"/>
            <a:ext cx="1457325" cy="190500"/>
          </a:xfrm>
          <a:prstGeom prst="rect">
            <a:avLst/>
          </a:prstGeom>
          <a:noFill/>
        </p:spPr>
        <p:txBody>
          <a:bodyPr wrap="square" lIns="0" tIns="0" rIns="0" bIns="0" rtlCol="0" anchor="ctr"/>
          <a:lstStyle/>
          <a:p>
            <a:pP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Expected Savings</a:t>
            </a:r>
            <a:endParaRPr lang="en-US" sz="1600" dirty="0"/>
          </a:p>
        </p:txBody>
      </p:sp>
      <p:sp>
        <p:nvSpPr>
          <p:cNvPr id="54" name="Text 51"/>
          <p:cNvSpPr/>
          <p:nvPr/>
        </p:nvSpPr>
        <p:spPr>
          <a:xfrm>
            <a:off x="6686550" y="5931694"/>
            <a:ext cx="1485900" cy="266700"/>
          </a:xfrm>
          <a:prstGeom prst="rect">
            <a:avLst/>
          </a:prstGeom>
          <a:noFill/>
        </p:spPr>
        <p:txBody>
          <a:bodyPr wrap="square" lIns="0" tIns="0" rIns="0" bIns="0" rtlCol="0" anchor="ctr"/>
          <a:lstStyle/>
          <a:p>
            <a:pPr>
              <a:lnSpc>
                <a:spcPct val="120000"/>
              </a:lnSpc>
            </a:pPr>
            <a:r>
              <a:rPr lang="en-US" sz="1500" b="1" dirty="0">
                <a:solidFill>
                  <a:srgbClr val="B89A6A"/>
                </a:solidFill>
                <a:latin typeface="Quattrocento Sans" panose="020B0502050000020003" pitchFamily="34" charset="0"/>
                <a:ea typeface="Quattrocento Sans" panose="020B0502050000020003" pitchFamily="34" charset="-122"/>
                <a:cs typeface="Quattrocento Sans" panose="020B0502050000020003" pitchFamily="34" charset="-120"/>
              </a:rPr>
              <a:t>-15% cloud costs</a:t>
            </a:r>
            <a:endParaRPr lang="en-US" sz="1600" dirty="0"/>
          </a:p>
        </p:txBody>
      </p:sp>
      <p:sp>
        <p:nvSpPr>
          <p:cNvPr id="55" name="Text 52"/>
          <p:cNvSpPr/>
          <p:nvPr/>
        </p:nvSpPr>
        <p:spPr>
          <a:xfrm>
            <a:off x="10752906" y="5741194"/>
            <a:ext cx="895350" cy="190500"/>
          </a:xfrm>
          <a:prstGeom prst="rect">
            <a:avLst/>
          </a:prstGeom>
          <a:noFill/>
        </p:spPr>
        <p:txBody>
          <a:bodyPr wrap="square" lIns="0" tIns="0" rIns="0" bIns="0" rtlCol="0" anchor="ctr"/>
          <a:lstStyle/>
          <a:p>
            <a:pPr algn="r">
              <a:lnSpc>
                <a:spcPct val="120000"/>
              </a:lnSpc>
            </a:pPr>
            <a:r>
              <a:rPr lang="en-US" sz="1050" dirty="0">
                <a:solidFill>
                  <a:srgbClr val="78828A"/>
                </a:solidFill>
                <a:latin typeface="Liter" panose="02000503030000020004" pitchFamily="34" charset="0"/>
                <a:ea typeface="Liter" panose="02000503030000020004" pitchFamily="34" charset="-122"/>
                <a:cs typeface="Liter" panose="02000503030000020004" pitchFamily="34" charset="-120"/>
              </a:rPr>
              <a:t>Target Margin</a:t>
            </a:r>
            <a:endParaRPr lang="en-US" sz="1600" dirty="0"/>
          </a:p>
        </p:txBody>
      </p:sp>
      <p:sp>
        <p:nvSpPr>
          <p:cNvPr id="56" name="Text 53"/>
          <p:cNvSpPr/>
          <p:nvPr/>
        </p:nvSpPr>
        <p:spPr>
          <a:xfrm>
            <a:off x="10724331" y="5931694"/>
            <a:ext cx="923925" cy="266700"/>
          </a:xfrm>
          <a:prstGeom prst="rect">
            <a:avLst/>
          </a:prstGeom>
          <a:noFill/>
        </p:spPr>
        <p:txBody>
          <a:bodyPr wrap="square" lIns="0" tIns="0" rIns="0" bIns="0" rtlCol="0" anchor="ctr"/>
          <a:lstStyle/>
          <a:p>
            <a:pPr algn="r">
              <a:lnSpc>
                <a:spcPct val="120000"/>
              </a:lnSpc>
            </a:pPr>
            <a:r>
              <a:rPr lang="en-US" sz="1500" b="1" dirty="0">
                <a:solidFill>
                  <a:srgbClr val="E0E2E5"/>
                </a:solidFill>
                <a:latin typeface="Quattrocento Sans" panose="020B0502050000020003" pitchFamily="34" charset="0"/>
                <a:ea typeface="Quattrocento Sans" panose="020B0502050000020003" pitchFamily="34" charset="-122"/>
                <a:cs typeface="Quattrocento Sans" panose="020B0502050000020003" pitchFamily="34" charset="-120"/>
              </a:rPr>
              <a:t>75%</a:t>
            </a:r>
            <a:endParaRPr lang="en-US" sz="1600" dirty="0"/>
          </a:p>
        </p:txBody>
      </p:sp>
      <p:sp>
        <p:nvSpPr>
          <p:cNvPr id="57" name="Shape 54"/>
          <p:cNvSpPr/>
          <p:nvPr/>
        </p:nvSpPr>
        <p:spPr>
          <a:xfrm>
            <a:off x="385763" y="6005513"/>
            <a:ext cx="11420475" cy="466725"/>
          </a:xfrm>
          <a:custGeom>
            <a:avLst/>
            <a:gdLst/>
            <a:ahLst/>
            <a:cxnLst/>
            <a:rect l="l" t="t" r="r" b="b"/>
            <a:pathLst>
              <a:path w="11420475" h="466725">
                <a:moveTo>
                  <a:pt x="76202" y="0"/>
                </a:moveTo>
                <a:lnTo>
                  <a:pt x="11344273" y="0"/>
                </a:lnTo>
                <a:cubicBezTo>
                  <a:pt x="11386358" y="0"/>
                  <a:pt x="11420475" y="34117"/>
                  <a:pt x="11420475" y="76202"/>
                </a:cubicBezTo>
                <a:lnTo>
                  <a:pt x="11420475" y="390523"/>
                </a:lnTo>
                <a:cubicBezTo>
                  <a:pt x="11420475" y="432608"/>
                  <a:pt x="11386358" y="466725"/>
                  <a:pt x="11344273" y="466725"/>
                </a:cubicBezTo>
                <a:lnTo>
                  <a:pt x="76202" y="466725"/>
                </a:lnTo>
                <a:cubicBezTo>
                  <a:pt x="34117" y="466725"/>
                  <a:pt x="0" y="432608"/>
                  <a:pt x="0" y="390523"/>
                </a:cubicBezTo>
                <a:lnTo>
                  <a:pt x="0" y="76202"/>
                </a:lnTo>
                <a:cubicBezTo>
                  <a:pt x="0" y="34145"/>
                  <a:pt x="34145" y="0"/>
                  <a:pt x="76202" y="0"/>
                </a:cubicBezTo>
                <a:close/>
              </a:path>
            </a:pathLst>
          </a:custGeom>
          <a:solidFill>
            <a:srgbClr val="B89A6A">
              <a:alpha val="10196"/>
            </a:srgbClr>
          </a:solidFill>
          <a:ln w="12700">
            <a:solidFill>
              <a:srgbClr val="B89A6A">
                <a:alpha val="30196"/>
              </a:srgbClr>
            </a:solidFill>
            <a:prstDash val="solid"/>
          </a:ln>
        </p:spPr>
      </p:sp>
      <p:sp>
        <p:nvSpPr>
          <p:cNvPr id="58" name="Shape 55"/>
          <p:cNvSpPr/>
          <p:nvPr/>
        </p:nvSpPr>
        <p:spPr>
          <a:xfrm>
            <a:off x="577453" y="6153150"/>
            <a:ext cx="150019" cy="171450"/>
          </a:xfrm>
          <a:custGeom>
            <a:avLst/>
            <a:gdLst/>
            <a:ahLst/>
            <a:cxnLst/>
            <a:rect l="l" t="t" r="r" b="b"/>
            <a:pathLst>
              <a:path w="150019" h="171450">
                <a:moveTo>
                  <a:pt x="10716" y="0"/>
                </a:moveTo>
                <a:cubicBezTo>
                  <a:pt x="16643" y="0"/>
                  <a:pt x="21431" y="4789"/>
                  <a:pt x="21431" y="10716"/>
                </a:cubicBezTo>
                <a:lnTo>
                  <a:pt x="21431" y="16073"/>
                </a:lnTo>
                <a:lnTo>
                  <a:pt x="44537" y="10314"/>
                </a:lnTo>
                <a:cubicBezTo>
                  <a:pt x="57295" y="7133"/>
                  <a:pt x="70757" y="8606"/>
                  <a:pt x="82544" y="14500"/>
                </a:cubicBezTo>
                <a:cubicBezTo>
                  <a:pt x="98048" y="22268"/>
                  <a:pt x="116298" y="22268"/>
                  <a:pt x="131802" y="14500"/>
                </a:cubicBezTo>
                <a:lnTo>
                  <a:pt x="135017" y="12892"/>
                </a:lnTo>
                <a:cubicBezTo>
                  <a:pt x="141915" y="9410"/>
                  <a:pt x="150019" y="14433"/>
                  <a:pt x="150019" y="22134"/>
                </a:cubicBezTo>
                <a:lnTo>
                  <a:pt x="150019" y="115796"/>
                </a:lnTo>
                <a:cubicBezTo>
                  <a:pt x="150019" y="120249"/>
                  <a:pt x="147239" y="124268"/>
                  <a:pt x="143054" y="125842"/>
                </a:cubicBezTo>
                <a:lnTo>
                  <a:pt x="131434" y="130195"/>
                </a:lnTo>
                <a:cubicBezTo>
                  <a:pt x="115963" y="135988"/>
                  <a:pt x="98751" y="135084"/>
                  <a:pt x="83984" y="127717"/>
                </a:cubicBezTo>
                <a:cubicBezTo>
                  <a:pt x="71292" y="121354"/>
                  <a:pt x="56726" y="119781"/>
                  <a:pt x="42963" y="123230"/>
                </a:cubicBezTo>
                <a:lnTo>
                  <a:pt x="21431" y="128588"/>
                </a:lnTo>
                <a:lnTo>
                  <a:pt x="21431" y="160734"/>
                </a:lnTo>
                <a:cubicBezTo>
                  <a:pt x="21431" y="166661"/>
                  <a:pt x="16643" y="171450"/>
                  <a:pt x="10716" y="171450"/>
                </a:cubicBezTo>
                <a:cubicBezTo>
                  <a:pt x="4789" y="171450"/>
                  <a:pt x="0" y="166661"/>
                  <a:pt x="0" y="160734"/>
                </a:cubicBezTo>
                <a:lnTo>
                  <a:pt x="0" y="10716"/>
                </a:lnTo>
                <a:cubicBezTo>
                  <a:pt x="0" y="4789"/>
                  <a:pt x="4789" y="0"/>
                  <a:pt x="10716" y="0"/>
                </a:cubicBezTo>
                <a:close/>
                <a:moveTo>
                  <a:pt x="21431" y="62653"/>
                </a:moveTo>
                <a:lnTo>
                  <a:pt x="42863" y="57998"/>
                </a:lnTo>
                <a:lnTo>
                  <a:pt x="42863" y="79932"/>
                </a:lnTo>
                <a:lnTo>
                  <a:pt x="21431" y="84586"/>
                </a:lnTo>
                <a:lnTo>
                  <a:pt x="21431" y="106520"/>
                </a:lnTo>
                <a:lnTo>
                  <a:pt x="37773" y="102435"/>
                </a:lnTo>
                <a:cubicBezTo>
                  <a:pt x="39480" y="101999"/>
                  <a:pt x="41155" y="101631"/>
                  <a:pt x="42863" y="101330"/>
                </a:cubicBezTo>
                <a:lnTo>
                  <a:pt x="42863" y="79932"/>
                </a:lnTo>
                <a:lnTo>
                  <a:pt x="55889" y="77119"/>
                </a:lnTo>
                <a:cubicBezTo>
                  <a:pt x="58668" y="76516"/>
                  <a:pt x="61481" y="76282"/>
                  <a:pt x="64294" y="76416"/>
                </a:cubicBezTo>
                <a:lnTo>
                  <a:pt x="64294" y="54985"/>
                </a:lnTo>
                <a:cubicBezTo>
                  <a:pt x="68848" y="55118"/>
                  <a:pt x="73402" y="55855"/>
                  <a:pt x="77822" y="57128"/>
                </a:cubicBezTo>
                <a:lnTo>
                  <a:pt x="85725" y="59438"/>
                </a:lnTo>
                <a:lnTo>
                  <a:pt x="85725" y="81774"/>
                </a:lnTo>
                <a:lnTo>
                  <a:pt x="71761" y="77655"/>
                </a:lnTo>
                <a:cubicBezTo>
                  <a:pt x="69317" y="76952"/>
                  <a:pt x="66805" y="76516"/>
                  <a:pt x="64294" y="76382"/>
                </a:cubicBezTo>
                <a:lnTo>
                  <a:pt x="64294" y="100292"/>
                </a:lnTo>
                <a:cubicBezTo>
                  <a:pt x="71594" y="100928"/>
                  <a:pt x="78793" y="102535"/>
                  <a:pt x="85725" y="105114"/>
                </a:cubicBezTo>
                <a:lnTo>
                  <a:pt x="85725" y="81740"/>
                </a:lnTo>
                <a:lnTo>
                  <a:pt x="93326" y="83984"/>
                </a:lnTo>
                <a:cubicBezTo>
                  <a:pt x="97847" y="85323"/>
                  <a:pt x="102468" y="86127"/>
                  <a:pt x="107156" y="86462"/>
                </a:cubicBezTo>
                <a:lnTo>
                  <a:pt x="107156" y="64963"/>
                </a:lnTo>
                <a:cubicBezTo>
                  <a:pt x="104544" y="64696"/>
                  <a:pt x="101932" y="64193"/>
                  <a:pt x="99387" y="63457"/>
                </a:cubicBezTo>
                <a:lnTo>
                  <a:pt x="85725" y="59438"/>
                </a:lnTo>
                <a:lnTo>
                  <a:pt x="85725" y="38677"/>
                </a:lnTo>
                <a:cubicBezTo>
                  <a:pt x="81372" y="37404"/>
                  <a:pt x="77086" y="35730"/>
                  <a:pt x="72933" y="33654"/>
                </a:cubicBezTo>
                <a:cubicBezTo>
                  <a:pt x="70187" y="32281"/>
                  <a:pt x="67274" y="31310"/>
                  <a:pt x="64294" y="30707"/>
                </a:cubicBezTo>
                <a:lnTo>
                  <a:pt x="64294" y="54951"/>
                </a:lnTo>
                <a:cubicBezTo>
                  <a:pt x="59941" y="54817"/>
                  <a:pt x="55587" y="55219"/>
                  <a:pt x="51335" y="56157"/>
                </a:cubicBezTo>
                <a:lnTo>
                  <a:pt x="42863" y="57998"/>
                </a:lnTo>
                <a:lnTo>
                  <a:pt x="42863" y="32817"/>
                </a:lnTo>
                <a:lnTo>
                  <a:pt x="21431" y="38174"/>
                </a:lnTo>
                <a:lnTo>
                  <a:pt x="21431" y="62653"/>
                </a:lnTo>
                <a:close/>
                <a:moveTo>
                  <a:pt x="107156" y="112414"/>
                </a:moveTo>
                <a:cubicBezTo>
                  <a:pt x="112782" y="112916"/>
                  <a:pt x="118508" y="112179"/>
                  <a:pt x="123899" y="110137"/>
                </a:cubicBezTo>
                <a:lnTo>
                  <a:pt x="128588" y="108395"/>
                </a:lnTo>
                <a:lnTo>
                  <a:pt x="128588" y="84386"/>
                </a:lnTo>
                <a:lnTo>
                  <a:pt x="125942" y="84988"/>
                </a:lnTo>
                <a:cubicBezTo>
                  <a:pt x="119781" y="86428"/>
                  <a:pt x="113452" y="86897"/>
                  <a:pt x="107156" y="86495"/>
                </a:cubicBezTo>
                <a:lnTo>
                  <a:pt x="107156" y="112414"/>
                </a:lnTo>
                <a:close/>
                <a:moveTo>
                  <a:pt x="128588" y="62385"/>
                </a:moveTo>
                <a:lnTo>
                  <a:pt x="128588" y="38677"/>
                </a:lnTo>
                <a:cubicBezTo>
                  <a:pt x="121589" y="40719"/>
                  <a:pt x="114389" y="41724"/>
                  <a:pt x="107156" y="41724"/>
                </a:cubicBezTo>
                <a:lnTo>
                  <a:pt x="107156" y="64963"/>
                </a:lnTo>
                <a:cubicBezTo>
                  <a:pt x="111811" y="65432"/>
                  <a:pt x="116532" y="65131"/>
                  <a:pt x="121120" y="64093"/>
                </a:cubicBezTo>
                <a:lnTo>
                  <a:pt x="128588" y="62352"/>
                </a:lnTo>
                <a:close/>
              </a:path>
            </a:pathLst>
          </a:custGeom>
          <a:solidFill>
            <a:srgbClr val="B89A6A"/>
          </a:solidFill>
        </p:spPr>
      </p:sp>
      <p:sp>
        <p:nvSpPr>
          <p:cNvPr id="59" name="Text 56"/>
          <p:cNvSpPr/>
          <p:nvPr/>
        </p:nvSpPr>
        <p:spPr>
          <a:xfrm>
            <a:off x="871538" y="6124575"/>
            <a:ext cx="5229225" cy="228600"/>
          </a:xfrm>
          <a:prstGeom prst="rect">
            <a:avLst/>
          </a:prstGeom>
          <a:noFill/>
        </p:spPr>
        <p:txBody>
          <a:bodyPr wrap="square" lIns="0" tIns="0" rIns="0" bIns="0" rtlCol="0" anchor="ctr"/>
          <a:lstStyle/>
          <a:p>
            <a:pPr>
              <a:lnSpc>
                <a:spcPct val="130000"/>
              </a:lnSpc>
            </a:pPr>
            <a:r>
              <a:rPr lang="en-US" sz="1200" b="1" dirty="0">
                <a:solidFill>
                  <a:srgbClr val="E0E2E5"/>
                </a:solidFill>
                <a:latin typeface="Liter" panose="02000503030000020004" pitchFamily="34" charset="0"/>
                <a:ea typeface="Liter" panose="02000503030000020004" pitchFamily="34" charset="-122"/>
                <a:cs typeface="Liter" panose="02000503030000020004" pitchFamily="34" charset="-120"/>
              </a:rPr>
              <a:t>Q2 Success Metrics:</a:t>
            </a: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 DSO &lt; 55 days | Gross Margin &gt; 74% | Cash flow positive</a:t>
            </a:r>
            <a:endParaRPr lang="en-US" sz="1600" dirty="0"/>
          </a:p>
        </p:txBody>
      </p:sp>
      <p:sp>
        <p:nvSpPr>
          <p:cNvPr id="60" name="Text 57"/>
          <p:cNvSpPr/>
          <p:nvPr/>
        </p:nvSpPr>
        <p:spPr>
          <a:xfrm>
            <a:off x="9769525" y="6124575"/>
            <a:ext cx="1952625" cy="228600"/>
          </a:xfrm>
          <a:prstGeom prst="rect">
            <a:avLst/>
          </a:prstGeom>
          <a:noFill/>
        </p:spPr>
        <p:txBody>
          <a:bodyPr wrap="square" lIns="0" tIns="0" rIns="0" bIns="0" rtlCol="0" anchor="ctr"/>
          <a:lstStyle/>
          <a:p>
            <a:pPr>
              <a:lnSpc>
                <a:spcPct val="130000"/>
              </a:lnSpc>
            </a:pPr>
            <a:r>
              <a:rPr lang="en-US" sz="1200" dirty="0">
                <a:solidFill>
                  <a:srgbClr val="78828A"/>
                </a:solidFill>
                <a:latin typeface="Liter" panose="02000503030000020004" pitchFamily="34" charset="0"/>
                <a:ea typeface="Liter" panose="02000503030000020004" pitchFamily="34" charset="-122"/>
                <a:cs typeface="Liter" panose="02000503030000020004" pitchFamily="34" charset="-120"/>
              </a:rPr>
              <a:t>Next Review: June 30, 2026</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6129</Words>
  <Application>WPS 演示</Application>
  <PresentationFormat>On-screen Show (16:9)</PresentationFormat>
  <Paragraphs>467</Paragraphs>
  <Slides>10</Slides>
  <Notes>10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10</vt:i4>
      </vt:variant>
    </vt:vector>
  </HeadingPairs>
  <TitlesOfParts>
    <vt:vector size="31" baseType="lpstr">
      <vt:lpstr>Arial</vt:lpstr>
      <vt:lpstr>宋体</vt:lpstr>
      <vt:lpstr>Wingdings</vt:lpstr>
      <vt:lpstr>Quattrocento Sans</vt:lpstr>
      <vt:lpstr>Quattrocento Sans</vt:lpstr>
      <vt:lpstr>Quattrocento Sans</vt:lpstr>
      <vt:lpstr>Liter</vt:lpstr>
      <vt:lpstr>Liter</vt:lpstr>
      <vt:lpstr>Liter</vt:lpstr>
      <vt:lpstr>Calibri</vt:lpstr>
      <vt:lpstr>Helvetica Neue</vt:lpstr>
      <vt:lpstr>微软雅黑</vt:lpstr>
      <vt:lpstr>汉仪旗黑</vt:lpstr>
      <vt:lpstr>宋体</vt:lpstr>
      <vt:lpstr>Arial Unicode MS</vt:lpstr>
      <vt:lpstr>等线</vt:lpstr>
      <vt:lpstr>汉仪中等线KW</vt:lpstr>
      <vt:lpstr>汉仪书宋二KW</vt:lpstr>
      <vt:lpstr>Apple Color Emoji</vt:lpstr>
      <vt:lpstr>儷宋 Pro</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AxiomShift Q1 Financial &amp; Operations Review</dc:title>
  <dc:creator>Kimi</dc:creator>
  <dc:subject>AxiomShift Q1 Financial &amp; Operations Review</dc:subject>
  <cp:lastModifiedBy>王研</cp:lastModifiedBy>
  <cp:revision>3</cp:revision>
  <dcterms:created xsi:type="dcterms:W3CDTF">2026-03-24T08:31:27Z</dcterms:created>
  <dcterms:modified xsi:type="dcterms:W3CDTF">2026-03-24T08:31:27Z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{"Label":"AxiomShift Q1 Financial &amp; Operations Review","ContentProducer":"001191110108MACG2KBH8F10000","ProduceID":"19d149e9-d072-86a9-8000-0000bcb60961","ReservedCode1":"","ContentPropagator":"001191110108MACG2KBH8F20000","PropagateID":"19d149e9-d072-86a9-8000-0000bcb60961","ReservedCode2":""}</vt:lpwstr>
  </property>
  <property fmtid="{D5CDD505-2E9C-101B-9397-08002B2CF9AE}" pid="3" name="KSOProductBuildVer">
    <vt:lpwstr>2052-12.1.25205.25205</vt:lpwstr>
  </property>
  <property fmtid="{D5CDD505-2E9C-101B-9397-08002B2CF9AE}" pid="4" name="ICV">
    <vt:lpwstr>F4BEB21232E07CE4B34BC269DEA8A861_43</vt:lpwstr>
  </property>
</Properties>
</file>