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Quattrocento Sans" panose="020B0502050000020003" pitchFamily="34" charset="0"/>
      <p:regular r:id="rId17"/>
    </p:embeddedFont>
    <p:embeddedFont>
      <p:font typeface="Quattrocento Sans" panose="020B0502050000020003" pitchFamily="34" charset="-122"/>
      <p:regular r:id="rId18"/>
    </p:embeddedFont>
    <p:embeddedFont>
      <p:font typeface="Quattrocento Sans" panose="020B0502050000020003" pitchFamily="34" charset="-120"/>
      <p:regular r:id="rId19"/>
    </p:embeddedFont>
    <p:embeddedFont>
      <p:font typeface="Liter" panose="02000503030000020004" pitchFamily="34" charset="0"/>
      <p:regular r:id="rId20"/>
    </p:embeddedFont>
    <p:embeddedFont>
      <p:font typeface="Liter" panose="02000503030000020004" pitchFamily="34" charset="-122"/>
      <p:regular r:id="rId21"/>
    </p:embeddedFont>
    <p:embeddedFont>
      <p:font typeface="Liter" panose="02000503030000020004" pitchFamily="34" charset="-12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67628" y="3810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Internal Document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667628" y="5715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2026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5800" y="2319338"/>
            <a:ext cx="113538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AxiomShift Q1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People Operations Review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3690937"/>
            <a:ext cx="11239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Organization, Talent, and Workforce Planning Update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04850" y="4452938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5CB8A6"/>
          </a:solidFill>
        </p:spPr>
      </p:sp>
      <p:sp>
        <p:nvSpPr>
          <p:cNvPr id="8" name="Text 5"/>
          <p:cNvSpPr/>
          <p:nvPr/>
        </p:nvSpPr>
        <p:spPr>
          <a:xfrm>
            <a:off x="952500" y="4452938"/>
            <a:ext cx="10944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Presented by:</a:t>
            </a:r>
            <a:r>
              <a:rPr lang="en-US" sz="135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HR Team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2500" y="4795838"/>
            <a:ext cx="10934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Departmental Submission Draft | For CFO Review &amp; Consolidation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60531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1" name="Shape 8"/>
          <p:cNvSpPr/>
          <p:nvPr/>
        </p:nvSpPr>
        <p:spPr>
          <a:xfrm>
            <a:off x="381000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12" name="Shape 9"/>
          <p:cNvSpPr/>
          <p:nvPr/>
        </p:nvSpPr>
        <p:spPr>
          <a:xfrm>
            <a:off x="647700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13" name="Shape 10"/>
          <p:cNvSpPr/>
          <p:nvPr/>
        </p:nvSpPr>
        <p:spPr>
          <a:xfrm>
            <a:off x="914400" y="6324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4" name="Text 11"/>
          <p:cNvSpPr/>
          <p:nvPr/>
        </p:nvSpPr>
        <p:spPr>
          <a:xfrm>
            <a:off x="9951690" y="6286500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Confidential — Internal Use Only</a:t>
            </a:r>
            <a:endParaRPr lang="en-US" sz="1600" dirty="0"/>
          </a:p>
        </p:txBody>
      </p:sp>
      <p:pic>
        <p:nvPicPr>
          <p:cNvPr id="15" name="图片 14" descr="7532cc92e4dc06dfb0e813c05f1c876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81000"/>
            <a:ext cx="2658745" cy="13925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711" y="355711"/>
            <a:ext cx="3459291" cy="355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HR 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711" y="782565"/>
            <a:ext cx="3379256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2026 People Operations Overview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264164" y="409068"/>
            <a:ext cx="569138" cy="569138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73497" y="1244989"/>
            <a:ext cx="5611344" cy="2578906"/>
          </a:xfrm>
          <a:custGeom>
            <a:avLst/>
            <a:gdLst/>
            <a:ahLst/>
            <a:cxnLst/>
            <a:rect l="l" t="t" r="r" b="b"/>
            <a:pathLst>
              <a:path w="5611344" h="2578906">
                <a:moveTo>
                  <a:pt x="35571" y="0"/>
                </a:moveTo>
                <a:lnTo>
                  <a:pt x="5540192" y="0"/>
                </a:lnTo>
                <a:cubicBezTo>
                  <a:pt x="5579488" y="0"/>
                  <a:pt x="5611344" y="31856"/>
                  <a:pt x="5611344" y="71152"/>
                </a:cubicBezTo>
                <a:lnTo>
                  <a:pt x="5611344" y="2507754"/>
                </a:lnTo>
                <a:cubicBezTo>
                  <a:pt x="5611344" y="2547050"/>
                  <a:pt x="5579488" y="2578906"/>
                  <a:pt x="5540192" y="2578906"/>
                </a:cubicBezTo>
                <a:lnTo>
                  <a:pt x="35571" y="2578906"/>
                </a:lnTo>
                <a:cubicBezTo>
                  <a:pt x="15926" y="2578906"/>
                  <a:pt x="0" y="2562980"/>
                  <a:pt x="0" y="2543335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" name="Shape 3"/>
          <p:cNvSpPr/>
          <p:nvPr/>
        </p:nvSpPr>
        <p:spPr>
          <a:xfrm>
            <a:off x="373497" y="1244989"/>
            <a:ext cx="35571" cy="2578906"/>
          </a:xfrm>
          <a:custGeom>
            <a:avLst/>
            <a:gdLst/>
            <a:ahLst/>
            <a:cxnLst/>
            <a:rect l="l" t="t" r="r" b="b"/>
            <a:pathLst>
              <a:path w="35571" h="2578906">
                <a:moveTo>
                  <a:pt x="35571" y="0"/>
                </a:moveTo>
                <a:lnTo>
                  <a:pt x="35571" y="0"/>
                </a:lnTo>
                <a:lnTo>
                  <a:pt x="35571" y="2578906"/>
                </a:lnTo>
                <a:lnTo>
                  <a:pt x="35571" y="2578906"/>
                </a:lnTo>
                <a:cubicBezTo>
                  <a:pt x="15926" y="2578906"/>
                  <a:pt x="0" y="2562980"/>
                  <a:pt x="0" y="2543335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7" name="Shape 4"/>
          <p:cNvSpPr/>
          <p:nvPr/>
        </p:nvSpPr>
        <p:spPr>
          <a:xfrm>
            <a:off x="604709" y="1476201"/>
            <a:ext cx="266783" cy="213427"/>
          </a:xfrm>
          <a:custGeom>
            <a:avLst/>
            <a:gdLst/>
            <a:ahLst/>
            <a:cxnLst/>
            <a:rect l="l" t="t" r="r" b="b"/>
            <a:pathLst>
              <a:path w="266783" h="213427">
                <a:moveTo>
                  <a:pt x="133392" y="6670"/>
                </a:moveTo>
                <a:cubicBezTo>
                  <a:pt x="157318" y="6670"/>
                  <a:pt x="176744" y="26095"/>
                  <a:pt x="176744" y="50022"/>
                </a:cubicBezTo>
                <a:cubicBezTo>
                  <a:pt x="176744" y="73949"/>
                  <a:pt x="157318" y="93374"/>
                  <a:pt x="133392" y="93374"/>
                </a:cubicBezTo>
                <a:cubicBezTo>
                  <a:pt x="109465" y="93374"/>
                  <a:pt x="90039" y="73949"/>
                  <a:pt x="90039" y="50022"/>
                </a:cubicBezTo>
                <a:cubicBezTo>
                  <a:pt x="90039" y="26095"/>
                  <a:pt x="109465" y="6670"/>
                  <a:pt x="133392" y="6670"/>
                </a:cubicBezTo>
                <a:close/>
                <a:moveTo>
                  <a:pt x="40018" y="36683"/>
                </a:moveTo>
                <a:cubicBezTo>
                  <a:pt x="56582" y="36683"/>
                  <a:pt x="70031" y="50131"/>
                  <a:pt x="70031" y="66696"/>
                </a:cubicBezTo>
                <a:cubicBezTo>
                  <a:pt x="70031" y="83261"/>
                  <a:pt x="56582" y="96709"/>
                  <a:pt x="40018" y="96709"/>
                </a:cubicBezTo>
                <a:cubicBezTo>
                  <a:pt x="23453" y="96709"/>
                  <a:pt x="10004" y="83261"/>
                  <a:pt x="10004" y="66696"/>
                </a:cubicBezTo>
                <a:cubicBezTo>
                  <a:pt x="10004" y="50131"/>
                  <a:pt x="23453" y="36683"/>
                  <a:pt x="40018" y="36683"/>
                </a:cubicBezTo>
                <a:close/>
                <a:moveTo>
                  <a:pt x="0" y="173409"/>
                </a:moveTo>
                <a:cubicBezTo>
                  <a:pt x="0" y="143938"/>
                  <a:pt x="23885" y="120053"/>
                  <a:pt x="53357" y="120053"/>
                </a:cubicBezTo>
                <a:cubicBezTo>
                  <a:pt x="58692" y="120053"/>
                  <a:pt x="63861" y="120845"/>
                  <a:pt x="68738" y="122304"/>
                </a:cubicBezTo>
                <a:cubicBezTo>
                  <a:pt x="55024" y="137644"/>
                  <a:pt x="46687" y="157902"/>
                  <a:pt x="46687" y="180079"/>
                </a:cubicBezTo>
                <a:lnTo>
                  <a:pt x="46687" y="186748"/>
                </a:lnTo>
                <a:cubicBezTo>
                  <a:pt x="46687" y="191500"/>
                  <a:pt x="47688" y="196002"/>
                  <a:pt x="49480" y="200088"/>
                </a:cubicBezTo>
                <a:lnTo>
                  <a:pt x="13339" y="200088"/>
                </a:lnTo>
                <a:cubicBezTo>
                  <a:pt x="5961" y="200088"/>
                  <a:pt x="0" y="194127"/>
                  <a:pt x="0" y="186748"/>
                </a:cubicBezTo>
                <a:lnTo>
                  <a:pt x="0" y="173409"/>
                </a:lnTo>
                <a:close/>
                <a:moveTo>
                  <a:pt x="217303" y="200088"/>
                </a:moveTo>
                <a:cubicBezTo>
                  <a:pt x="219096" y="196002"/>
                  <a:pt x="220096" y="191500"/>
                  <a:pt x="220096" y="186748"/>
                </a:cubicBezTo>
                <a:lnTo>
                  <a:pt x="220096" y="180079"/>
                </a:lnTo>
                <a:cubicBezTo>
                  <a:pt x="220096" y="157902"/>
                  <a:pt x="211759" y="137644"/>
                  <a:pt x="198045" y="122304"/>
                </a:cubicBezTo>
                <a:cubicBezTo>
                  <a:pt x="202922" y="120845"/>
                  <a:pt x="208091" y="120053"/>
                  <a:pt x="213427" y="120053"/>
                </a:cubicBezTo>
                <a:cubicBezTo>
                  <a:pt x="242898" y="120053"/>
                  <a:pt x="266783" y="143938"/>
                  <a:pt x="266783" y="173409"/>
                </a:cubicBezTo>
                <a:lnTo>
                  <a:pt x="266783" y="186748"/>
                </a:lnTo>
                <a:cubicBezTo>
                  <a:pt x="266783" y="194127"/>
                  <a:pt x="260822" y="200088"/>
                  <a:pt x="253444" y="200088"/>
                </a:cubicBezTo>
                <a:lnTo>
                  <a:pt x="217303" y="200088"/>
                </a:lnTo>
                <a:close/>
                <a:moveTo>
                  <a:pt x="196753" y="66696"/>
                </a:moveTo>
                <a:cubicBezTo>
                  <a:pt x="196753" y="50131"/>
                  <a:pt x="210201" y="36683"/>
                  <a:pt x="226766" y="36683"/>
                </a:cubicBezTo>
                <a:cubicBezTo>
                  <a:pt x="243331" y="36683"/>
                  <a:pt x="256779" y="50131"/>
                  <a:pt x="256779" y="66696"/>
                </a:cubicBezTo>
                <a:cubicBezTo>
                  <a:pt x="256779" y="83261"/>
                  <a:pt x="243331" y="96709"/>
                  <a:pt x="226766" y="96709"/>
                </a:cubicBezTo>
                <a:cubicBezTo>
                  <a:pt x="210201" y="96709"/>
                  <a:pt x="196753" y="83261"/>
                  <a:pt x="196753" y="66696"/>
                </a:cubicBezTo>
                <a:close/>
                <a:moveTo>
                  <a:pt x="66696" y="180079"/>
                </a:moveTo>
                <a:cubicBezTo>
                  <a:pt x="66696" y="143229"/>
                  <a:pt x="96542" y="113383"/>
                  <a:pt x="133392" y="113383"/>
                </a:cubicBezTo>
                <a:cubicBezTo>
                  <a:pt x="170241" y="113383"/>
                  <a:pt x="200088" y="143229"/>
                  <a:pt x="200088" y="180079"/>
                </a:cubicBezTo>
                <a:lnTo>
                  <a:pt x="200088" y="186748"/>
                </a:lnTo>
                <a:cubicBezTo>
                  <a:pt x="200088" y="194127"/>
                  <a:pt x="194127" y="200088"/>
                  <a:pt x="186748" y="200088"/>
                </a:cubicBezTo>
                <a:lnTo>
                  <a:pt x="80035" y="200088"/>
                </a:lnTo>
                <a:cubicBezTo>
                  <a:pt x="72657" y="200088"/>
                  <a:pt x="66696" y="194127"/>
                  <a:pt x="66696" y="186748"/>
                </a:cubicBezTo>
                <a:lnTo>
                  <a:pt x="66696" y="180079"/>
                </a:lnTo>
                <a:close/>
              </a:path>
            </a:pathLst>
          </a:custGeom>
          <a:solidFill>
            <a:srgbClr val="1E3A5F"/>
          </a:solidFill>
        </p:spPr>
      </p:sp>
      <p:sp>
        <p:nvSpPr>
          <p:cNvPr id="8" name="Text 5"/>
          <p:cNvSpPr/>
          <p:nvPr/>
        </p:nvSpPr>
        <p:spPr>
          <a:xfrm>
            <a:off x="978206" y="1458416"/>
            <a:ext cx="1894162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Organizational Stability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4709" y="1849698"/>
            <a:ext cx="5237847" cy="9248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demonstrated stable organizational structure with </a:t>
            </a:r>
            <a:r>
              <a:rPr lang="en-US" sz="11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45 total employees</a:t>
            </a: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across all functions. Leadership team remains intact with no executive departures. Reporting lines have been clarified following the Product-Engineering alignment initiative completed in January.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4709" y="2916832"/>
            <a:ext cx="5237847" cy="693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Departmental headcount distribution remains aligned with FY26 budget targets. Engineering (40%), Sales (27%), and Product (16%) continue as the three largest functional areas.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8970" y="1244989"/>
            <a:ext cx="5611344" cy="2578906"/>
          </a:xfrm>
          <a:custGeom>
            <a:avLst/>
            <a:gdLst/>
            <a:ahLst/>
            <a:cxnLst/>
            <a:rect l="l" t="t" r="r" b="b"/>
            <a:pathLst>
              <a:path w="5611344" h="2578906">
                <a:moveTo>
                  <a:pt x="35571" y="0"/>
                </a:moveTo>
                <a:lnTo>
                  <a:pt x="5540192" y="0"/>
                </a:lnTo>
                <a:cubicBezTo>
                  <a:pt x="5579488" y="0"/>
                  <a:pt x="5611344" y="31856"/>
                  <a:pt x="5611344" y="71152"/>
                </a:cubicBezTo>
                <a:lnTo>
                  <a:pt x="5611344" y="2507754"/>
                </a:lnTo>
                <a:cubicBezTo>
                  <a:pt x="5611344" y="2547050"/>
                  <a:pt x="5579488" y="2578906"/>
                  <a:pt x="5540192" y="2578906"/>
                </a:cubicBezTo>
                <a:lnTo>
                  <a:pt x="35571" y="2578906"/>
                </a:lnTo>
                <a:cubicBezTo>
                  <a:pt x="15926" y="2578906"/>
                  <a:pt x="0" y="2562980"/>
                  <a:pt x="0" y="2543335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12" name="Shape 9"/>
          <p:cNvSpPr/>
          <p:nvPr/>
        </p:nvSpPr>
        <p:spPr>
          <a:xfrm>
            <a:off x="6218970" y="1244989"/>
            <a:ext cx="35571" cy="2578906"/>
          </a:xfrm>
          <a:custGeom>
            <a:avLst/>
            <a:gdLst/>
            <a:ahLst/>
            <a:cxnLst/>
            <a:rect l="l" t="t" r="r" b="b"/>
            <a:pathLst>
              <a:path w="35571" h="2578906">
                <a:moveTo>
                  <a:pt x="35571" y="0"/>
                </a:moveTo>
                <a:lnTo>
                  <a:pt x="35571" y="0"/>
                </a:lnTo>
                <a:lnTo>
                  <a:pt x="35571" y="2578906"/>
                </a:lnTo>
                <a:lnTo>
                  <a:pt x="35571" y="2578906"/>
                </a:lnTo>
                <a:cubicBezTo>
                  <a:pt x="15926" y="2578906"/>
                  <a:pt x="0" y="2562980"/>
                  <a:pt x="0" y="2543335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3" name="Shape 10"/>
          <p:cNvSpPr/>
          <p:nvPr/>
        </p:nvSpPr>
        <p:spPr>
          <a:xfrm>
            <a:off x="6450183" y="1476201"/>
            <a:ext cx="266783" cy="213427"/>
          </a:xfrm>
          <a:custGeom>
            <a:avLst/>
            <a:gdLst/>
            <a:ahLst/>
            <a:cxnLst/>
            <a:rect l="l" t="t" r="r" b="b"/>
            <a:pathLst>
              <a:path w="266783" h="213427">
                <a:moveTo>
                  <a:pt x="56691" y="53357"/>
                </a:moveTo>
                <a:cubicBezTo>
                  <a:pt x="56691" y="25749"/>
                  <a:pt x="79106" y="3335"/>
                  <a:pt x="106713" y="3335"/>
                </a:cubicBezTo>
                <a:cubicBezTo>
                  <a:pt x="134321" y="3335"/>
                  <a:pt x="156735" y="25749"/>
                  <a:pt x="156735" y="53357"/>
                </a:cubicBezTo>
                <a:cubicBezTo>
                  <a:pt x="156735" y="80965"/>
                  <a:pt x="134321" y="103379"/>
                  <a:pt x="106713" y="103379"/>
                </a:cubicBezTo>
                <a:cubicBezTo>
                  <a:pt x="79106" y="103379"/>
                  <a:pt x="56691" y="80965"/>
                  <a:pt x="56691" y="53357"/>
                </a:cubicBezTo>
                <a:close/>
                <a:moveTo>
                  <a:pt x="20009" y="201046"/>
                </a:moveTo>
                <a:cubicBezTo>
                  <a:pt x="20009" y="159987"/>
                  <a:pt x="53273" y="126722"/>
                  <a:pt x="94333" y="126722"/>
                </a:cubicBezTo>
                <a:lnTo>
                  <a:pt x="119094" y="126722"/>
                </a:lnTo>
                <a:cubicBezTo>
                  <a:pt x="160153" y="126722"/>
                  <a:pt x="193418" y="159987"/>
                  <a:pt x="193418" y="201046"/>
                </a:cubicBezTo>
                <a:cubicBezTo>
                  <a:pt x="193418" y="207883"/>
                  <a:pt x="187874" y="213427"/>
                  <a:pt x="181038" y="213427"/>
                </a:cubicBezTo>
                <a:lnTo>
                  <a:pt x="32389" y="213427"/>
                </a:lnTo>
                <a:cubicBezTo>
                  <a:pt x="25553" y="213427"/>
                  <a:pt x="20009" y="207883"/>
                  <a:pt x="20009" y="201046"/>
                </a:cubicBezTo>
                <a:close/>
                <a:moveTo>
                  <a:pt x="226766" y="40018"/>
                </a:moveTo>
                <a:cubicBezTo>
                  <a:pt x="232310" y="40018"/>
                  <a:pt x="236770" y="44478"/>
                  <a:pt x="236770" y="50022"/>
                </a:cubicBezTo>
                <a:lnTo>
                  <a:pt x="236770" y="70031"/>
                </a:lnTo>
                <a:lnTo>
                  <a:pt x="256779" y="70031"/>
                </a:lnTo>
                <a:cubicBezTo>
                  <a:pt x="262323" y="70031"/>
                  <a:pt x="266783" y="74491"/>
                  <a:pt x="266783" y="80035"/>
                </a:cubicBezTo>
                <a:cubicBezTo>
                  <a:pt x="266783" y="85579"/>
                  <a:pt x="262323" y="90039"/>
                  <a:pt x="256779" y="90039"/>
                </a:cubicBezTo>
                <a:lnTo>
                  <a:pt x="236770" y="90039"/>
                </a:lnTo>
                <a:lnTo>
                  <a:pt x="236770" y="110048"/>
                </a:lnTo>
                <a:cubicBezTo>
                  <a:pt x="236770" y="115592"/>
                  <a:pt x="232310" y="120053"/>
                  <a:pt x="226766" y="120053"/>
                </a:cubicBezTo>
                <a:cubicBezTo>
                  <a:pt x="221222" y="120053"/>
                  <a:pt x="216761" y="115592"/>
                  <a:pt x="216761" y="110048"/>
                </a:cubicBezTo>
                <a:lnTo>
                  <a:pt x="216761" y="90039"/>
                </a:lnTo>
                <a:lnTo>
                  <a:pt x="196753" y="90039"/>
                </a:lnTo>
                <a:cubicBezTo>
                  <a:pt x="191209" y="90039"/>
                  <a:pt x="186748" y="85579"/>
                  <a:pt x="186748" y="80035"/>
                </a:cubicBezTo>
                <a:cubicBezTo>
                  <a:pt x="186748" y="74491"/>
                  <a:pt x="191209" y="70031"/>
                  <a:pt x="196753" y="70031"/>
                </a:cubicBezTo>
                <a:lnTo>
                  <a:pt x="216761" y="70031"/>
                </a:lnTo>
                <a:lnTo>
                  <a:pt x="216761" y="50022"/>
                </a:lnTo>
                <a:cubicBezTo>
                  <a:pt x="216761" y="44478"/>
                  <a:pt x="221222" y="40018"/>
                  <a:pt x="226766" y="40018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4" name="Text 11"/>
          <p:cNvSpPr/>
          <p:nvPr/>
        </p:nvSpPr>
        <p:spPr>
          <a:xfrm>
            <a:off x="6823679" y="1458416"/>
            <a:ext cx="1298346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Hiring Progress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50183" y="1849698"/>
            <a:ext cx="5237847" cy="693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hiring plan was </a:t>
            </a:r>
            <a:r>
              <a:rPr lang="en-US" sz="11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72% achieved</a:t>
            </a: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8 of 11 planned hires completed. Engineering filled 4 roles (Senior Backend, ML Engineer, DevOps, Frontend). Product added 1 PM. Sales closed 2 AE positions. HR/Recruiting hired 1 Talent Partner.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50183" y="2685619"/>
            <a:ext cx="5237847" cy="46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Three roles remain open: Principal Engineer, Enterprise AE, and Customer Success Manager. Average time-to-fill was 42 days, within target range.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3497" y="4037322"/>
            <a:ext cx="5611344" cy="2347694"/>
          </a:xfrm>
          <a:custGeom>
            <a:avLst/>
            <a:gdLst/>
            <a:ahLst/>
            <a:cxnLst/>
            <a:rect l="l" t="t" r="r" b="b"/>
            <a:pathLst>
              <a:path w="5611344" h="2347694">
                <a:moveTo>
                  <a:pt x="35571" y="0"/>
                </a:moveTo>
                <a:lnTo>
                  <a:pt x="5540208" y="0"/>
                </a:lnTo>
                <a:cubicBezTo>
                  <a:pt x="5579495" y="0"/>
                  <a:pt x="5611344" y="31848"/>
                  <a:pt x="5611344" y="71135"/>
                </a:cubicBezTo>
                <a:lnTo>
                  <a:pt x="5611344" y="2276559"/>
                </a:lnTo>
                <a:cubicBezTo>
                  <a:pt x="5611344" y="2315845"/>
                  <a:pt x="5579495" y="2347694"/>
                  <a:pt x="5540208" y="2347694"/>
                </a:cubicBezTo>
                <a:lnTo>
                  <a:pt x="35571" y="2347694"/>
                </a:lnTo>
                <a:cubicBezTo>
                  <a:pt x="15926" y="2347694"/>
                  <a:pt x="0" y="2331768"/>
                  <a:pt x="0" y="2312123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18" name="Shape 15"/>
          <p:cNvSpPr/>
          <p:nvPr/>
        </p:nvSpPr>
        <p:spPr>
          <a:xfrm>
            <a:off x="373497" y="4037322"/>
            <a:ext cx="35571" cy="2347694"/>
          </a:xfrm>
          <a:custGeom>
            <a:avLst/>
            <a:gdLst/>
            <a:ahLst/>
            <a:cxnLst/>
            <a:rect l="l" t="t" r="r" b="b"/>
            <a:pathLst>
              <a:path w="35571" h="2347694">
                <a:moveTo>
                  <a:pt x="35571" y="0"/>
                </a:moveTo>
                <a:lnTo>
                  <a:pt x="35571" y="0"/>
                </a:lnTo>
                <a:lnTo>
                  <a:pt x="35571" y="2347694"/>
                </a:lnTo>
                <a:lnTo>
                  <a:pt x="35571" y="2347694"/>
                </a:lnTo>
                <a:cubicBezTo>
                  <a:pt x="15926" y="2347694"/>
                  <a:pt x="0" y="2331768"/>
                  <a:pt x="0" y="2312123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19" name="Shape 16"/>
          <p:cNvSpPr/>
          <p:nvPr/>
        </p:nvSpPr>
        <p:spPr>
          <a:xfrm>
            <a:off x="631387" y="4268534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26678" y="26678"/>
                </a:moveTo>
                <a:cubicBezTo>
                  <a:pt x="26678" y="19300"/>
                  <a:pt x="20717" y="13339"/>
                  <a:pt x="13339" y="13339"/>
                </a:cubicBezTo>
                <a:cubicBezTo>
                  <a:pt x="5961" y="13339"/>
                  <a:pt x="0" y="19300"/>
                  <a:pt x="0" y="26678"/>
                </a:cubicBezTo>
                <a:lnTo>
                  <a:pt x="0" y="166740"/>
                </a:lnTo>
                <a:cubicBezTo>
                  <a:pt x="0" y="185164"/>
                  <a:pt x="14923" y="200088"/>
                  <a:pt x="33348" y="200088"/>
                </a:cubicBezTo>
                <a:lnTo>
                  <a:pt x="200088" y="200088"/>
                </a:lnTo>
                <a:cubicBezTo>
                  <a:pt x="207466" y="200088"/>
                  <a:pt x="213427" y="194127"/>
                  <a:pt x="213427" y="186748"/>
                </a:cubicBezTo>
                <a:cubicBezTo>
                  <a:pt x="213427" y="179370"/>
                  <a:pt x="207466" y="173409"/>
                  <a:pt x="200088" y="173409"/>
                </a:cubicBezTo>
                <a:lnTo>
                  <a:pt x="33348" y="173409"/>
                </a:lnTo>
                <a:cubicBezTo>
                  <a:pt x="29680" y="173409"/>
                  <a:pt x="26678" y="170408"/>
                  <a:pt x="26678" y="166740"/>
                </a:cubicBezTo>
                <a:lnTo>
                  <a:pt x="26678" y="26678"/>
                </a:lnTo>
                <a:close/>
                <a:moveTo>
                  <a:pt x="196169" y="62777"/>
                </a:moveTo>
                <a:cubicBezTo>
                  <a:pt x="201380" y="57567"/>
                  <a:pt x="201380" y="49105"/>
                  <a:pt x="196169" y="43894"/>
                </a:cubicBezTo>
                <a:cubicBezTo>
                  <a:pt x="190959" y="38684"/>
                  <a:pt x="182496" y="38684"/>
                  <a:pt x="177286" y="43894"/>
                </a:cubicBezTo>
                <a:lnTo>
                  <a:pt x="133392" y="87830"/>
                </a:lnTo>
                <a:lnTo>
                  <a:pt x="109465" y="63945"/>
                </a:lnTo>
                <a:cubicBezTo>
                  <a:pt x="104254" y="58734"/>
                  <a:pt x="95792" y="58734"/>
                  <a:pt x="90581" y="63945"/>
                </a:cubicBezTo>
                <a:lnTo>
                  <a:pt x="50564" y="103962"/>
                </a:lnTo>
                <a:cubicBezTo>
                  <a:pt x="45353" y="109173"/>
                  <a:pt x="45353" y="117635"/>
                  <a:pt x="50564" y="122845"/>
                </a:cubicBezTo>
                <a:cubicBezTo>
                  <a:pt x="55774" y="128056"/>
                  <a:pt x="64236" y="128056"/>
                  <a:pt x="69447" y="122845"/>
                </a:cubicBezTo>
                <a:lnTo>
                  <a:pt x="100044" y="92249"/>
                </a:lnTo>
                <a:lnTo>
                  <a:pt x="123971" y="116176"/>
                </a:lnTo>
                <a:cubicBezTo>
                  <a:pt x="129182" y="121386"/>
                  <a:pt x="137644" y="121386"/>
                  <a:pt x="142854" y="116176"/>
                </a:cubicBezTo>
                <a:lnTo>
                  <a:pt x="196211" y="62819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20" name="Text 17"/>
          <p:cNvSpPr/>
          <p:nvPr/>
        </p:nvSpPr>
        <p:spPr>
          <a:xfrm>
            <a:off x="978206" y="4250748"/>
            <a:ext cx="1298346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Talent Planning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4709" y="4642031"/>
            <a:ext cx="5237847" cy="693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performance review cycle completed with </a:t>
            </a:r>
            <a:r>
              <a:rPr lang="en-US" sz="11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92% participation</a:t>
            </a: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 Calibration sessions identified 8 high-potential employees for accelerated development tracks. Succession planning framework initiated for 3 critical leadership roles.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4709" y="5477952"/>
            <a:ext cx="5237847" cy="46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Skills gap analysis completed across Engineering and Product teams. Identified need for additional ML/AI expertise and senior product strategy capabilities.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8970" y="4037322"/>
            <a:ext cx="5611344" cy="2347694"/>
          </a:xfrm>
          <a:custGeom>
            <a:avLst/>
            <a:gdLst/>
            <a:ahLst/>
            <a:cxnLst/>
            <a:rect l="l" t="t" r="r" b="b"/>
            <a:pathLst>
              <a:path w="5611344" h="2347694">
                <a:moveTo>
                  <a:pt x="35571" y="0"/>
                </a:moveTo>
                <a:lnTo>
                  <a:pt x="5540208" y="0"/>
                </a:lnTo>
                <a:cubicBezTo>
                  <a:pt x="5579495" y="0"/>
                  <a:pt x="5611344" y="31848"/>
                  <a:pt x="5611344" y="71135"/>
                </a:cubicBezTo>
                <a:lnTo>
                  <a:pt x="5611344" y="2276559"/>
                </a:lnTo>
                <a:cubicBezTo>
                  <a:pt x="5611344" y="2315845"/>
                  <a:pt x="5579495" y="2347694"/>
                  <a:pt x="5540208" y="2347694"/>
                </a:cubicBezTo>
                <a:lnTo>
                  <a:pt x="35571" y="2347694"/>
                </a:lnTo>
                <a:cubicBezTo>
                  <a:pt x="15926" y="2347694"/>
                  <a:pt x="0" y="2331768"/>
                  <a:pt x="0" y="2312123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4" name="Shape 21"/>
          <p:cNvSpPr/>
          <p:nvPr/>
        </p:nvSpPr>
        <p:spPr>
          <a:xfrm>
            <a:off x="6218970" y="4037322"/>
            <a:ext cx="35571" cy="2347694"/>
          </a:xfrm>
          <a:custGeom>
            <a:avLst/>
            <a:gdLst/>
            <a:ahLst/>
            <a:cxnLst/>
            <a:rect l="l" t="t" r="r" b="b"/>
            <a:pathLst>
              <a:path w="35571" h="2347694">
                <a:moveTo>
                  <a:pt x="35571" y="0"/>
                </a:moveTo>
                <a:lnTo>
                  <a:pt x="35571" y="0"/>
                </a:lnTo>
                <a:lnTo>
                  <a:pt x="35571" y="2347694"/>
                </a:lnTo>
                <a:lnTo>
                  <a:pt x="35571" y="2347694"/>
                </a:lnTo>
                <a:cubicBezTo>
                  <a:pt x="15926" y="2347694"/>
                  <a:pt x="0" y="2331768"/>
                  <a:pt x="0" y="2312123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25" name="Shape 22"/>
          <p:cNvSpPr/>
          <p:nvPr/>
        </p:nvSpPr>
        <p:spPr>
          <a:xfrm>
            <a:off x="6476861" y="4268534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106713" y="0"/>
                </a:moveTo>
                <a:cubicBezTo>
                  <a:pt x="112841" y="0"/>
                  <a:pt x="118468" y="3376"/>
                  <a:pt x="121386" y="8754"/>
                </a:cubicBezTo>
                <a:lnTo>
                  <a:pt x="211426" y="175493"/>
                </a:lnTo>
                <a:cubicBezTo>
                  <a:pt x="214219" y="180662"/>
                  <a:pt x="214094" y="186915"/>
                  <a:pt x="211092" y="191959"/>
                </a:cubicBezTo>
                <a:cubicBezTo>
                  <a:pt x="208091" y="197003"/>
                  <a:pt x="202630" y="200088"/>
                  <a:pt x="196753" y="200088"/>
                </a:cubicBezTo>
                <a:lnTo>
                  <a:pt x="16674" y="200088"/>
                </a:lnTo>
                <a:cubicBezTo>
                  <a:pt x="10796" y="200088"/>
                  <a:pt x="5377" y="197003"/>
                  <a:pt x="2334" y="191959"/>
                </a:cubicBezTo>
                <a:cubicBezTo>
                  <a:pt x="-709" y="186915"/>
                  <a:pt x="-792" y="180662"/>
                  <a:pt x="2001" y="175493"/>
                </a:cubicBezTo>
                <a:lnTo>
                  <a:pt x="92040" y="8754"/>
                </a:lnTo>
                <a:cubicBezTo>
                  <a:pt x="94958" y="3376"/>
                  <a:pt x="100586" y="0"/>
                  <a:pt x="106713" y="0"/>
                </a:cubicBezTo>
                <a:close/>
                <a:moveTo>
                  <a:pt x="106713" y="70031"/>
                </a:moveTo>
                <a:cubicBezTo>
                  <a:pt x="101169" y="70031"/>
                  <a:pt x="96709" y="74491"/>
                  <a:pt x="96709" y="80035"/>
                </a:cubicBezTo>
                <a:lnTo>
                  <a:pt x="96709" y="126722"/>
                </a:lnTo>
                <a:cubicBezTo>
                  <a:pt x="96709" y="132266"/>
                  <a:pt x="101169" y="136726"/>
                  <a:pt x="106713" y="136726"/>
                </a:cubicBezTo>
                <a:cubicBezTo>
                  <a:pt x="112257" y="136726"/>
                  <a:pt x="116718" y="132266"/>
                  <a:pt x="116718" y="126722"/>
                </a:cubicBezTo>
                <a:lnTo>
                  <a:pt x="116718" y="80035"/>
                </a:lnTo>
                <a:cubicBezTo>
                  <a:pt x="116718" y="74491"/>
                  <a:pt x="112257" y="70031"/>
                  <a:pt x="106713" y="70031"/>
                </a:cubicBezTo>
                <a:close/>
                <a:moveTo>
                  <a:pt x="117843" y="160070"/>
                </a:moveTo>
                <a:cubicBezTo>
                  <a:pt x="118096" y="155939"/>
                  <a:pt x="116036" y="152008"/>
                  <a:pt x="112495" y="149866"/>
                </a:cubicBezTo>
                <a:cubicBezTo>
                  <a:pt x="108953" y="147724"/>
                  <a:pt x="104515" y="147724"/>
                  <a:pt x="100974" y="149866"/>
                </a:cubicBezTo>
                <a:cubicBezTo>
                  <a:pt x="97432" y="152008"/>
                  <a:pt x="95372" y="155939"/>
                  <a:pt x="95625" y="160070"/>
                </a:cubicBezTo>
                <a:cubicBezTo>
                  <a:pt x="95372" y="164201"/>
                  <a:pt x="97432" y="168132"/>
                  <a:pt x="100974" y="170274"/>
                </a:cubicBezTo>
                <a:cubicBezTo>
                  <a:pt x="104515" y="172416"/>
                  <a:pt x="108953" y="172416"/>
                  <a:pt x="112495" y="170274"/>
                </a:cubicBezTo>
                <a:cubicBezTo>
                  <a:pt x="116036" y="168132"/>
                  <a:pt x="118096" y="164201"/>
                  <a:pt x="117843" y="16007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26" name="Text 23"/>
          <p:cNvSpPr/>
          <p:nvPr/>
        </p:nvSpPr>
        <p:spPr>
          <a:xfrm>
            <a:off x="6823679" y="4250748"/>
            <a:ext cx="1413952" cy="2489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Watch Items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50183" y="4642031"/>
            <a:ext cx="5237847" cy="693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Attrition rate of </a:t>
            </a:r>
            <a:r>
              <a:rPr lang="en-US" sz="11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6.7%</a:t>
            </a: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(3 voluntary departures) is within industry benchmarks but requires monitoring. Two departures were in Engineering, prompting review of technical career pathways.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50183" y="5477952"/>
            <a:ext cx="5237847" cy="693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Manager-to-IC ratio in Engineering (1:9) approaching upper threshold. Recommend adding Engineering Manager in Q2 to maintain team effectiveness and development quality.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55711" y="6531746"/>
            <a:ext cx="11480578" cy="8893"/>
          </a:xfrm>
          <a:custGeom>
            <a:avLst/>
            <a:gdLst/>
            <a:ahLst/>
            <a:cxnLst/>
            <a:rect l="l" t="t" r="r" b="b"/>
            <a:pathLst>
              <a:path w="11480578" h="8893">
                <a:moveTo>
                  <a:pt x="0" y="0"/>
                </a:moveTo>
                <a:lnTo>
                  <a:pt x="11480578" y="0"/>
                </a:lnTo>
                <a:lnTo>
                  <a:pt x="11480578" y="8893"/>
                </a:lnTo>
                <a:lnTo>
                  <a:pt x="0" y="889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0" name="Text 27"/>
          <p:cNvSpPr/>
          <p:nvPr/>
        </p:nvSpPr>
        <p:spPr>
          <a:xfrm>
            <a:off x="355711" y="6678477"/>
            <a:ext cx="11542827" cy="17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Document Status:</a:t>
            </a:r>
            <a:r>
              <a:rPr lang="en-US" sz="98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Departmental Draft | Pending CFO Review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4013633" cy="3777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Workforce Highlights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831058"/>
            <a:ext cx="3928638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Headline Metrics and Strategic Indicators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206668" y="434417"/>
            <a:ext cx="604406" cy="604406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77754" y="1322138"/>
            <a:ext cx="2719826" cy="1973763"/>
          </a:xfrm>
          <a:custGeom>
            <a:avLst/>
            <a:gdLst/>
            <a:ahLst/>
            <a:cxnLst/>
            <a:rect l="l" t="t" r="r" b="b"/>
            <a:pathLst>
              <a:path w="2719826" h="1973763">
                <a:moveTo>
                  <a:pt x="75556" y="0"/>
                </a:moveTo>
                <a:lnTo>
                  <a:pt x="2644271" y="0"/>
                </a:lnTo>
                <a:cubicBezTo>
                  <a:pt x="2685999" y="0"/>
                  <a:pt x="2719826" y="33827"/>
                  <a:pt x="2719826" y="75556"/>
                </a:cubicBezTo>
                <a:lnTo>
                  <a:pt x="2719826" y="1898207"/>
                </a:lnTo>
                <a:cubicBezTo>
                  <a:pt x="2719826" y="1939936"/>
                  <a:pt x="2685999" y="1973763"/>
                  <a:pt x="2644271" y="1973763"/>
                </a:cubicBezTo>
                <a:lnTo>
                  <a:pt x="75556" y="1973763"/>
                </a:lnTo>
                <a:cubicBezTo>
                  <a:pt x="33827" y="1973763"/>
                  <a:pt x="0" y="1939936"/>
                  <a:pt x="0" y="1898207"/>
                </a:cubicBezTo>
                <a:lnTo>
                  <a:pt x="0" y="75556"/>
                </a:lnTo>
                <a:cubicBezTo>
                  <a:pt x="0" y="33827"/>
                  <a:pt x="33827" y="0"/>
                  <a:pt x="75556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6" name="Text 3"/>
          <p:cNvSpPr/>
          <p:nvPr/>
        </p:nvSpPr>
        <p:spPr>
          <a:xfrm>
            <a:off x="491080" y="1548790"/>
            <a:ext cx="2493174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7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1909" y="2077645"/>
            <a:ext cx="2351517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 Headcount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352" y="2417624"/>
            <a:ext cx="2332629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+8 net new in Q1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4406" y="2762324"/>
            <a:ext cx="2266522" cy="9444"/>
          </a:xfrm>
          <a:custGeom>
            <a:avLst/>
            <a:gdLst/>
            <a:ahLst/>
            <a:cxnLst/>
            <a:rect l="l" t="t" r="r" b="b"/>
            <a:pathLst>
              <a:path w="2266522" h="9444">
                <a:moveTo>
                  <a:pt x="0" y="0"/>
                </a:moveTo>
                <a:lnTo>
                  <a:pt x="2266522" y="0"/>
                </a:lnTo>
                <a:lnTo>
                  <a:pt x="2266522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576074" y="2918147"/>
            <a:ext cx="2323185" cy="1511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End of Q1: March 31,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83284" y="1322138"/>
            <a:ext cx="2719826" cy="1973763"/>
          </a:xfrm>
          <a:custGeom>
            <a:avLst/>
            <a:gdLst/>
            <a:ahLst/>
            <a:cxnLst/>
            <a:rect l="l" t="t" r="r" b="b"/>
            <a:pathLst>
              <a:path w="2719826" h="1973763">
                <a:moveTo>
                  <a:pt x="75556" y="0"/>
                </a:moveTo>
                <a:lnTo>
                  <a:pt x="2644271" y="0"/>
                </a:lnTo>
                <a:cubicBezTo>
                  <a:pt x="2685999" y="0"/>
                  <a:pt x="2719826" y="33827"/>
                  <a:pt x="2719826" y="75556"/>
                </a:cubicBezTo>
                <a:lnTo>
                  <a:pt x="2719826" y="1898207"/>
                </a:lnTo>
                <a:cubicBezTo>
                  <a:pt x="2719826" y="1939936"/>
                  <a:pt x="2685999" y="1973763"/>
                  <a:pt x="2644271" y="1973763"/>
                </a:cubicBezTo>
                <a:lnTo>
                  <a:pt x="75556" y="1973763"/>
                </a:lnTo>
                <a:cubicBezTo>
                  <a:pt x="33827" y="1973763"/>
                  <a:pt x="0" y="1939936"/>
                  <a:pt x="0" y="1898207"/>
                </a:cubicBezTo>
                <a:lnTo>
                  <a:pt x="0" y="75556"/>
                </a:lnTo>
                <a:cubicBezTo>
                  <a:pt x="0" y="33827"/>
                  <a:pt x="33827" y="0"/>
                  <a:pt x="75556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2" name="Text 9"/>
          <p:cNvSpPr/>
          <p:nvPr/>
        </p:nvSpPr>
        <p:spPr>
          <a:xfrm>
            <a:off x="3396611" y="1548790"/>
            <a:ext cx="2493174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7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67439" y="2077645"/>
            <a:ext cx="2351517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Hiring Plan Achieved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6883" y="2417624"/>
            <a:ext cx="2332629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 of 11 roles filled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09937" y="2762324"/>
            <a:ext cx="2266522" cy="9444"/>
          </a:xfrm>
          <a:custGeom>
            <a:avLst/>
            <a:gdLst/>
            <a:ahLst/>
            <a:cxnLst/>
            <a:rect l="l" t="t" r="r" b="b"/>
            <a:pathLst>
              <a:path w="2266522" h="9444">
                <a:moveTo>
                  <a:pt x="0" y="0"/>
                </a:moveTo>
                <a:lnTo>
                  <a:pt x="2266522" y="0"/>
                </a:lnTo>
                <a:lnTo>
                  <a:pt x="2266522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481605" y="2918147"/>
            <a:ext cx="2323185" cy="1511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roles still open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88815" y="1322138"/>
            <a:ext cx="2719826" cy="1973763"/>
          </a:xfrm>
          <a:custGeom>
            <a:avLst/>
            <a:gdLst/>
            <a:ahLst/>
            <a:cxnLst/>
            <a:rect l="l" t="t" r="r" b="b"/>
            <a:pathLst>
              <a:path w="2719826" h="1973763">
                <a:moveTo>
                  <a:pt x="75556" y="0"/>
                </a:moveTo>
                <a:lnTo>
                  <a:pt x="2644271" y="0"/>
                </a:lnTo>
                <a:cubicBezTo>
                  <a:pt x="2685999" y="0"/>
                  <a:pt x="2719826" y="33827"/>
                  <a:pt x="2719826" y="75556"/>
                </a:cubicBezTo>
                <a:lnTo>
                  <a:pt x="2719826" y="1898207"/>
                </a:lnTo>
                <a:cubicBezTo>
                  <a:pt x="2719826" y="1939936"/>
                  <a:pt x="2685999" y="1973763"/>
                  <a:pt x="2644271" y="1973763"/>
                </a:cubicBezTo>
                <a:lnTo>
                  <a:pt x="75556" y="1973763"/>
                </a:lnTo>
                <a:cubicBezTo>
                  <a:pt x="33827" y="1973763"/>
                  <a:pt x="0" y="1939936"/>
                  <a:pt x="0" y="1898207"/>
                </a:cubicBezTo>
                <a:lnTo>
                  <a:pt x="0" y="75556"/>
                </a:lnTo>
                <a:cubicBezTo>
                  <a:pt x="0" y="33827"/>
                  <a:pt x="33827" y="0"/>
                  <a:pt x="75556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18" name="Text 15"/>
          <p:cNvSpPr/>
          <p:nvPr/>
        </p:nvSpPr>
        <p:spPr>
          <a:xfrm>
            <a:off x="6302141" y="1548790"/>
            <a:ext cx="2493174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7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6.7%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72970" y="2077645"/>
            <a:ext cx="2351517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Voluntary Attrition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82414" y="2417624"/>
            <a:ext cx="2332629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departures in Q1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15467" y="2762324"/>
            <a:ext cx="2266522" cy="9444"/>
          </a:xfrm>
          <a:custGeom>
            <a:avLst/>
            <a:gdLst/>
            <a:ahLst/>
            <a:cxnLst/>
            <a:rect l="l" t="t" r="r" b="b"/>
            <a:pathLst>
              <a:path w="2266522" h="9444">
                <a:moveTo>
                  <a:pt x="0" y="0"/>
                </a:moveTo>
                <a:lnTo>
                  <a:pt x="2266522" y="0"/>
                </a:lnTo>
                <a:lnTo>
                  <a:pt x="2266522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6387136" y="2918147"/>
            <a:ext cx="2323185" cy="1511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Within industry benchmark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94346" y="1322138"/>
            <a:ext cx="2719826" cy="1973763"/>
          </a:xfrm>
          <a:custGeom>
            <a:avLst/>
            <a:gdLst/>
            <a:ahLst/>
            <a:cxnLst/>
            <a:rect l="l" t="t" r="r" b="b"/>
            <a:pathLst>
              <a:path w="2719826" h="1973763">
                <a:moveTo>
                  <a:pt x="75556" y="0"/>
                </a:moveTo>
                <a:lnTo>
                  <a:pt x="2644271" y="0"/>
                </a:lnTo>
                <a:cubicBezTo>
                  <a:pt x="2685999" y="0"/>
                  <a:pt x="2719826" y="33827"/>
                  <a:pt x="2719826" y="75556"/>
                </a:cubicBezTo>
                <a:lnTo>
                  <a:pt x="2719826" y="1898207"/>
                </a:lnTo>
                <a:cubicBezTo>
                  <a:pt x="2719826" y="1939936"/>
                  <a:pt x="2685999" y="1973763"/>
                  <a:pt x="2644271" y="1973763"/>
                </a:cubicBezTo>
                <a:lnTo>
                  <a:pt x="75556" y="1973763"/>
                </a:lnTo>
                <a:cubicBezTo>
                  <a:pt x="33827" y="1973763"/>
                  <a:pt x="0" y="1939936"/>
                  <a:pt x="0" y="1898207"/>
                </a:cubicBezTo>
                <a:lnTo>
                  <a:pt x="0" y="75556"/>
                </a:lnTo>
                <a:cubicBezTo>
                  <a:pt x="0" y="33827"/>
                  <a:pt x="33827" y="0"/>
                  <a:pt x="75556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24" name="Text 21"/>
          <p:cNvSpPr/>
          <p:nvPr/>
        </p:nvSpPr>
        <p:spPr>
          <a:xfrm>
            <a:off x="9207672" y="1548790"/>
            <a:ext cx="2493174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7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78501" y="2077645"/>
            <a:ext cx="2351517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Performance Review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7945" y="2417624"/>
            <a:ext cx="2332629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Participation rate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320998" y="2762324"/>
            <a:ext cx="2266522" cy="9444"/>
          </a:xfrm>
          <a:custGeom>
            <a:avLst/>
            <a:gdLst/>
            <a:ahLst/>
            <a:cxnLst/>
            <a:rect l="l" t="t" r="r" b="b"/>
            <a:pathLst>
              <a:path w="2266522" h="9444">
                <a:moveTo>
                  <a:pt x="0" y="0"/>
                </a:moveTo>
                <a:lnTo>
                  <a:pt x="2266522" y="0"/>
                </a:lnTo>
                <a:lnTo>
                  <a:pt x="2266522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9292667" y="2918147"/>
            <a:ext cx="2323185" cy="1511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Calibration completed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77754" y="3522553"/>
            <a:ext cx="5600198" cy="2833153"/>
          </a:xfrm>
          <a:custGeom>
            <a:avLst/>
            <a:gdLst/>
            <a:ahLst/>
            <a:cxnLst/>
            <a:rect l="l" t="t" r="r" b="b"/>
            <a:pathLst>
              <a:path w="5600198" h="2833153">
                <a:moveTo>
                  <a:pt x="75560" y="0"/>
                </a:moveTo>
                <a:lnTo>
                  <a:pt x="5524638" y="0"/>
                </a:lnTo>
                <a:cubicBezTo>
                  <a:pt x="5566369" y="0"/>
                  <a:pt x="5600198" y="33829"/>
                  <a:pt x="5600198" y="75560"/>
                </a:cubicBezTo>
                <a:lnTo>
                  <a:pt x="5600198" y="2757592"/>
                </a:lnTo>
                <a:cubicBezTo>
                  <a:pt x="5600198" y="2799323"/>
                  <a:pt x="5566369" y="2833153"/>
                  <a:pt x="5524638" y="2833153"/>
                </a:cubicBezTo>
                <a:lnTo>
                  <a:pt x="75560" y="2833153"/>
                </a:lnTo>
                <a:cubicBezTo>
                  <a:pt x="33829" y="2833153"/>
                  <a:pt x="0" y="2799323"/>
                  <a:pt x="0" y="2757592"/>
                </a:cubicBezTo>
                <a:lnTo>
                  <a:pt x="0" y="75560"/>
                </a:lnTo>
                <a:cubicBezTo>
                  <a:pt x="0" y="33857"/>
                  <a:pt x="33857" y="0"/>
                  <a:pt x="7556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30" name="Shape 27"/>
          <p:cNvSpPr/>
          <p:nvPr/>
        </p:nvSpPr>
        <p:spPr>
          <a:xfrm>
            <a:off x="628015" y="3786981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65267" y="94438"/>
                </a:moveTo>
                <a:cubicBezTo>
                  <a:pt x="165267" y="55347"/>
                  <a:pt x="133530" y="23610"/>
                  <a:pt x="94438" y="23610"/>
                </a:cubicBezTo>
                <a:cubicBezTo>
                  <a:pt x="55347" y="23610"/>
                  <a:pt x="23610" y="55347"/>
                  <a:pt x="23610" y="94438"/>
                </a:cubicBezTo>
                <a:cubicBezTo>
                  <a:pt x="23610" y="133530"/>
                  <a:pt x="55347" y="165267"/>
                  <a:pt x="94438" y="165267"/>
                </a:cubicBezTo>
                <a:cubicBezTo>
                  <a:pt x="133530" y="165267"/>
                  <a:pt x="165267" y="133530"/>
                  <a:pt x="165267" y="94438"/>
                </a:cubicBezTo>
                <a:close/>
                <a:moveTo>
                  <a:pt x="0" y="94438"/>
                </a:moveTo>
                <a:cubicBezTo>
                  <a:pt x="0" y="42316"/>
                  <a:pt x="42316" y="0"/>
                  <a:pt x="94438" y="0"/>
                </a:cubicBezTo>
                <a:cubicBezTo>
                  <a:pt x="146560" y="0"/>
                  <a:pt x="188877" y="42316"/>
                  <a:pt x="188877" y="94438"/>
                </a:cubicBezTo>
                <a:cubicBezTo>
                  <a:pt x="188877" y="146560"/>
                  <a:pt x="146560" y="188877"/>
                  <a:pt x="94438" y="188877"/>
                </a:cubicBezTo>
                <a:cubicBezTo>
                  <a:pt x="42316" y="188877"/>
                  <a:pt x="0" y="146560"/>
                  <a:pt x="0" y="94438"/>
                </a:cubicBezTo>
                <a:close/>
                <a:moveTo>
                  <a:pt x="94438" y="123950"/>
                </a:moveTo>
                <a:cubicBezTo>
                  <a:pt x="110727" y="123950"/>
                  <a:pt x="123950" y="110727"/>
                  <a:pt x="123950" y="94438"/>
                </a:cubicBezTo>
                <a:cubicBezTo>
                  <a:pt x="123950" y="78150"/>
                  <a:pt x="110727" y="64926"/>
                  <a:pt x="94438" y="64926"/>
                </a:cubicBezTo>
                <a:cubicBezTo>
                  <a:pt x="78150" y="64926"/>
                  <a:pt x="64926" y="78150"/>
                  <a:pt x="64926" y="94438"/>
                </a:cubicBezTo>
                <a:cubicBezTo>
                  <a:pt x="64926" y="110727"/>
                  <a:pt x="78150" y="123950"/>
                  <a:pt x="94438" y="123950"/>
                </a:cubicBezTo>
                <a:close/>
                <a:moveTo>
                  <a:pt x="94438" y="41317"/>
                </a:moveTo>
                <a:cubicBezTo>
                  <a:pt x="123757" y="41317"/>
                  <a:pt x="147560" y="65120"/>
                  <a:pt x="147560" y="94438"/>
                </a:cubicBezTo>
                <a:cubicBezTo>
                  <a:pt x="147560" y="123757"/>
                  <a:pt x="123757" y="147560"/>
                  <a:pt x="94438" y="147560"/>
                </a:cubicBezTo>
                <a:cubicBezTo>
                  <a:pt x="65120" y="147560"/>
                  <a:pt x="41317" y="123757"/>
                  <a:pt x="41317" y="94438"/>
                </a:cubicBezTo>
                <a:cubicBezTo>
                  <a:pt x="41317" y="65120"/>
                  <a:pt x="65120" y="41317"/>
                  <a:pt x="94438" y="41317"/>
                </a:cubicBezTo>
                <a:close/>
                <a:moveTo>
                  <a:pt x="82634" y="94438"/>
                </a:moveTo>
                <a:cubicBezTo>
                  <a:pt x="82634" y="87923"/>
                  <a:pt x="87923" y="82634"/>
                  <a:pt x="94438" y="82634"/>
                </a:cubicBezTo>
                <a:cubicBezTo>
                  <a:pt x="100954" y="82634"/>
                  <a:pt x="106243" y="87923"/>
                  <a:pt x="106243" y="94438"/>
                </a:cubicBezTo>
                <a:cubicBezTo>
                  <a:pt x="106243" y="100954"/>
                  <a:pt x="100954" y="106243"/>
                  <a:pt x="94438" y="106243"/>
                </a:cubicBezTo>
                <a:cubicBezTo>
                  <a:pt x="87923" y="106243"/>
                  <a:pt x="82634" y="100954"/>
                  <a:pt x="82634" y="94438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31" name="Text 28"/>
          <p:cNvSpPr/>
          <p:nvPr/>
        </p:nvSpPr>
        <p:spPr>
          <a:xfrm>
            <a:off x="840502" y="3749205"/>
            <a:ext cx="5005236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Role Prioritization Decisions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04406" y="4202510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97857" y="4164734"/>
            <a:ext cx="5033568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Engineering: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Prioritized backend and ML roles over additional frontend capacity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4406" y="4769140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97857" y="4731365"/>
            <a:ext cx="5033568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Sales: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Shifted focus to Enterprise AE from mid-market to align with ARR targets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04406" y="5335771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97857" y="5297995"/>
            <a:ext cx="4618039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Delayed second PM hire to Q2 pending roadmap clarification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04406" y="5713524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97857" y="5675749"/>
            <a:ext cx="5033568" cy="453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Success: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Added CSM role to improve retention and expansion metrics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07703" y="3522553"/>
            <a:ext cx="5600198" cy="2833153"/>
          </a:xfrm>
          <a:custGeom>
            <a:avLst/>
            <a:gdLst/>
            <a:ahLst/>
            <a:cxnLst/>
            <a:rect l="l" t="t" r="r" b="b"/>
            <a:pathLst>
              <a:path w="5600198" h="2833153">
                <a:moveTo>
                  <a:pt x="75560" y="0"/>
                </a:moveTo>
                <a:lnTo>
                  <a:pt x="5524638" y="0"/>
                </a:lnTo>
                <a:cubicBezTo>
                  <a:pt x="5566369" y="0"/>
                  <a:pt x="5600198" y="33829"/>
                  <a:pt x="5600198" y="75560"/>
                </a:cubicBezTo>
                <a:lnTo>
                  <a:pt x="5600198" y="2757592"/>
                </a:lnTo>
                <a:cubicBezTo>
                  <a:pt x="5600198" y="2799323"/>
                  <a:pt x="5566369" y="2833153"/>
                  <a:pt x="5524638" y="2833153"/>
                </a:cubicBezTo>
                <a:lnTo>
                  <a:pt x="75560" y="2833153"/>
                </a:lnTo>
                <a:cubicBezTo>
                  <a:pt x="33829" y="2833153"/>
                  <a:pt x="0" y="2799323"/>
                  <a:pt x="0" y="2757592"/>
                </a:cubicBezTo>
                <a:lnTo>
                  <a:pt x="0" y="75560"/>
                </a:lnTo>
                <a:cubicBezTo>
                  <a:pt x="0" y="33857"/>
                  <a:pt x="33857" y="0"/>
                  <a:pt x="7556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41" name="Shape 38"/>
          <p:cNvSpPr/>
          <p:nvPr/>
        </p:nvSpPr>
        <p:spPr>
          <a:xfrm>
            <a:off x="6469770" y="3786981"/>
            <a:ext cx="165267" cy="188877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47219" y="0"/>
                </a:moveTo>
                <a:cubicBezTo>
                  <a:pt x="53749" y="0"/>
                  <a:pt x="59024" y="5275"/>
                  <a:pt x="59024" y="11805"/>
                </a:cubicBezTo>
                <a:lnTo>
                  <a:pt x="59024" y="23610"/>
                </a:lnTo>
                <a:lnTo>
                  <a:pt x="106243" y="23610"/>
                </a:lnTo>
                <a:lnTo>
                  <a:pt x="106243" y="11805"/>
                </a:lnTo>
                <a:cubicBezTo>
                  <a:pt x="106243" y="5275"/>
                  <a:pt x="111518" y="0"/>
                  <a:pt x="118048" y="0"/>
                </a:cubicBezTo>
                <a:cubicBezTo>
                  <a:pt x="124578" y="0"/>
                  <a:pt x="129853" y="5275"/>
                  <a:pt x="129853" y="11805"/>
                </a:cubicBezTo>
                <a:lnTo>
                  <a:pt x="129853" y="23610"/>
                </a:lnTo>
                <a:lnTo>
                  <a:pt x="141658" y="23610"/>
                </a:lnTo>
                <a:cubicBezTo>
                  <a:pt x="154680" y="23610"/>
                  <a:pt x="165267" y="34197"/>
                  <a:pt x="165267" y="47219"/>
                </a:cubicBezTo>
                <a:lnTo>
                  <a:pt x="165267" y="153462"/>
                </a:lnTo>
                <a:cubicBezTo>
                  <a:pt x="165267" y="166485"/>
                  <a:pt x="154680" y="177072"/>
                  <a:pt x="141658" y="177072"/>
                </a:cubicBezTo>
                <a:lnTo>
                  <a:pt x="23610" y="177072"/>
                </a:lnTo>
                <a:cubicBezTo>
                  <a:pt x="10587" y="177072"/>
                  <a:pt x="0" y="166485"/>
                  <a:pt x="0" y="153462"/>
                </a:cubicBezTo>
                <a:lnTo>
                  <a:pt x="0" y="47219"/>
                </a:lnTo>
                <a:cubicBezTo>
                  <a:pt x="0" y="34197"/>
                  <a:pt x="10587" y="23610"/>
                  <a:pt x="23610" y="23610"/>
                </a:cubicBezTo>
                <a:lnTo>
                  <a:pt x="35414" y="23610"/>
                </a:lnTo>
                <a:lnTo>
                  <a:pt x="35414" y="11805"/>
                </a:lnTo>
                <a:cubicBezTo>
                  <a:pt x="35414" y="5275"/>
                  <a:pt x="40690" y="0"/>
                  <a:pt x="47219" y="0"/>
                </a:cubicBezTo>
                <a:close/>
                <a:moveTo>
                  <a:pt x="23610" y="88536"/>
                </a:moveTo>
                <a:lnTo>
                  <a:pt x="23610" y="100341"/>
                </a:lnTo>
                <a:cubicBezTo>
                  <a:pt x="23610" y="103587"/>
                  <a:pt x="26266" y="106243"/>
                  <a:pt x="29512" y="106243"/>
                </a:cubicBezTo>
                <a:lnTo>
                  <a:pt x="41317" y="106243"/>
                </a:lnTo>
                <a:cubicBezTo>
                  <a:pt x="44563" y="106243"/>
                  <a:pt x="47219" y="103587"/>
                  <a:pt x="47219" y="100341"/>
                </a:cubicBezTo>
                <a:lnTo>
                  <a:pt x="47219" y="88536"/>
                </a:lnTo>
                <a:cubicBezTo>
                  <a:pt x="47219" y="85290"/>
                  <a:pt x="44563" y="82634"/>
                  <a:pt x="41317" y="82634"/>
                </a:cubicBezTo>
                <a:lnTo>
                  <a:pt x="29512" y="82634"/>
                </a:lnTo>
                <a:cubicBezTo>
                  <a:pt x="26266" y="82634"/>
                  <a:pt x="23610" y="85290"/>
                  <a:pt x="23610" y="88536"/>
                </a:cubicBezTo>
                <a:close/>
                <a:moveTo>
                  <a:pt x="70829" y="88536"/>
                </a:moveTo>
                <a:lnTo>
                  <a:pt x="70829" y="100341"/>
                </a:lnTo>
                <a:cubicBezTo>
                  <a:pt x="70829" y="103587"/>
                  <a:pt x="73485" y="106243"/>
                  <a:pt x="76731" y="106243"/>
                </a:cubicBezTo>
                <a:lnTo>
                  <a:pt x="88536" y="106243"/>
                </a:lnTo>
                <a:cubicBezTo>
                  <a:pt x="91782" y="106243"/>
                  <a:pt x="94438" y="103587"/>
                  <a:pt x="94438" y="100341"/>
                </a:cubicBezTo>
                <a:lnTo>
                  <a:pt x="94438" y="88536"/>
                </a:lnTo>
                <a:cubicBezTo>
                  <a:pt x="94438" y="85290"/>
                  <a:pt x="91782" y="82634"/>
                  <a:pt x="88536" y="82634"/>
                </a:cubicBezTo>
                <a:lnTo>
                  <a:pt x="76731" y="82634"/>
                </a:lnTo>
                <a:cubicBezTo>
                  <a:pt x="73485" y="82634"/>
                  <a:pt x="70829" y="85290"/>
                  <a:pt x="70829" y="88536"/>
                </a:cubicBezTo>
                <a:close/>
                <a:moveTo>
                  <a:pt x="123950" y="82634"/>
                </a:moveTo>
                <a:cubicBezTo>
                  <a:pt x="120704" y="82634"/>
                  <a:pt x="118048" y="85290"/>
                  <a:pt x="118048" y="88536"/>
                </a:cubicBezTo>
                <a:lnTo>
                  <a:pt x="118048" y="100341"/>
                </a:lnTo>
                <a:cubicBezTo>
                  <a:pt x="118048" y="103587"/>
                  <a:pt x="120704" y="106243"/>
                  <a:pt x="123950" y="106243"/>
                </a:cubicBezTo>
                <a:lnTo>
                  <a:pt x="135755" y="106243"/>
                </a:lnTo>
                <a:cubicBezTo>
                  <a:pt x="139002" y="106243"/>
                  <a:pt x="141658" y="103587"/>
                  <a:pt x="141658" y="100341"/>
                </a:cubicBezTo>
                <a:lnTo>
                  <a:pt x="141658" y="88536"/>
                </a:lnTo>
                <a:cubicBezTo>
                  <a:pt x="141658" y="85290"/>
                  <a:pt x="139002" y="82634"/>
                  <a:pt x="135755" y="82634"/>
                </a:cubicBezTo>
                <a:lnTo>
                  <a:pt x="123950" y="82634"/>
                </a:lnTo>
                <a:close/>
                <a:moveTo>
                  <a:pt x="23610" y="135755"/>
                </a:moveTo>
                <a:lnTo>
                  <a:pt x="23610" y="147560"/>
                </a:lnTo>
                <a:cubicBezTo>
                  <a:pt x="23610" y="150806"/>
                  <a:pt x="26266" y="153462"/>
                  <a:pt x="29512" y="153462"/>
                </a:cubicBezTo>
                <a:lnTo>
                  <a:pt x="41317" y="153462"/>
                </a:lnTo>
                <a:cubicBezTo>
                  <a:pt x="44563" y="153462"/>
                  <a:pt x="47219" y="150806"/>
                  <a:pt x="47219" y="147560"/>
                </a:cubicBezTo>
                <a:lnTo>
                  <a:pt x="47219" y="135755"/>
                </a:lnTo>
                <a:cubicBezTo>
                  <a:pt x="47219" y="132509"/>
                  <a:pt x="44563" y="129853"/>
                  <a:pt x="41317" y="129853"/>
                </a:cubicBezTo>
                <a:lnTo>
                  <a:pt x="29512" y="129853"/>
                </a:lnTo>
                <a:cubicBezTo>
                  <a:pt x="26266" y="129853"/>
                  <a:pt x="23610" y="132509"/>
                  <a:pt x="23610" y="135755"/>
                </a:cubicBezTo>
                <a:close/>
                <a:moveTo>
                  <a:pt x="76731" y="129853"/>
                </a:moveTo>
                <a:cubicBezTo>
                  <a:pt x="73485" y="129853"/>
                  <a:pt x="70829" y="132509"/>
                  <a:pt x="70829" y="135755"/>
                </a:cubicBezTo>
                <a:lnTo>
                  <a:pt x="70829" y="147560"/>
                </a:lnTo>
                <a:cubicBezTo>
                  <a:pt x="70829" y="150806"/>
                  <a:pt x="73485" y="153462"/>
                  <a:pt x="76731" y="153462"/>
                </a:cubicBezTo>
                <a:lnTo>
                  <a:pt x="88536" y="153462"/>
                </a:lnTo>
                <a:cubicBezTo>
                  <a:pt x="91782" y="153462"/>
                  <a:pt x="94438" y="150806"/>
                  <a:pt x="94438" y="147560"/>
                </a:cubicBezTo>
                <a:lnTo>
                  <a:pt x="94438" y="135755"/>
                </a:lnTo>
                <a:cubicBezTo>
                  <a:pt x="94438" y="132509"/>
                  <a:pt x="91782" y="129853"/>
                  <a:pt x="88536" y="129853"/>
                </a:cubicBezTo>
                <a:lnTo>
                  <a:pt x="76731" y="129853"/>
                </a:lnTo>
                <a:close/>
                <a:moveTo>
                  <a:pt x="118048" y="135755"/>
                </a:moveTo>
                <a:lnTo>
                  <a:pt x="118048" y="147560"/>
                </a:lnTo>
                <a:cubicBezTo>
                  <a:pt x="118048" y="150806"/>
                  <a:pt x="120704" y="153462"/>
                  <a:pt x="123950" y="153462"/>
                </a:cubicBezTo>
                <a:lnTo>
                  <a:pt x="135755" y="153462"/>
                </a:lnTo>
                <a:cubicBezTo>
                  <a:pt x="139002" y="153462"/>
                  <a:pt x="141658" y="150806"/>
                  <a:pt x="141658" y="147560"/>
                </a:cubicBezTo>
                <a:lnTo>
                  <a:pt x="141658" y="135755"/>
                </a:lnTo>
                <a:cubicBezTo>
                  <a:pt x="141658" y="132509"/>
                  <a:pt x="139002" y="129853"/>
                  <a:pt x="135755" y="129853"/>
                </a:cubicBezTo>
                <a:lnTo>
                  <a:pt x="123950" y="129853"/>
                </a:lnTo>
                <a:cubicBezTo>
                  <a:pt x="120704" y="129853"/>
                  <a:pt x="118048" y="132509"/>
                  <a:pt x="118048" y="135755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42" name="Text 39"/>
          <p:cNvSpPr/>
          <p:nvPr/>
        </p:nvSpPr>
        <p:spPr>
          <a:xfrm>
            <a:off x="6670451" y="3749205"/>
            <a:ext cx="5005236" cy="2644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Workforce Planning Updates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34355" y="4202510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627806" y="4164734"/>
            <a:ext cx="4703033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Q2 Hiring Plan: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6 additional roles approved (4 Engineering, 1 Sales, 1 CS)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34355" y="4580263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627806" y="4542488"/>
            <a:ext cx="3607548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Budget Status: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Headcount spend at 94% of Q1 forecast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434355" y="4958017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627806" y="4920242"/>
            <a:ext cx="5005236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Location Strategy: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73% US-based, 27% international (Canada, UK, Germany)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34355" y="5335771"/>
            <a:ext cx="151101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627806" y="5297995"/>
            <a:ext cx="3626435" cy="226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Remote Work:</a:t>
            </a:r>
            <a:r>
              <a:rPr lang="en-US" sz="119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89% fully remote, 11% hybrid (SF office)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77754" y="6511529"/>
            <a:ext cx="11436493" cy="9444"/>
          </a:xfrm>
          <a:custGeom>
            <a:avLst/>
            <a:gdLst/>
            <a:ahLst/>
            <a:cxnLst/>
            <a:rect l="l" t="t" r="r" b="b"/>
            <a:pathLst>
              <a:path w="11436493" h="9444">
                <a:moveTo>
                  <a:pt x="0" y="0"/>
                </a:moveTo>
                <a:lnTo>
                  <a:pt x="11436493" y="0"/>
                </a:lnTo>
                <a:lnTo>
                  <a:pt x="11436493" y="9444"/>
                </a:lnTo>
                <a:lnTo>
                  <a:pt x="0" y="944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52" name="Text 49"/>
          <p:cNvSpPr/>
          <p:nvPr/>
        </p:nvSpPr>
        <p:spPr>
          <a:xfrm>
            <a:off x="377754" y="6667352"/>
            <a:ext cx="11502600" cy="188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Note:</a:t>
            </a:r>
            <a:r>
              <a:rPr lang="en-US" sz="104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All metrics as of March 31, 2026 | Data source: HRIS and ATS systems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37" y="357537"/>
            <a:ext cx="5041267" cy="3575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Organization Chart and Headcount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537" y="786581"/>
            <a:ext cx="4960821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Current Reporting Structure — Total Headcount: 45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258424" y="411167"/>
            <a:ext cx="572059" cy="572059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57537" y="1179871"/>
            <a:ext cx="7624469" cy="5273666"/>
          </a:xfrm>
          <a:custGeom>
            <a:avLst/>
            <a:gdLst/>
            <a:ahLst/>
            <a:cxnLst/>
            <a:rect l="l" t="t" r="r" b="b"/>
            <a:pathLst>
              <a:path w="7624469" h="5273666">
                <a:moveTo>
                  <a:pt x="71511" y="0"/>
                </a:moveTo>
                <a:lnTo>
                  <a:pt x="7552958" y="0"/>
                </a:lnTo>
                <a:cubicBezTo>
                  <a:pt x="7592453" y="0"/>
                  <a:pt x="7624469" y="32017"/>
                  <a:pt x="7624469" y="71511"/>
                </a:cubicBezTo>
                <a:lnTo>
                  <a:pt x="7624469" y="5202155"/>
                </a:lnTo>
                <a:cubicBezTo>
                  <a:pt x="7624469" y="5241649"/>
                  <a:pt x="7592453" y="5273666"/>
                  <a:pt x="7552958" y="5273666"/>
                </a:cubicBezTo>
                <a:lnTo>
                  <a:pt x="71511" y="5273666"/>
                </a:lnTo>
                <a:cubicBezTo>
                  <a:pt x="32017" y="5273666"/>
                  <a:pt x="0" y="5241649"/>
                  <a:pt x="0" y="5202155"/>
                </a:cubicBezTo>
                <a:lnTo>
                  <a:pt x="0" y="71511"/>
                </a:lnTo>
                <a:cubicBezTo>
                  <a:pt x="0" y="32017"/>
                  <a:pt x="32017" y="0"/>
                  <a:pt x="71511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" name="Shape 3"/>
          <p:cNvSpPr/>
          <p:nvPr/>
        </p:nvSpPr>
        <p:spPr>
          <a:xfrm>
            <a:off x="3683186" y="1358639"/>
            <a:ext cx="974287" cy="464798"/>
          </a:xfrm>
          <a:custGeom>
            <a:avLst/>
            <a:gdLst/>
            <a:ahLst/>
            <a:cxnLst/>
            <a:rect l="l" t="t" r="r" b="b"/>
            <a:pathLst>
              <a:path w="974287" h="464798">
                <a:moveTo>
                  <a:pt x="71509" y="0"/>
                </a:moveTo>
                <a:lnTo>
                  <a:pt x="902778" y="0"/>
                </a:lnTo>
                <a:cubicBezTo>
                  <a:pt x="942272" y="0"/>
                  <a:pt x="974287" y="32016"/>
                  <a:pt x="974287" y="71509"/>
                </a:cubicBezTo>
                <a:lnTo>
                  <a:pt x="974287" y="393289"/>
                </a:lnTo>
                <a:cubicBezTo>
                  <a:pt x="974287" y="432755"/>
                  <a:pt x="942245" y="464798"/>
                  <a:pt x="902778" y="464798"/>
                </a:cubicBezTo>
                <a:lnTo>
                  <a:pt x="71509" y="464798"/>
                </a:lnTo>
                <a:cubicBezTo>
                  <a:pt x="32016" y="464798"/>
                  <a:pt x="0" y="432782"/>
                  <a:pt x="0" y="393289"/>
                </a:cubicBezTo>
                <a:lnTo>
                  <a:pt x="0" y="71509"/>
                </a:lnTo>
                <a:cubicBezTo>
                  <a:pt x="0" y="32042"/>
                  <a:pt x="32042" y="0"/>
                  <a:pt x="71509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7" name="Text 4"/>
          <p:cNvSpPr/>
          <p:nvPr/>
        </p:nvSpPr>
        <p:spPr>
          <a:xfrm>
            <a:off x="3642963" y="1358639"/>
            <a:ext cx="1054733" cy="464798"/>
          </a:xfrm>
          <a:prstGeom prst="rect">
            <a:avLst/>
          </a:prstGeom>
          <a:noFill/>
        </p:spPr>
        <p:txBody>
          <a:bodyPr wrap="square" lIns="214522" tIns="107261" rIns="214522" bIns="107261" rtlCol="0" anchor="ctr"/>
          <a:lstStyle/>
          <a:p>
            <a:pPr algn="ctr">
              <a:lnSpc>
                <a:spcPct val="130000"/>
              </a:lnSpc>
            </a:pPr>
            <a:r>
              <a:rPr lang="en-US" sz="126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CEO (1)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0973" y="1966452"/>
            <a:ext cx="17877" cy="214522"/>
          </a:xfrm>
          <a:custGeom>
            <a:avLst/>
            <a:gdLst/>
            <a:ahLst/>
            <a:cxnLst/>
            <a:rect l="l" t="t" r="r" b="b"/>
            <a:pathLst>
              <a:path w="17877" h="214522">
                <a:moveTo>
                  <a:pt x="0" y="0"/>
                </a:moveTo>
                <a:lnTo>
                  <a:pt x="17877" y="0"/>
                </a:lnTo>
                <a:lnTo>
                  <a:pt x="17877" y="214522"/>
                </a:lnTo>
                <a:lnTo>
                  <a:pt x="0" y="214522"/>
                </a:lnTo>
                <a:lnTo>
                  <a:pt x="0" y="0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9" name="Shape 6"/>
          <p:cNvSpPr/>
          <p:nvPr/>
        </p:nvSpPr>
        <p:spPr>
          <a:xfrm>
            <a:off x="536305" y="2323988"/>
            <a:ext cx="1367578" cy="321783"/>
          </a:xfrm>
          <a:custGeom>
            <a:avLst/>
            <a:gdLst/>
            <a:ahLst/>
            <a:cxnLst/>
            <a:rect l="l" t="t" r="r" b="b"/>
            <a:pathLst>
              <a:path w="1367578" h="321783">
                <a:moveTo>
                  <a:pt x="71507" y="0"/>
                </a:moveTo>
                <a:lnTo>
                  <a:pt x="1296071" y="0"/>
                </a:lnTo>
                <a:cubicBezTo>
                  <a:pt x="1335563" y="0"/>
                  <a:pt x="1367578" y="32015"/>
                  <a:pt x="1367578" y="71507"/>
                </a:cubicBezTo>
                <a:lnTo>
                  <a:pt x="1367578" y="250276"/>
                </a:lnTo>
                <a:cubicBezTo>
                  <a:pt x="1367578" y="289768"/>
                  <a:pt x="1335563" y="321783"/>
                  <a:pt x="1296071" y="321783"/>
                </a:cubicBezTo>
                <a:lnTo>
                  <a:pt x="71507" y="321783"/>
                </a:lnTo>
                <a:cubicBezTo>
                  <a:pt x="32041" y="321783"/>
                  <a:pt x="0" y="289742"/>
                  <a:pt x="0" y="250276"/>
                </a:cubicBezTo>
                <a:lnTo>
                  <a:pt x="0" y="71507"/>
                </a:lnTo>
                <a:cubicBezTo>
                  <a:pt x="0" y="32041"/>
                  <a:pt x="32041" y="0"/>
                  <a:pt x="71507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0" name="Text 7"/>
          <p:cNvSpPr/>
          <p:nvPr/>
        </p:nvSpPr>
        <p:spPr>
          <a:xfrm>
            <a:off x="505021" y="2323988"/>
            <a:ext cx="1430147" cy="321783"/>
          </a:xfrm>
          <a:prstGeom prst="rect">
            <a:avLst/>
          </a:prstGeom>
          <a:noFill/>
        </p:spPr>
        <p:txBody>
          <a:bodyPr wrap="square" lIns="107261" tIns="71507" rIns="107261" bIns="7150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VP Engineering (1)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11214" y="2323988"/>
            <a:ext cx="1367578" cy="321783"/>
          </a:xfrm>
          <a:custGeom>
            <a:avLst/>
            <a:gdLst/>
            <a:ahLst/>
            <a:cxnLst/>
            <a:rect l="l" t="t" r="r" b="b"/>
            <a:pathLst>
              <a:path w="1367578" h="321783">
                <a:moveTo>
                  <a:pt x="71507" y="0"/>
                </a:moveTo>
                <a:lnTo>
                  <a:pt x="1296071" y="0"/>
                </a:lnTo>
                <a:cubicBezTo>
                  <a:pt x="1335563" y="0"/>
                  <a:pt x="1367578" y="32015"/>
                  <a:pt x="1367578" y="71507"/>
                </a:cubicBezTo>
                <a:lnTo>
                  <a:pt x="1367578" y="250276"/>
                </a:lnTo>
                <a:cubicBezTo>
                  <a:pt x="1367578" y="289768"/>
                  <a:pt x="1335563" y="321783"/>
                  <a:pt x="1296071" y="321783"/>
                </a:cubicBezTo>
                <a:lnTo>
                  <a:pt x="71507" y="321783"/>
                </a:lnTo>
                <a:cubicBezTo>
                  <a:pt x="32041" y="321783"/>
                  <a:pt x="0" y="289742"/>
                  <a:pt x="0" y="250276"/>
                </a:cubicBezTo>
                <a:lnTo>
                  <a:pt x="0" y="71507"/>
                </a:lnTo>
                <a:cubicBezTo>
                  <a:pt x="0" y="32041"/>
                  <a:pt x="32041" y="0"/>
                  <a:pt x="71507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2" name="Text 9"/>
          <p:cNvSpPr/>
          <p:nvPr/>
        </p:nvSpPr>
        <p:spPr>
          <a:xfrm>
            <a:off x="1979929" y="2323988"/>
            <a:ext cx="1430147" cy="321783"/>
          </a:xfrm>
          <a:prstGeom prst="rect">
            <a:avLst/>
          </a:prstGeom>
          <a:noFill/>
        </p:spPr>
        <p:txBody>
          <a:bodyPr wrap="square" lIns="107261" tIns="71507" rIns="107261" bIns="7150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VP Product (1)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86122" y="2323988"/>
            <a:ext cx="1367578" cy="321783"/>
          </a:xfrm>
          <a:custGeom>
            <a:avLst/>
            <a:gdLst/>
            <a:ahLst/>
            <a:cxnLst/>
            <a:rect l="l" t="t" r="r" b="b"/>
            <a:pathLst>
              <a:path w="1367578" h="321783">
                <a:moveTo>
                  <a:pt x="71507" y="0"/>
                </a:moveTo>
                <a:lnTo>
                  <a:pt x="1296071" y="0"/>
                </a:lnTo>
                <a:cubicBezTo>
                  <a:pt x="1335563" y="0"/>
                  <a:pt x="1367578" y="32015"/>
                  <a:pt x="1367578" y="71507"/>
                </a:cubicBezTo>
                <a:lnTo>
                  <a:pt x="1367578" y="250276"/>
                </a:lnTo>
                <a:cubicBezTo>
                  <a:pt x="1367578" y="289768"/>
                  <a:pt x="1335563" y="321783"/>
                  <a:pt x="1296071" y="321783"/>
                </a:cubicBezTo>
                <a:lnTo>
                  <a:pt x="71507" y="321783"/>
                </a:lnTo>
                <a:cubicBezTo>
                  <a:pt x="32041" y="321783"/>
                  <a:pt x="0" y="289742"/>
                  <a:pt x="0" y="250276"/>
                </a:cubicBezTo>
                <a:lnTo>
                  <a:pt x="0" y="71507"/>
                </a:lnTo>
                <a:cubicBezTo>
                  <a:pt x="0" y="32041"/>
                  <a:pt x="32041" y="0"/>
                  <a:pt x="71507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4" name="Text 11"/>
          <p:cNvSpPr/>
          <p:nvPr/>
        </p:nvSpPr>
        <p:spPr>
          <a:xfrm>
            <a:off x="3454838" y="2323988"/>
            <a:ext cx="1430147" cy="321783"/>
          </a:xfrm>
          <a:prstGeom prst="rect">
            <a:avLst/>
          </a:prstGeom>
          <a:noFill/>
        </p:spPr>
        <p:txBody>
          <a:bodyPr wrap="square" lIns="107261" tIns="71507" rIns="107261" bIns="7150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VP Sales (1)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61031" y="2323988"/>
            <a:ext cx="1367578" cy="321783"/>
          </a:xfrm>
          <a:custGeom>
            <a:avLst/>
            <a:gdLst/>
            <a:ahLst/>
            <a:cxnLst/>
            <a:rect l="l" t="t" r="r" b="b"/>
            <a:pathLst>
              <a:path w="1367578" h="321783">
                <a:moveTo>
                  <a:pt x="71507" y="0"/>
                </a:moveTo>
                <a:lnTo>
                  <a:pt x="1296071" y="0"/>
                </a:lnTo>
                <a:cubicBezTo>
                  <a:pt x="1335563" y="0"/>
                  <a:pt x="1367578" y="32015"/>
                  <a:pt x="1367578" y="71507"/>
                </a:cubicBezTo>
                <a:lnTo>
                  <a:pt x="1367578" y="250276"/>
                </a:lnTo>
                <a:cubicBezTo>
                  <a:pt x="1367578" y="289768"/>
                  <a:pt x="1335563" y="321783"/>
                  <a:pt x="1296071" y="321783"/>
                </a:cubicBezTo>
                <a:lnTo>
                  <a:pt x="71507" y="321783"/>
                </a:lnTo>
                <a:cubicBezTo>
                  <a:pt x="32041" y="321783"/>
                  <a:pt x="0" y="289742"/>
                  <a:pt x="0" y="250276"/>
                </a:cubicBezTo>
                <a:lnTo>
                  <a:pt x="0" y="71507"/>
                </a:lnTo>
                <a:cubicBezTo>
                  <a:pt x="0" y="32041"/>
                  <a:pt x="32041" y="0"/>
                  <a:pt x="71507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6" name="Text 13"/>
          <p:cNvSpPr/>
          <p:nvPr/>
        </p:nvSpPr>
        <p:spPr>
          <a:xfrm>
            <a:off x="4929746" y="2323988"/>
            <a:ext cx="1430147" cy="321783"/>
          </a:xfrm>
          <a:prstGeom prst="rect">
            <a:avLst/>
          </a:prstGeom>
          <a:noFill/>
        </p:spPr>
        <p:txBody>
          <a:bodyPr wrap="square" lIns="107261" tIns="71507" rIns="107261" bIns="7150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CFO (1)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35939" y="2323988"/>
            <a:ext cx="1367578" cy="321783"/>
          </a:xfrm>
          <a:custGeom>
            <a:avLst/>
            <a:gdLst/>
            <a:ahLst/>
            <a:cxnLst/>
            <a:rect l="l" t="t" r="r" b="b"/>
            <a:pathLst>
              <a:path w="1367578" h="321783">
                <a:moveTo>
                  <a:pt x="71507" y="0"/>
                </a:moveTo>
                <a:lnTo>
                  <a:pt x="1296071" y="0"/>
                </a:lnTo>
                <a:cubicBezTo>
                  <a:pt x="1335563" y="0"/>
                  <a:pt x="1367578" y="32015"/>
                  <a:pt x="1367578" y="71507"/>
                </a:cubicBezTo>
                <a:lnTo>
                  <a:pt x="1367578" y="250276"/>
                </a:lnTo>
                <a:cubicBezTo>
                  <a:pt x="1367578" y="289768"/>
                  <a:pt x="1335563" y="321783"/>
                  <a:pt x="1296071" y="321783"/>
                </a:cubicBezTo>
                <a:lnTo>
                  <a:pt x="71507" y="321783"/>
                </a:lnTo>
                <a:cubicBezTo>
                  <a:pt x="32041" y="321783"/>
                  <a:pt x="0" y="289742"/>
                  <a:pt x="0" y="250276"/>
                </a:cubicBezTo>
                <a:lnTo>
                  <a:pt x="0" y="71507"/>
                </a:lnTo>
                <a:cubicBezTo>
                  <a:pt x="0" y="32041"/>
                  <a:pt x="32041" y="0"/>
                  <a:pt x="71507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8" name="Text 15"/>
          <p:cNvSpPr/>
          <p:nvPr/>
        </p:nvSpPr>
        <p:spPr>
          <a:xfrm>
            <a:off x="6404655" y="2323988"/>
            <a:ext cx="1430147" cy="321783"/>
          </a:xfrm>
          <a:prstGeom prst="rect">
            <a:avLst/>
          </a:prstGeom>
          <a:noFill/>
        </p:spPr>
        <p:txBody>
          <a:bodyPr wrap="square" lIns="107261" tIns="71507" rIns="107261" bIns="71507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VP People (1)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68486" y="2788786"/>
            <a:ext cx="17877" cy="143015"/>
          </a:xfrm>
          <a:custGeom>
            <a:avLst/>
            <a:gdLst/>
            <a:ahLst/>
            <a:cxnLst/>
            <a:rect l="l" t="t" r="r" b="b"/>
            <a:pathLst>
              <a:path w="17877" h="143015">
                <a:moveTo>
                  <a:pt x="0" y="0"/>
                </a:moveTo>
                <a:lnTo>
                  <a:pt x="17877" y="0"/>
                </a:lnTo>
                <a:lnTo>
                  <a:pt x="17877" y="143015"/>
                </a:lnTo>
                <a:lnTo>
                  <a:pt x="0" y="143015"/>
                </a:lnTo>
                <a:lnTo>
                  <a:pt x="0" y="0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20" name="Shape 17"/>
          <p:cNvSpPr/>
          <p:nvPr/>
        </p:nvSpPr>
        <p:spPr>
          <a:xfrm>
            <a:off x="2764764" y="2788786"/>
            <a:ext cx="17877" cy="143015"/>
          </a:xfrm>
          <a:custGeom>
            <a:avLst/>
            <a:gdLst/>
            <a:ahLst/>
            <a:cxnLst/>
            <a:rect l="l" t="t" r="r" b="b"/>
            <a:pathLst>
              <a:path w="17877" h="143015">
                <a:moveTo>
                  <a:pt x="0" y="0"/>
                </a:moveTo>
                <a:lnTo>
                  <a:pt x="17877" y="0"/>
                </a:lnTo>
                <a:lnTo>
                  <a:pt x="17877" y="143015"/>
                </a:lnTo>
                <a:lnTo>
                  <a:pt x="0" y="143015"/>
                </a:lnTo>
                <a:lnTo>
                  <a:pt x="0" y="0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21" name="Shape 18"/>
          <p:cNvSpPr/>
          <p:nvPr/>
        </p:nvSpPr>
        <p:spPr>
          <a:xfrm>
            <a:off x="4160973" y="2788786"/>
            <a:ext cx="17877" cy="143015"/>
          </a:xfrm>
          <a:custGeom>
            <a:avLst/>
            <a:gdLst/>
            <a:ahLst/>
            <a:cxnLst/>
            <a:rect l="l" t="t" r="r" b="b"/>
            <a:pathLst>
              <a:path w="17877" h="143015">
                <a:moveTo>
                  <a:pt x="0" y="0"/>
                </a:moveTo>
                <a:lnTo>
                  <a:pt x="17877" y="0"/>
                </a:lnTo>
                <a:lnTo>
                  <a:pt x="17877" y="143015"/>
                </a:lnTo>
                <a:lnTo>
                  <a:pt x="0" y="143015"/>
                </a:lnTo>
                <a:lnTo>
                  <a:pt x="0" y="0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22" name="Shape 19"/>
          <p:cNvSpPr/>
          <p:nvPr/>
        </p:nvSpPr>
        <p:spPr>
          <a:xfrm>
            <a:off x="5557251" y="2788786"/>
            <a:ext cx="17877" cy="143015"/>
          </a:xfrm>
          <a:custGeom>
            <a:avLst/>
            <a:gdLst/>
            <a:ahLst/>
            <a:cxnLst/>
            <a:rect l="l" t="t" r="r" b="b"/>
            <a:pathLst>
              <a:path w="17877" h="143015">
                <a:moveTo>
                  <a:pt x="0" y="0"/>
                </a:moveTo>
                <a:lnTo>
                  <a:pt x="17877" y="0"/>
                </a:lnTo>
                <a:lnTo>
                  <a:pt x="17877" y="143015"/>
                </a:lnTo>
                <a:lnTo>
                  <a:pt x="0" y="143015"/>
                </a:lnTo>
                <a:lnTo>
                  <a:pt x="0" y="0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23" name="Shape 20"/>
          <p:cNvSpPr/>
          <p:nvPr/>
        </p:nvSpPr>
        <p:spPr>
          <a:xfrm>
            <a:off x="6953459" y="2788786"/>
            <a:ext cx="17877" cy="143015"/>
          </a:xfrm>
          <a:custGeom>
            <a:avLst/>
            <a:gdLst/>
            <a:ahLst/>
            <a:cxnLst/>
            <a:rect l="l" t="t" r="r" b="b"/>
            <a:pathLst>
              <a:path w="17877" h="143015">
                <a:moveTo>
                  <a:pt x="0" y="0"/>
                </a:moveTo>
                <a:lnTo>
                  <a:pt x="17877" y="0"/>
                </a:lnTo>
                <a:lnTo>
                  <a:pt x="17877" y="143015"/>
                </a:lnTo>
                <a:lnTo>
                  <a:pt x="0" y="143015"/>
                </a:lnTo>
                <a:lnTo>
                  <a:pt x="0" y="0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24" name="Shape 21"/>
          <p:cNvSpPr/>
          <p:nvPr/>
        </p:nvSpPr>
        <p:spPr>
          <a:xfrm>
            <a:off x="540774" y="3079284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9490" y="3074815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Eng. Managers (3)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0774" y="3347437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9490" y="3342968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Senior Eng. (5)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0774" y="3615589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9490" y="3611120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Engineers (6)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0774" y="3883742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9490" y="3879273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DevOps (2)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008490" y="3079284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77206" y="3074815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 Mgrs (3)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2008490" y="3347437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77206" y="3342968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Designers (3)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2008490" y="3615589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977206" y="3611120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UX Research (1)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476276" y="3079284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44991" y="3074815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Sales Mgr (1)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476276" y="3347437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44991" y="3342968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Enterprise AE (3)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476276" y="3615589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44991" y="3611120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Mid-Mkt AE (3)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476276" y="3883742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4991" y="3879273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SDRs (3)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943992" y="3079284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12707" y="3074815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Controller (1)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943992" y="3347437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12707" y="3342968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Finance Analyst (1)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411777" y="3079284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80493" y="3074815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HRBP (1)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11777" y="3347437"/>
            <a:ext cx="1385455" cy="223460"/>
          </a:xfrm>
          <a:custGeom>
            <a:avLst/>
            <a:gdLst/>
            <a:ahLst/>
            <a:cxnLst/>
            <a:rect l="l" t="t" r="r" b="b"/>
            <a:pathLst>
              <a:path w="1385455" h="223460">
                <a:moveTo>
                  <a:pt x="35754" y="0"/>
                </a:moveTo>
                <a:lnTo>
                  <a:pt x="1349701" y="0"/>
                </a:lnTo>
                <a:cubicBezTo>
                  <a:pt x="1369447" y="0"/>
                  <a:pt x="1385455" y="16007"/>
                  <a:pt x="1385455" y="35754"/>
                </a:cubicBezTo>
                <a:lnTo>
                  <a:pt x="1385455" y="187707"/>
                </a:lnTo>
                <a:cubicBezTo>
                  <a:pt x="1385455" y="207453"/>
                  <a:pt x="1369447" y="223460"/>
                  <a:pt x="1349701" y="223460"/>
                </a:cubicBezTo>
                <a:lnTo>
                  <a:pt x="35754" y="223460"/>
                </a:lnTo>
                <a:cubicBezTo>
                  <a:pt x="16021" y="223460"/>
                  <a:pt x="0" y="207440"/>
                  <a:pt x="0" y="187707"/>
                </a:cubicBezTo>
                <a:lnTo>
                  <a:pt x="0" y="35754"/>
                </a:lnTo>
                <a:cubicBezTo>
                  <a:pt x="0" y="16021"/>
                  <a:pt x="16021" y="0"/>
                  <a:pt x="35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80493" y="3342968"/>
            <a:ext cx="1430147" cy="214522"/>
          </a:xfrm>
          <a:prstGeom prst="rect">
            <a:avLst/>
          </a:prstGeom>
          <a:noFill/>
        </p:spPr>
        <p:txBody>
          <a:bodyPr wrap="square" lIns="71507" tIns="35754" rIns="71507" bIns="35754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Recruiting (2)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196877" y="1179871"/>
            <a:ext cx="3637935" cy="3736258"/>
          </a:xfrm>
          <a:custGeom>
            <a:avLst/>
            <a:gdLst/>
            <a:ahLst/>
            <a:cxnLst/>
            <a:rect l="l" t="t" r="r" b="b"/>
            <a:pathLst>
              <a:path w="3637935" h="3736258">
                <a:moveTo>
                  <a:pt x="71522" y="0"/>
                </a:moveTo>
                <a:lnTo>
                  <a:pt x="3566414" y="0"/>
                </a:lnTo>
                <a:cubicBezTo>
                  <a:pt x="3605888" y="0"/>
                  <a:pt x="3637935" y="32048"/>
                  <a:pt x="3637935" y="71522"/>
                </a:cubicBezTo>
                <a:lnTo>
                  <a:pt x="3637935" y="3664736"/>
                </a:lnTo>
                <a:cubicBezTo>
                  <a:pt x="3637935" y="3704237"/>
                  <a:pt x="3605914" y="3736258"/>
                  <a:pt x="3566414" y="3736258"/>
                </a:cubicBezTo>
                <a:lnTo>
                  <a:pt x="71522" y="3736258"/>
                </a:lnTo>
                <a:cubicBezTo>
                  <a:pt x="32048" y="3736258"/>
                  <a:pt x="0" y="3704210"/>
                  <a:pt x="0" y="3664736"/>
                </a:cubicBezTo>
                <a:lnTo>
                  <a:pt x="0" y="71522"/>
                </a:lnTo>
                <a:cubicBezTo>
                  <a:pt x="0" y="32048"/>
                  <a:pt x="32048" y="0"/>
                  <a:pt x="71522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5" name="Shape 52"/>
          <p:cNvSpPr/>
          <p:nvPr/>
        </p:nvSpPr>
        <p:spPr>
          <a:xfrm>
            <a:off x="8420337" y="1394393"/>
            <a:ext cx="134076" cy="178768"/>
          </a:xfrm>
          <a:custGeom>
            <a:avLst/>
            <a:gdLst/>
            <a:ahLst/>
            <a:cxnLst/>
            <a:rect l="l" t="t" r="r" b="b"/>
            <a:pathLst>
              <a:path w="134076" h="178768">
                <a:moveTo>
                  <a:pt x="22346" y="0"/>
                </a:moveTo>
                <a:cubicBezTo>
                  <a:pt x="10021" y="0"/>
                  <a:pt x="0" y="10021"/>
                  <a:pt x="0" y="22346"/>
                </a:cubicBezTo>
                <a:lnTo>
                  <a:pt x="0" y="156422"/>
                </a:lnTo>
                <a:cubicBezTo>
                  <a:pt x="0" y="168748"/>
                  <a:pt x="10021" y="178768"/>
                  <a:pt x="22346" y="178768"/>
                </a:cubicBezTo>
                <a:lnTo>
                  <a:pt x="111730" y="178768"/>
                </a:lnTo>
                <a:cubicBezTo>
                  <a:pt x="124055" y="178768"/>
                  <a:pt x="134076" y="168748"/>
                  <a:pt x="134076" y="156422"/>
                </a:cubicBezTo>
                <a:lnTo>
                  <a:pt x="134076" y="22346"/>
                </a:lnTo>
                <a:cubicBezTo>
                  <a:pt x="134076" y="10021"/>
                  <a:pt x="124055" y="0"/>
                  <a:pt x="111730" y="0"/>
                </a:cubicBezTo>
                <a:lnTo>
                  <a:pt x="22346" y="0"/>
                </a:lnTo>
                <a:close/>
                <a:moveTo>
                  <a:pt x="33519" y="22346"/>
                </a:moveTo>
                <a:lnTo>
                  <a:pt x="100557" y="22346"/>
                </a:lnTo>
                <a:cubicBezTo>
                  <a:pt x="106737" y="22346"/>
                  <a:pt x="111730" y="27339"/>
                  <a:pt x="111730" y="33519"/>
                </a:cubicBezTo>
                <a:lnTo>
                  <a:pt x="111730" y="44692"/>
                </a:lnTo>
                <a:cubicBezTo>
                  <a:pt x="111730" y="50872"/>
                  <a:pt x="106737" y="55865"/>
                  <a:pt x="100557" y="55865"/>
                </a:cubicBezTo>
                <a:lnTo>
                  <a:pt x="33519" y="55865"/>
                </a:lnTo>
                <a:cubicBezTo>
                  <a:pt x="27339" y="55865"/>
                  <a:pt x="22346" y="50872"/>
                  <a:pt x="22346" y="44692"/>
                </a:cubicBezTo>
                <a:lnTo>
                  <a:pt x="22346" y="33519"/>
                </a:lnTo>
                <a:cubicBezTo>
                  <a:pt x="22346" y="27339"/>
                  <a:pt x="27339" y="22346"/>
                  <a:pt x="33519" y="22346"/>
                </a:cubicBezTo>
                <a:close/>
                <a:moveTo>
                  <a:pt x="39106" y="81004"/>
                </a:moveTo>
                <a:cubicBezTo>
                  <a:pt x="39106" y="85629"/>
                  <a:pt x="35351" y="89384"/>
                  <a:pt x="30726" y="89384"/>
                </a:cubicBezTo>
                <a:cubicBezTo>
                  <a:pt x="26101" y="89384"/>
                  <a:pt x="22346" y="85629"/>
                  <a:pt x="22346" y="81004"/>
                </a:cubicBezTo>
                <a:cubicBezTo>
                  <a:pt x="22346" y="76379"/>
                  <a:pt x="26101" y="72625"/>
                  <a:pt x="30726" y="72625"/>
                </a:cubicBezTo>
                <a:cubicBezTo>
                  <a:pt x="35351" y="72625"/>
                  <a:pt x="39106" y="76379"/>
                  <a:pt x="39106" y="81004"/>
                </a:cubicBezTo>
                <a:close/>
                <a:moveTo>
                  <a:pt x="67038" y="89384"/>
                </a:moveTo>
                <a:cubicBezTo>
                  <a:pt x="62413" y="89384"/>
                  <a:pt x="58658" y="85629"/>
                  <a:pt x="58658" y="81004"/>
                </a:cubicBezTo>
                <a:cubicBezTo>
                  <a:pt x="58658" y="76379"/>
                  <a:pt x="62413" y="72625"/>
                  <a:pt x="67038" y="72625"/>
                </a:cubicBezTo>
                <a:cubicBezTo>
                  <a:pt x="71663" y="72625"/>
                  <a:pt x="75418" y="76379"/>
                  <a:pt x="75418" y="81004"/>
                </a:cubicBezTo>
                <a:cubicBezTo>
                  <a:pt x="75418" y="85629"/>
                  <a:pt x="71663" y="89384"/>
                  <a:pt x="67038" y="89384"/>
                </a:cubicBezTo>
                <a:close/>
                <a:moveTo>
                  <a:pt x="111730" y="81004"/>
                </a:moveTo>
                <a:cubicBezTo>
                  <a:pt x="111730" y="85629"/>
                  <a:pt x="107975" y="89384"/>
                  <a:pt x="103350" y="89384"/>
                </a:cubicBezTo>
                <a:cubicBezTo>
                  <a:pt x="98726" y="89384"/>
                  <a:pt x="94971" y="85629"/>
                  <a:pt x="94971" y="81004"/>
                </a:cubicBezTo>
                <a:cubicBezTo>
                  <a:pt x="94971" y="76379"/>
                  <a:pt x="98726" y="72625"/>
                  <a:pt x="103350" y="72625"/>
                </a:cubicBezTo>
                <a:cubicBezTo>
                  <a:pt x="107975" y="72625"/>
                  <a:pt x="111730" y="76379"/>
                  <a:pt x="111730" y="81004"/>
                </a:cubicBezTo>
                <a:close/>
                <a:moveTo>
                  <a:pt x="30726" y="122903"/>
                </a:moveTo>
                <a:cubicBezTo>
                  <a:pt x="26101" y="122903"/>
                  <a:pt x="22346" y="119148"/>
                  <a:pt x="22346" y="114523"/>
                </a:cubicBezTo>
                <a:cubicBezTo>
                  <a:pt x="22346" y="109899"/>
                  <a:pt x="26101" y="106144"/>
                  <a:pt x="30726" y="106144"/>
                </a:cubicBezTo>
                <a:cubicBezTo>
                  <a:pt x="35351" y="106144"/>
                  <a:pt x="39106" y="109899"/>
                  <a:pt x="39106" y="114523"/>
                </a:cubicBezTo>
                <a:cubicBezTo>
                  <a:pt x="39106" y="119148"/>
                  <a:pt x="35351" y="122903"/>
                  <a:pt x="30726" y="122903"/>
                </a:cubicBezTo>
                <a:close/>
                <a:moveTo>
                  <a:pt x="75418" y="114523"/>
                </a:moveTo>
                <a:cubicBezTo>
                  <a:pt x="75418" y="119148"/>
                  <a:pt x="71663" y="122903"/>
                  <a:pt x="67038" y="122903"/>
                </a:cubicBezTo>
                <a:cubicBezTo>
                  <a:pt x="62413" y="122903"/>
                  <a:pt x="58658" y="119148"/>
                  <a:pt x="58658" y="114523"/>
                </a:cubicBezTo>
                <a:cubicBezTo>
                  <a:pt x="58658" y="109899"/>
                  <a:pt x="62413" y="106144"/>
                  <a:pt x="67038" y="106144"/>
                </a:cubicBezTo>
                <a:cubicBezTo>
                  <a:pt x="71663" y="106144"/>
                  <a:pt x="75418" y="109899"/>
                  <a:pt x="75418" y="114523"/>
                </a:cubicBezTo>
                <a:close/>
                <a:moveTo>
                  <a:pt x="103350" y="122903"/>
                </a:moveTo>
                <a:cubicBezTo>
                  <a:pt x="98726" y="122903"/>
                  <a:pt x="94971" y="119148"/>
                  <a:pt x="94971" y="114523"/>
                </a:cubicBezTo>
                <a:cubicBezTo>
                  <a:pt x="94971" y="109899"/>
                  <a:pt x="98726" y="106144"/>
                  <a:pt x="103350" y="106144"/>
                </a:cubicBezTo>
                <a:cubicBezTo>
                  <a:pt x="107975" y="106144"/>
                  <a:pt x="111730" y="109899"/>
                  <a:pt x="111730" y="114523"/>
                </a:cubicBezTo>
                <a:cubicBezTo>
                  <a:pt x="111730" y="119148"/>
                  <a:pt x="107975" y="122903"/>
                  <a:pt x="103350" y="122903"/>
                </a:cubicBezTo>
                <a:close/>
                <a:moveTo>
                  <a:pt x="22346" y="148043"/>
                </a:moveTo>
                <a:cubicBezTo>
                  <a:pt x="22346" y="143399"/>
                  <a:pt x="26082" y="139663"/>
                  <a:pt x="30726" y="139663"/>
                </a:cubicBezTo>
                <a:lnTo>
                  <a:pt x="69831" y="139663"/>
                </a:lnTo>
                <a:cubicBezTo>
                  <a:pt x="74475" y="139663"/>
                  <a:pt x="78211" y="143399"/>
                  <a:pt x="78211" y="148043"/>
                </a:cubicBezTo>
                <a:cubicBezTo>
                  <a:pt x="78211" y="152686"/>
                  <a:pt x="74475" y="156422"/>
                  <a:pt x="69831" y="156422"/>
                </a:cubicBezTo>
                <a:lnTo>
                  <a:pt x="30726" y="156422"/>
                </a:lnTo>
                <a:cubicBezTo>
                  <a:pt x="26082" y="156422"/>
                  <a:pt x="22346" y="152686"/>
                  <a:pt x="22346" y="148043"/>
                </a:cubicBezTo>
                <a:close/>
                <a:moveTo>
                  <a:pt x="103350" y="139663"/>
                </a:moveTo>
                <a:cubicBezTo>
                  <a:pt x="107994" y="139663"/>
                  <a:pt x="111730" y="143399"/>
                  <a:pt x="111730" y="148043"/>
                </a:cubicBezTo>
                <a:cubicBezTo>
                  <a:pt x="111730" y="152686"/>
                  <a:pt x="107994" y="156422"/>
                  <a:pt x="103350" y="156422"/>
                </a:cubicBezTo>
                <a:cubicBezTo>
                  <a:pt x="98707" y="156422"/>
                  <a:pt x="94971" y="152686"/>
                  <a:pt x="94971" y="148043"/>
                </a:cubicBezTo>
                <a:cubicBezTo>
                  <a:pt x="94971" y="143399"/>
                  <a:pt x="98707" y="139663"/>
                  <a:pt x="103350" y="1396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3"/>
          <p:cNvSpPr/>
          <p:nvPr/>
        </p:nvSpPr>
        <p:spPr>
          <a:xfrm>
            <a:off x="8599106" y="1358639"/>
            <a:ext cx="3146323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Headcount Breakdown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75645" y="2078182"/>
            <a:ext cx="3280399" cy="8938"/>
          </a:xfrm>
          <a:custGeom>
            <a:avLst/>
            <a:gdLst/>
            <a:ahLst/>
            <a:cxnLst/>
            <a:rect l="l" t="t" r="r" b="b"/>
            <a:pathLst>
              <a:path w="3280399" h="8938">
                <a:moveTo>
                  <a:pt x="0" y="0"/>
                </a:moveTo>
                <a:lnTo>
                  <a:pt x="3280399" y="0"/>
                </a:lnTo>
                <a:lnTo>
                  <a:pt x="3280399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58" name="Text 55"/>
          <p:cNvSpPr/>
          <p:nvPr/>
        </p:nvSpPr>
        <p:spPr>
          <a:xfrm>
            <a:off x="8375645" y="1769806"/>
            <a:ext cx="786581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1495292" y="1751930"/>
            <a:ext cx="250276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375645" y="2516164"/>
            <a:ext cx="3280399" cy="8938"/>
          </a:xfrm>
          <a:custGeom>
            <a:avLst/>
            <a:gdLst/>
            <a:ahLst/>
            <a:cxnLst/>
            <a:rect l="l" t="t" r="r" b="b"/>
            <a:pathLst>
              <a:path w="3280399" h="8938">
                <a:moveTo>
                  <a:pt x="0" y="0"/>
                </a:moveTo>
                <a:lnTo>
                  <a:pt x="3280399" y="0"/>
                </a:lnTo>
                <a:lnTo>
                  <a:pt x="3280399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61" name="Text 58"/>
          <p:cNvSpPr/>
          <p:nvPr/>
        </p:nvSpPr>
        <p:spPr>
          <a:xfrm>
            <a:off x="8375645" y="2207789"/>
            <a:ext cx="393290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Sales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1504021" y="2189912"/>
            <a:ext cx="241337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375645" y="2954147"/>
            <a:ext cx="3280399" cy="8938"/>
          </a:xfrm>
          <a:custGeom>
            <a:avLst/>
            <a:gdLst/>
            <a:ahLst/>
            <a:cxnLst/>
            <a:rect l="l" t="t" r="r" b="b"/>
            <a:pathLst>
              <a:path w="3280399" h="8938">
                <a:moveTo>
                  <a:pt x="0" y="0"/>
                </a:moveTo>
                <a:lnTo>
                  <a:pt x="3280399" y="0"/>
                </a:lnTo>
                <a:lnTo>
                  <a:pt x="3280399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64" name="Text 61"/>
          <p:cNvSpPr/>
          <p:nvPr/>
        </p:nvSpPr>
        <p:spPr>
          <a:xfrm>
            <a:off x="8375645" y="2645771"/>
            <a:ext cx="1144117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 &amp; Design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1570012" y="2627894"/>
            <a:ext cx="169830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8375645" y="3392129"/>
            <a:ext cx="3280399" cy="8938"/>
          </a:xfrm>
          <a:custGeom>
            <a:avLst/>
            <a:gdLst/>
            <a:ahLst/>
            <a:cxnLst/>
            <a:rect l="l" t="t" r="r" b="b"/>
            <a:pathLst>
              <a:path w="3280399" h="8938">
                <a:moveTo>
                  <a:pt x="0" y="0"/>
                </a:moveTo>
                <a:lnTo>
                  <a:pt x="3280399" y="0"/>
                </a:lnTo>
                <a:lnTo>
                  <a:pt x="3280399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67" name="Text 64"/>
          <p:cNvSpPr/>
          <p:nvPr/>
        </p:nvSpPr>
        <p:spPr>
          <a:xfrm>
            <a:off x="8375645" y="3083754"/>
            <a:ext cx="545243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Finance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1560655" y="3065877"/>
            <a:ext cx="178768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375645" y="3830111"/>
            <a:ext cx="3280399" cy="8938"/>
          </a:xfrm>
          <a:custGeom>
            <a:avLst/>
            <a:gdLst/>
            <a:ahLst/>
            <a:cxnLst/>
            <a:rect l="l" t="t" r="r" b="b"/>
            <a:pathLst>
              <a:path w="3280399" h="8938">
                <a:moveTo>
                  <a:pt x="0" y="0"/>
                </a:moveTo>
                <a:lnTo>
                  <a:pt x="3280399" y="0"/>
                </a:lnTo>
                <a:lnTo>
                  <a:pt x="3280399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70" name="Text 67"/>
          <p:cNvSpPr/>
          <p:nvPr/>
        </p:nvSpPr>
        <p:spPr>
          <a:xfrm>
            <a:off x="8375645" y="3521736"/>
            <a:ext cx="804457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People (HR)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11556046" y="3503859"/>
            <a:ext cx="187707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8375645" y="4268094"/>
            <a:ext cx="3280399" cy="8938"/>
          </a:xfrm>
          <a:custGeom>
            <a:avLst/>
            <a:gdLst/>
            <a:ahLst/>
            <a:cxnLst/>
            <a:rect l="l" t="t" r="r" b="b"/>
            <a:pathLst>
              <a:path w="3280399" h="8938">
                <a:moveTo>
                  <a:pt x="0" y="0"/>
                </a:moveTo>
                <a:lnTo>
                  <a:pt x="3280399" y="0"/>
                </a:lnTo>
                <a:lnTo>
                  <a:pt x="3280399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73" name="Text 70"/>
          <p:cNvSpPr/>
          <p:nvPr/>
        </p:nvSpPr>
        <p:spPr>
          <a:xfrm>
            <a:off x="8375645" y="3959718"/>
            <a:ext cx="1045795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Executive Team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11595012" y="3941842"/>
            <a:ext cx="143015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8375645" y="4469208"/>
            <a:ext cx="554182" cy="250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11427277" y="4451331"/>
            <a:ext cx="330721" cy="2860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0" b="1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45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8214754" y="5059144"/>
            <a:ext cx="3620059" cy="1394393"/>
          </a:xfrm>
          <a:custGeom>
            <a:avLst/>
            <a:gdLst/>
            <a:ahLst/>
            <a:cxnLst/>
            <a:rect l="l" t="t" r="r" b="b"/>
            <a:pathLst>
              <a:path w="3620059" h="1394393">
                <a:moveTo>
                  <a:pt x="35754" y="0"/>
                </a:moveTo>
                <a:lnTo>
                  <a:pt x="3548554" y="0"/>
                </a:lnTo>
                <a:cubicBezTo>
                  <a:pt x="3588045" y="0"/>
                  <a:pt x="3620059" y="32014"/>
                  <a:pt x="3620059" y="71504"/>
                </a:cubicBezTo>
                <a:lnTo>
                  <a:pt x="3620059" y="1322888"/>
                </a:lnTo>
                <a:cubicBezTo>
                  <a:pt x="3620059" y="1362379"/>
                  <a:pt x="3588045" y="1394393"/>
                  <a:pt x="3548554" y="1394393"/>
                </a:cubicBezTo>
                <a:lnTo>
                  <a:pt x="35754" y="1394393"/>
                </a:lnTo>
                <a:cubicBezTo>
                  <a:pt x="16007" y="1394393"/>
                  <a:pt x="0" y="1378386"/>
                  <a:pt x="0" y="1358639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78" name="Shape 75"/>
          <p:cNvSpPr/>
          <p:nvPr/>
        </p:nvSpPr>
        <p:spPr>
          <a:xfrm>
            <a:off x="8214754" y="5059144"/>
            <a:ext cx="35754" cy="1394393"/>
          </a:xfrm>
          <a:custGeom>
            <a:avLst/>
            <a:gdLst/>
            <a:ahLst/>
            <a:cxnLst/>
            <a:rect l="l" t="t" r="r" b="b"/>
            <a:pathLst>
              <a:path w="35754" h="1394393">
                <a:moveTo>
                  <a:pt x="35754" y="0"/>
                </a:moveTo>
                <a:lnTo>
                  <a:pt x="35754" y="0"/>
                </a:lnTo>
                <a:lnTo>
                  <a:pt x="35754" y="1394393"/>
                </a:lnTo>
                <a:lnTo>
                  <a:pt x="35754" y="1394393"/>
                </a:lnTo>
                <a:cubicBezTo>
                  <a:pt x="16007" y="1394393"/>
                  <a:pt x="0" y="1378386"/>
                  <a:pt x="0" y="1358639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79" name="Text 76"/>
          <p:cNvSpPr/>
          <p:nvPr/>
        </p:nvSpPr>
        <p:spPr>
          <a:xfrm>
            <a:off x="8375645" y="5202158"/>
            <a:ext cx="3387660" cy="2145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Notes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8375645" y="5488188"/>
            <a:ext cx="3378721" cy="178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Customer Success (2) reports to VP Sales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8375645" y="5702710"/>
            <a:ext cx="3378721" cy="178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Engineering Managers have 5-6 direct reports each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375645" y="5917232"/>
            <a:ext cx="3378721" cy="178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Sales Manager oversees 9 AEs + 3 SDRs</a:t>
            </a:r>
            <a:endParaRPr lang="en-US" sz="1600" dirty="0"/>
          </a:p>
        </p:txBody>
      </p:sp>
      <p:sp>
        <p:nvSpPr>
          <p:cNvPr id="83" name="Text 80"/>
          <p:cNvSpPr/>
          <p:nvPr/>
        </p:nvSpPr>
        <p:spPr>
          <a:xfrm>
            <a:off x="8375645" y="6131754"/>
            <a:ext cx="3378721" cy="178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No open VP-level positions</a:t>
            </a:r>
            <a:endParaRPr lang="en-US" sz="1600" dirty="0"/>
          </a:p>
        </p:txBody>
      </p:sp>
      <p:sp>
        <p:nvSpPr>
          <p:cNvPr id="84" name="Shape 81"/>
          <p:cNvSpPr/>
          <p:nvPr/>
        </p:nvSpPr>
        <p:spPr>
          <a:xfrm>
            <a:off x="357537" y="6565267"/>
            <a:ext cx="11476927" cy="8938"/>
          </a:xfrm>
          <a:custGeom>
            <a:avLst/>
            <a:gdLst/>
            <a:ahLst/>
            <a:cxnLst/>
            <a:rect l="l" t="t" r="r" b="b"/>
            <a:pathLst>
              <a:path w="11476927" h="8938">
                <a:moveTo>
                  <a:pt x="0" y="0"/>
                </a:moveTo>
                <a:lnTo>
                  <a:pt x="11476927" y="0"/>
                </a:lnTo>
                <a:lnTo>
                  <a:pt x="11476927" y="8938"/>
                </a:lnTo>
                <a:lnTo>
                  <a:pt x="0" y="8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85" name="Text 82"/>
          <p:cNvSpPr/>
          <p:nvPr/>
        </p:nvSpPr>
        <p:spPr>
          <a:xfrm>
            <a:off x="357537" y="6676997"/>
            <a:ext cx="11539496" cy="178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Verification:</a:t>
            </a:r>
            <a:r>
              <a:rPr lang="en-US" sz="98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Engineering (18) + Sales (12) + Product/Design (7) + Finance (2) + People (3) + Executive (1) + CS (2) = </a:t>
            </a:r>
            <a:r>
              <a:rPr lang="en-US" sz="98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45 Total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2975644" cy="361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Hiring Progress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795917"/>
            <a:ext cx="2894243" cy="253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2026 Recruitment Status by Function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247343" y="416047"/>
            <a:ext cx="578849" cy="578849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61780" y="1284320"/>
            <a:ext cx="3681116" cy="3608760"/>
          </a:xfrm>
          <a:custGeom>
            <a:avLst/>
            <a:gdLst/>
            <a:ahLst/>
            <a:cxnLst/>
            <a:rect l="l" t="t" r="r" b="b"/>
            <a:pathLst>
              <a:path w="3681116" h="3608760">
                <a:moveTo>
                  <a:pt x="36178" y="0"/>
                </a:moveTo>
                <a:lnTo>
                  <a:pt x="3644938" y="0"/>
                </a:lnTo>
                <a:cubicBezTo>
                  <a:pt x="3664918" y="0"/>
                  <a:pt x="3681116" y="16197"/>
                  <a:pt x="3681116" y="36178"/>
                </a:cubicBezTo>
                <a:lnTo>
                  <a:pt x="3681116" y="3536404"/>
                </a:lnTo>
                <a:cubicBezTo>
                  <a:pt x="3681116" y="3576365"/>
                  <a:pt x="3648721" y="3608760"/>
                  <a:pt x="3608760" y="3608760"/>
                </a:cubicBezTo>
                <a:lnTo>
                  <a:pt x="72356" y="3608760"/>
                </a:lnTo>
                <a:cubicBezTo>
                  <a:pt x="32395" y="3608760"/>
                  <a:pt x="0" y="3576365"/>
                  <a:pt x="0" y="353640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" name="Shape 3"/>
          <p:cNvSpPr/>
          <p:nvPr/>
        </p:nvSpPr>
        <p:spPr>
          <a:xfrm>
            <a:off x="361780" y="1284320"/>
            <a:ext cx="3681116" cy="36178"/>
          </a:xfrm>
          <a:custGeom>
            <a:avLst/>
            <a:gdLst/>
            <a:ahLst/>
            <a:cxnLst/>
            <a:rect l="l" t="t" r="r" b="b"/>
            <a:pathLst>
              <a:path w="3681116" h="36178">
                <a:moveTo>
                  <a:pt x="36178" y="0"/>
                </a:moveTo>
                <a:lnTo>
                  <a:pt x="3644938" y="0"/>
                </a:lnTo>
                <a:cubicBezTo>
                  <a:pt x="3664918" y="0"/>
                  <a:pt x="3681116" y="16197"/>
                  <a:pt x="3681116" y="36178"/>
                </a:cubicBezTo>
                <a:lnTo>
                  <a:pt x="3681116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7" name="Text 4"/>
          <p:cNvSpPr/>
          <p:nvPr/>
        </p:nvSpPr>
        <p:spPr>
          <a:xfrm>
            <a:off x="542671" y="1483300"/>
            <a:ext cx="1049163" cy="253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39222" y="1483300"/>
            <a:ext cx="714516" cy="253246"/>
          </a:xfrm>
          <a:custGeom>
            <a:avLst/>
            <a:gdLst/>
            <a:ahLst/>
            <a:cxnLst/>
            <a:rect l="l" t="t" r="r" b="b"/>
            <a:pathLst>
              <a:path w="714516" h="253246">
                <a:moveTo>
                  <a:pt x="126623" y="0"/>
                </a:moveTo>
                <a:lnTo>
                  <a:pt x="587893" y="0"/>
                </a:lnTo>
                <a:cubicBezTo>
                  <a:pt x="657778" y="0"/>
                  <a:pt x="714516" y="56738"/>
                  <a:pt x="714516" y="126623"/>
                </a:cubicBezTo>
                <a:lnTo>
                  <a:pt x="714516" y="126623"/>
                </a:lnTo>
                <a:cubicBezTo>
                  <a:pt x="714516" y="196508"/>
                  <a:pt x="657778" y="253246"/>
                  <a:pt x="587893" y="253246"/>
                </a:cubicBezTo>
                <a:lnTo>
                  <a:pt x="126623" y="253246"/>
                </a:lnTo>
                <a:cubicBezTo>
                  <a:pt x="56738" y="253246"/>
                  <a:pt x="0" y="196508"/>
                  <a:pt x="0" y="126623"/>
                </a:cubicBezTo>
                <a:lnTo>
                  <a:pt x="0" y="126623"/>
                </a:lnTo>
                <a:cubicBezTo>
                  <a:pt x="0" y="56738"/>
                  <a:pt x="56738" y="0"/>
                  <a:pt x="126623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9" name="Text 6"/>
          <p:cNvSpPr/>
          <p:nvPr/>
        </p:nvSpPr>
        <p:spPr>
          <a:xfrm>
            <a:off x="3139222" y="1483300"/>
            <a:ext cx="777828" cy="253246"/>
          </a:xfrm>
          <a:prstGeom prst="rect">
            <a:avLst/>
          </a:prstGeom>
          <a:noFill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4/4 Filled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0760" y="191743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1" name="Text 8"/>
          <p:cNvSpPr/>
          <p:nvPr/>
        </p:nvSpPr>
        <p:spPr>
          <a:xfrm>
            <a:off x="795917" y="1908392"/>
            <a:ext cx="1613880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Senior Backend Engineer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671" y="2206861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Jan 15 | Time-to-fill: 38 days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0760" y="2532463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4" name="Text 11"/>
          <p:cNvSpPr/>
          <p:nvPr/>
        </p:nvSpPr>
        <p:spPr>
          <a:xfrm>
            <a:off x="795917" y="2523418"/>
            <a:ext cx="840927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ML Engineer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2671" y="2821887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Feb 1 | Time-to-fill: 52 days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0760" y="3147490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7" name="Text 14"/>
          <p:cNvSpPr/>
          <p:nvPr/>
        </p:nvSpPr>
        <p:spPr>
          <a:xfrm>
            <a:off x="795917" y="3138445"/>
            <a:ext cx="1157132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DevOps Engineer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2671" y="3436914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Feb 20 | Time-to-fill: 41 days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0760" y="376251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0" name="Text 17"/>
          <p:cNvSpPr/>
          <p:nvPr/>
        </p:nvSpPr>
        <p:spPr>
          <a:xfrm>
            <a:off x="795917" y="3753472"/>
            <a:ext cx="1211964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Frontend Engineer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2671" y="4051941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Mar 8 | Time-to-fill: 35 days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2671" y="4382065"/>
            <a:ext cx="3319335" cy="9045"/>
          </a:xfrm>
          <a:custGeom>
            <a:avLst/>
            <a:gdLst/>
            <a:ahLst/>
            <a:cxnLst/>
            <a:rect l="l" t="t" r="r" b="b"/>
            <a:pathLst>
              <a:path w="3319335" h="9045">
                <a:moveTo>
                  <a:pt x="0" y="0"/>
                </a:moveTo>
                <a:lnTo>
                  <a:pt x="3319335" y="0"/>
                </a:lnTo>
                <a:lnTo>
                  <a:pt x="3319335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23" name="Text 20"/>
          <p:cNvSpPr/>
          <p:nvPr/>
        </p:nvSpPr>
        <p:spPr>
          <a:xfrm>
            <a:off x="542671" y="4531300"/>
            <a:ext cx="723561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 Roles: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735682" y="4531300"/>
            <a:ext cx="1184831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 (Principal Engineer)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55583" y="1284320"/>
            <a:ext cx="3681116" cy="3608760"/>
          </a:xfrm>
          <a:custGeom>
            <a:avLst/>
            <a:gdLst/>
            <a:ahLst/>
            <a:cxnLst/>
            <a:rect l="l" t="t" r="r" b="b"/>
            <a:pathLst>
              <a:path w="3681116" h="3608760">
                <a:moveTo>
                  <a:pt x="36178" y="0"/>
                </a:moveTo>
                <a:lnTo>
                  <a:pt x="3644938" y="0"/>
                </a:lnTo>
                <a:cubicBezTo>
                  <a:pt x="3664918" y="0"/>
                  <a:pt x="3681116" y="16197"/>
                  <a:pt x="3681116" y="36178"/>
                </a:cubicBezTo>
                <a:lnTo>
                  <a:pt x="3681116" y="3536404"/>
                </a:lnTo>
                <a:cubicBezTo>
                  <a:pt x="3681116" y="3576365"/>
                  <a:pt x="3648721" y="3608760"/>
                  <a:pt x="3608760" y="3608760"/>
                </a:cubicBezTo>
                <a:lnTo>
                  <a:pt x="72356" y="3608760"/>
                </a:lnTo>
                <a:cubicBezTo>
                  <a:pt x="32395" y="3608760"/>
                  <a:pt x="0" y="3576365"/>
                  <a:pt x="0" y="353640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6" name="Shape 23"/>
          <p:cNvSpPr/>
          <p:nvPr/>
        </p:nvSpPr>
        <p:spPr>
          <a:xfrm>
            <a:off x="4255583" y="1284320"/>
            <a:ext cx="3681116" cy="36178"/>
          </a:xfrm>
          <a:custGeom>
            <a:avLst/>
            <a:gdLst/>
            <a:ahLst/>
            <a:cxnLst/>
            <a:rect l="l" t="t" r="r" b="b"/>
            <a:pathLst>
              <a:path w="3681116" h="36178">
                <a:moveTo>
                  <a:pt x="36178" y="0"/>
                </a:moveTo>
                <a:lnTo>
                  <a:pt x="3644938" y="0"/>
                </a:lnTo>
                <a:cubicBezTo>
                  <a:pt x="3664918" y="0"/>
                  <a:pt x="3681116" y="16197"/>
                  <a:pt x="3681116" y="36178"/>
                </a:cubicBezTo>
                <a:lnTo>
                  <a:pt x="3681116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27" name="Text 24"/>
          <p:cNvSpPr/>
          <p:nvPr/>
        </p:nvSpPr>
        <p:spPr>
          <a:xfrm>
            <a:off x="4436474" y="1483300"/>
            <a:ext cx="723561" cy="253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081428" y="1483300"/>
            <a:ext cx="669294" cy="253246"/>
          </a:xfrm>
          <a:custGeom>
            <a:avLst/>
            <a:gdLst/>
            <a:ahLst/>
            <a:cxnLst/>
            <a:rect l="l" t="t" r="r" b="b"/>
            <a:pathLst>
              <a:path w="669294" h="253246">
                <a:moveTo>
                  <a:pt x="126623" y="0"/>
                </a:moveTo>
                <a:lnTo>
                  <a:pt x="542671" y="0"/>
                </a:lnTo>
                <a:cubicBezTo>
                  <a:pt x="612556" y="0"/>
                  <a:pt x="669294" y="56738"/>
                  <a:pt x="669294" y="126623"/>
                </a:cubicBezTo>
                <a:lnTo>
                  <a:pt x="669294" y="126623"/>
                </a:lnTo>
                <a:cubicBezTo>
                  <a:pt x="669294" y="196508"/>
                  <a:pt x="612556" y="253246"/>
                  <a:pt x="542671" y="253246"/>
                </a:cubicBezTo>
                <a:lnTo>
                  <a:pt x="126623" y="253246"/>
                </a:lnTo>
                <a:cubicBezTo>
                  <a:pt x="56738" y="253246"/>
                  <a:pt x="0" y="196508"/>
                  <a:pt x="0" y="126623"/>
                </a:cubicBezTo>
                <a:lnTo>
                  <a:pt x="0" y="126623"/>
                </a:lnTo>
                <a:cubicBezTo>
                  <a:pt x="0" y="56738"/>
                  <a:pt x="56738" y="0"/>
                  <a:pt x="126623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9" name="Text 26"/>
          <p:cNvSpPr/>
          <p:nvPr/>
        </p:nvSpPr>
        <p:spPr>
          <a:xfrm>
            <a:off x="7081428" y="1483300"/>
            <a:ext cx="732605" cy="253246"/>
          </a:xfrm>
          <a:prstGeom prst="rect">
            <a:avLst/>
          </a:prstGeom>
          <a:noFill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1/1 Filled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54563" y="191743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31" name="Text 28"/>
          <p:cNvSpPr/>
          <p:nvPr/>
        </p:nvSpPr>
        <p:spPr>
          <a:xfrm>
            <a:off x="4689720" y="1908392"/>
            <a:ext cx="1855679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 Manager — Platform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436474" y="2206861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Jan 22 | Time-to-fill: 45 days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36474" y="2681697"/>
            <a:ext cx="3319335" cy="9045"/>
          </a:xfrm>
          <a:custGeom>
            <a:avLst/>
            <a:gdLst/>
            <a:ahLst/>
            <a:cxnLst/>
            <a:rect l="l" t="t" r="r" b="b"/>
            <a:pathLst>
              <a:path w="3319335" h="9045">
                <a:moveTo>
                  <a:pt x="0" y="0"/>
                </a:moveTo>
                <a:lnTo>
                  <a:pt x="3319335" y="0"/>
                </a:lnTo>
                <a:lnTo>
                  <a:pt x="3319335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34" name="Text 31"/>
          <p:cNvSpPr/>
          <p:nvPr/>
        </p:nvSpPr>
        <p:spPr>
          <a:xfrm>
            <a:off x="4436474" y="2830932"/>
            <a:ext cx="723561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 Roles: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51641" y="2830932"/>
            <a:ext cx="958718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 (PM — Growth)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54563" y="3106789"/>
            <a:ext cx="126623" cy="126623"/>
          </a:xfrm>
          <a:custGeom>
            <a:avLst/>
            <a:gdLst/>
            <a:ahLst/>
            <a:cxnLst/>
            <a:rect l="l" t="t" r="r" b="b"/>
            <a:pathLst>
              <a:path w="126623" h="126623">
                <a:moveTo>
                  <a:pt x="63312" y="126623"/>
                </a:moveTo>
                <a:cubicBezTo>
                  <a:pt x="98254" y="126623"/>
                  <a:pt x="126623" y="98254"/>
                  <a:pt x="126623" y="63312"/>
                </a:cubicBezTo>
                <a:cubicBezTo>
                  <a:pt x="126623" y="28369"/>
                  <a:pt x="98254" y="0"/>
                  <a:pt x="63312" y="0"/>
                </a:cubicBezTo>
                <a:cubicBezTo>
                  <a:pt x="28369" y="0"/>
                  <a:pt x="0" y="28369"/>
                  <a:pt x="0" y="63312"/>
                </a:cubicBezTo>
                <a:cubicBezTo>
                  <a:pt x="0" y="98254"/>
                  <a:pt x="28369" y="126623"/>
                  <a:pt x="63312" y="126623"/>
                </a:cubicBezTo>
                <a:close/>
                <a:moveTo>
                  <a:pt x="55398" y="39570"/>
                </a:moveTo>
                <a:cubicBezTo>
                  <a:pt x="55398" y="35202"/>
                  <a:pt x="58944" y="31656"/>
                  <a:pt x="63312" y="31656"/>
                </a:cubicBezTo>
                <a:cubicBezTo>
                  <a:pt x="67679" y="31656"/>
                  <a:pt x="71226" y="35202"/>
                  <a:pt x="71226" y="39570"/>
                </a:cubicBezTo>
                <a:cubicBezTo>
                  <a:pt x="71226" y="43938"/>
                  <a:pt x="67679" y="47484"/>
                  <a:pt x="63312" y="47484"/>
                </a:cubicBezTo>
                <a:cubicBezTo>
                  <a:pt x="58944" y="47484"/>
                  <a:pt x="55398" y="43938"/>
                  <a:pt x="55398" y="39570"/>
                </a:cubicBezTo>
                <a:close/>
                <a:moveTo>
                  <a:pt x="53419" y="55398"/>
                </a:moveTo>
                <a:lnTo>
                  <a:pt x="65290" y="55398"/>
                </a:lnTo>
                <a:cubicBezTo>
                  <a:pt x="68579" y="55398"/>
                  <a:pt x="71226" y="58044"/>
                  <a:pt x="71226" y="61333"/>
                </a:cubicBezTo>
                <a:lnTo>
                  <a:pt x="71226" y="83096"/>
                </a:lnTo>
                <a:lnTo>
                  <a:pt x="73204" y="83096"/>
                </a:lnTo>
                <a:cubicBezTo>
                  <a:pt x="76493" y="83096"/>
                  <a:pt x="79139" y="85743"/>
                  <a:pt x="79139" y="89032"/>
                </a:cubicBezTo>
                <a:cubicBezTo>
                  <a:pt x="79139" y="92321"/>
                  <a:pt x="76493" y="94967"/>
                  <a:pt x="73204" y="94967"/>
                </a:cubicBezTo>
                <a:lnTo>
                  <a:pt x="53419" y="94967"/>
                </a:lnTo>
                <a:cubicBezTo>
                  <a:pt x="50130" y="94967"/>
                  <a:pt x="47484" y="92321"/>
                  <a:pt x="47484" y="89032"/>
                </a:cubicBezTo>
                <a:cubicBezTo>
                  <a:pt x="47484" y="85743"/>
                  <a:pt x="50130" y="83096"/>
                  <a:pt x="53419" y="83096"/>
                </a:cubicBezTo>
                <a:lnTo>
                  <a:pt x="59355" y="83096"/>
                </a:lnTo>
                <a:lnTo>
                  <a:pt x="59355" y="67269"/>
                </a:lnTo>
                <a:lnTo>
                  <a:pt x="53419" y="67269"/>
                </a:lnTo>
                <a:cubicBezTo>
                  <a:pt x="50130" y="67269"/>
                  <a:pt x="47484" y="64622"/>
                  <a:pt x="47484" y="61333"/>
                </a:cubicBezTo>
                <a:cubicBezTo>
                  <a:pt x="47484" y="58044"/>
                  <a:pt x="50130" y="55398"/>
                  <a:pt x="53419" y="55398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37" name="Text 34"/>
          <p:cNvSpPr/>
          <p:nvPr/>
        </p:nvSpPr>
        <p:spPr>
          <a:xfrm>
            <a:off x="4625040" y="3084178"/>
            <a:ext cx="3194081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Deferred to Q2 pending roadmap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149386" y="1284320"/>
            <a:ext cx="3681116" cy="3608760"/>
          </a:xfrm>
          <a:custGeom>
            <a:avLst/>
            <a:gdLst/>
            <a:ahLst/>
            <a:cxnLst/>
            <a:rect l="l" t="t" r="r" b="b"/>
            <a:pathLst>
              <a:path w="3681116" h="3608760">
                <a:moveTo>
                  <a:pt x="36178" y="0"/>
                </a:moveTo>
                <a:lnTo>
                  <a:pt x="3644938" y="0"/>
                </a:lnTo>
                <a:cubicBezTo>
                  <a:pt x="3664918" y="0"/>
                  <a:pt x="3681116" y="16197"/>
                  <a:pt x="3681116" y="36178"/>
                </a:cubicBezTo>
                <a:lnTo>
                  <a:pt x="3681116" y="3536404"/>
                </a:lnTo>
                <a:cubicBezTo>
                  <a:pt x="3681116" y="3576365"/>
                  <a:pt x="3648721" y="3608760"/>
                  <a:pt x="3608760" y="3608760"/>
                </a:cubicBezTo>
                <a:lnTo>
                  <a:pt x="72356" y="3608760"/>
                </a:lnTo>
                <a:cubicBezTo>
                  <a:pt x="32395" y="3608760"/>
                  <a:pt x="0" y="3576365"/>
                  <a:pt x="0" y="3536404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39" name="Shape 36"/>
          <p:cNvSpPr/>
          <p:nvPr/>
        </p:nvSpPr>
        <p:spPr>
          <a:xfrm>
            <a:off x="8149386" y="1284320"/>
            <a:ext cx="3681116" cy="36178"/>
          </a:xfrm>
          <a:custGeom>
            <a:avLst/>
            <a:gdLst/>
            <a:ahLst/>
            <a:cxnLst/>
            <a:rect l="l" t="t" r="r" b="b"/>
            <a:pathLst>
              <a:path w="3681116" h="36178">
                <a:moveTo>
                  <a:pt x="36178" y="0"/>
                </a:moveTo>
                <a:lnTo>
                  <a:pt x="3644938" y="0"/>
                </a:lnTo>
                <a:cubicBezTo>
                  <a:pt x="3664918" y="0"/>
                  <a:pt x="3681116" y="16197"/>
                  <a:pt x="3681116" y="36178"/>
                </a:cubicBezTo>
                <a:lnTo>
                  <a:pt x="3681116" y="36178"/>
                </a:lnTo>
                <a:lnTo>
                  <a:pt x="0" y="36178"/>
                </a:ln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0" name="Text 37"/>
          <p:cNvSpPr/>
          <p:nvPr/>
        </p:nvSpPr>
        <p:spPr>
          <a:xfrm>
            <a:off x="8330277" y="1483300"/>
            <a:ext cx="524582" cy="253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Sales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0923295" y="1483300"/>
            <a:ext cx="723561" cy="253246"/>
          </a:xfrm>
          <a:custGeom>
            <a:avLst/>
            <a:gdLst/>
            <a:ahLst/>
            <a:cxnLst/>
            <a:rect l="l" t="t" r="r" b="b"/>
            <a:pathLst>
              <a:path w="723561" h="253246">
                <a:moveTo>
                  <a:pt x="126623" y="0"/>
                </a:moveTo>
                <a:lnTo>
                  <a:pt x="596938" y="0"/>
                </a:lnTo>
                <a:cubicBezTo>
                  <a:pt x="666823" y="0"/>
                  <a:pt x="723561" y="56738"/>
                  <a:pt x="723561" y="126623"/>
                </a:cubicBezTo>
                <a:lnTo>
                  <a:pt x="723561" y="126623"/>
                </a:lnTo>
                <a:cubicBezTo>
                  <a:pt x="723561" y="196508"/>
                  <a:pt x="666823" y="253246"/>
                  <a:pt x="596938" y="253246"/>
                </a:cubicBezTo>
                <a:lnTo>
                  <a:pt x="126623" y="253246"/>
                </a:lnTo>
                <a:cubicBezTo>
                  <a:pt x="56738" y="253246"/>
                  <a:pt x="0" y="196508"/>
                  <a:pt x="0" y="126623"/>
                </a:cubicBezTo>
                <a:lnTo>
                  <a:pt x="0" y="126623"/>
                </a:lnTo>
                <a:cubicBezTo>
                  <a:pt x="0" y="56738"/>
                  <a:pt x="56738" y="0"/>
                  <a:pt x="126623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2" name="Text 39"/>
          <p:cNvSpPr/>
          <p:nvPr/>
        </p:nvSpPr>
        <p:spPr>
          <a:xfrm>
            <a:off x="10923295" y="1483300"/>
            <a:ext cx="786872" cy="253246"/>
          </a:xfrm>
          <a:prstGeom prst="rect">
            <a:avLst/>
          </a:prstGeom>
          <a:noFill/>
        </p:spPr>
        <p:txBody>
          <a:bodyPr wrap="square" lIns="108534" tIns="36178" rIns="108534" bIns="3617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2/3 Filled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348366" y="191743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4" name="Text 41"/>
          <p:cNvSpPr/>
          <p:nvPr/>
        </p:nvSpPr>
        <p:spPr>
          <a:xfrm>
            <a:off x="8583523" y="1908392"/>
            <a:ext cx="1350600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Enterprise AE — East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330277" y="2206861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Jan 8 | Time-to-fill: 29 days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48366" y="2532463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7" name="Text 44"/>
          <p:cNvSpPr/>
          <p:nvPr/>
        </p:nvSpPr>
        <p:spPr>
          <a:xfrm>
            <a:off x="8583523" y="2523418"/>
            <a:ext cx="1434261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Enterprise AE — West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330277" y="2821887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Feb 15 | Time-to-fill: 44 days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348366" y="3147490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0"/>
                </a:moveTo>
                <a:cubicBezTo>
                  <a:pt x="112290" y="0"/>
                  <a:pt x="144712" y="32422"/>
                  <a:pt x="144712" y="72356"/>
                </a:cubicBezTo>
                <a:cubicBezTo>
                  <a:pt x="144712" y="112290"/>
                  <a:pt x="112290" y="144712"/>
                  <a:pt x="72356" y="144712"/>
                </a:cubicBezTo>
                <a:cubicBezTo>
                  <a:pt x="32422" y="144712"/>
                  <a:pt x="0" y="112290"/>
                  <a:pt x="0" y="72356"/>
                </a:cubicBezTo>
                <a:cubicBezTo>
                  <a:pt x="0" y="32422"/>
                  <a:pt x="32422" y="0"/>
                  <a:pt x="72356" y="0"/>
                </a:cubicBezTo>
                <a:close/>
                <a:moveTo>
                  <a:pt x="65573" y="33917"/>
                </a:moveTo>
                <a:lnTo>
                  <a:pt x="65573" y="72356"/>
                </a:lnTo>
                <a:cubicBezTo>
                  <a:pt x="65573" y="74617"/>
                  <a:pt x="66703" y="76737"/>
                  <a:pt x="68597" y="78009"/>
                </a:cubicBezTo>
                <a:lnTo>
                  <a:pt x="95730" y="96098"/>
                </a:lnTo>
                <a:cubicBezTo>
                  <a:pt x="98840" y="98189"/>
                  <a:pt x="103051" y="97342"/>
                  <a:pt x="105142" y="94204"/>
                </a:cubicBezTo>
                <a:cubicBezTo>
                  <a:pt x="107234" y="91067"/>
                  <a:pt x="106386" y="86884"/>
                  <a:pt x="103249" y="84792"/>
                </a:cubicBezTo>
                <a:lnTo>
                  <a:pt x="79139" y="68738"/>
                </a:lnTo>
                <a:lnTo>
                  <a:pt x="79139" y="33917"/>
                </a:lnTo>
                <a:cubicBezTo>
                  <a:pt x="79139" y="30158"/>
                  <a:pt x="76115" y="27134"/>
                  <a:pt x="72356" y="27134"/>
                </a:cubicBezTo>
                <a:cubicBezTo>
                  <a:pt x="68597" y="27134"/>
                  <a:pt x="65573" y="30158"/>
                  <a:pt x="65573" y="33917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50" name="Text 47"/>
          <p:cNvSpPr/>
          <p:nvPr/>
        </p:nvSpPr>
        <p:spPr>
          <a:xfrm>
            <a:off x="8583523" y="3138445"/>
            <a:ext cx="1018921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Mid-Market AE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330277" y="3436914"/>
            <a:ext cx="3382647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Status: Offer extended, pending acceptance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330277" y="3767039"/>
            <a:ext cx="3319335" cy="9045"/>
          </a:xfrm>
          <a:custGeom>
            <a:avLst/>
            <a:gdLst/>
            <a:ahLst/>
            <a:cxnLst/>
            <a:rect l="l" t="t" r="r" b="b"/>
            <a:pathLst>
              <a:path w="3319335" h="9045">
                <a:moveTo>
                  <a:pt x="0" y="0"/>
                </a:moveTo>
                <a:lnTo>
                  <a:pt x="3319335" y="0"/>
                </a:lnTo>
                <a:lnTo>
                  <a:pt x="3319335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53" name="Text 50"/>
          <p:cNvSpPr/>
          <p:nvPr/>
        </p:nvSpPr>
        <p:spPr>
          <a:xfrm>
            <a:off x="8330277" y="3916273"/>
            <a:ext cx="723561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 Roles: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562983" y="3916273"/>
            <a:ext cx="144712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379869" y="5110148"/>
            <a:ext cx="5607596" cy="1266231"/>
          </a:xfrm>
          <a:custGeom>
            <a:avLst/>
            <a:gdLst/>
            <a:ahLst/>
            <a:cxnLst/>
            <a:rect l="l" t="t" r="r" b="b"/>
            <a:pathLst>
              <a:path w="5607596" h="1266231">
                <a:moveTo>
                  <a:pt x="36178" y="0"/>
                </a:moveTo>
                <a:lnTo>
                  <a:pt x="5535244" y="0"/>
                </a:lnTo>
                <a:cubicBezTo>
                  <a:pt x="5575203" y="0"/>
                  <a:pt x="5607596" y="32393"/>
                  <a:pt x="5607596" y="72352"/>
                </a:cubicBezTo>
                <a:lnTo>
                  <a:pt x="5607596" y="1193879"/>
                </a:lnTo>
                <a:cubicBezTo>
                  <a:pt x="5607596" y="1233838"/>
                  <a:pt x="5575203" y="1266231"/>
                  <a:pt x="5535244" y="1266231"/>
                </a:cubicBezTo>
                <a:lnTo>
                  <a:pt x="36178" y="1266231"/>
                </a:lnTo>
                <a:cubicBezTo>
                  <a:pt x="16197" y="1266231"/>
                  <a:pt x="0" y="1250034"/>
                  <a:pt x="0" y="1230053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56" name="Shape 53"/>
          <p:cNvSpPr/>
          <p:nvPr/>
        </p:nvSpPr>
        <p:spPr>
          <a:xfrm>
            <a:off x="379869" y="5110148"/>
            <a:ext cx="36178" cy="1266231"/>
          </a:xfrm>
          <a:custGeom>
            <a:avLst/>
            <a:gdLst/>
            <a:ahLst/>
            <a:cxnLst/>
            <a:rect l="l" t="t" r="r" b="b"/>
            <a:pathLst>
              <a:path w="36178" h="1266231">
                <a:moveTo>
                  <a:pt x="36178" y="0"/>
                </a:moveTo>
                <a:lnTo>
                  <a:pt x="36178" y="0"/>
                </a:lnTo>
                <a:lnTo>
                  <a:pt x="36178" y="1266231"/>
                </a:lnTo>
                <a:lnTo>
                  <a:pt x="36178" y="1266231"/>
                </a:lnTo>
                <a:cubicBezTo>
                  <a:pt x="16197" y="1266231"/>
                  <a:pt x="0" y="1250034"/>
                  <a:pt x="0" y="1230053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7" name="Shape 54"/>
          <p:cNvSpPr/>
          <p:nvPr/>
        </p:nvSpPr>
        <p:spPr>
          <a:xfrm>
            <a:off x="611635" y="5336261"/>
            <a:ext cx="142451" cy="162801"/>
          </a:xfrm>
          <a:custGeom>
            <a:avLst/>
            <a:gdLst/>
            <a:ahLst/>
            <a:cxnLst/>
            <a:rect l="l" t="t" r="r" b="b"/>
            <a:pathLst>
              <a:path w="142451" h="162801">
                <a:moveTo>
                  <a:pt x="71226" y="78857"/>
                </a:moveTo>
                <a:cubicBezTo>
                  <a:pt x="50166" y="78857"/>
                  <a:pt x="33069" y="61759"/>
                  <a:pt x="33069" y="40700"/>
                </a:cubicBezTo>
                <a:cubicBezTo>
                  <a:pt x="33069" y="19641"/>
                  <a:pt x="50166" y="2544"/>
                  <a:pt x="71226" y="2544"/>
                </a:cubicBezTo>
                <a:cubicBezTo>
                  <a:pt x="92285" y="2544"/>
                  <a:pt x="109382" y="19641"/>
                  <a:pt x="109382" y="40700"/>
                </a:cubicBezTo>
                <a:cubicBezTo>
                  <a:pt x="109382" y="61759"/>
                  <a:pt x="92285" y="78857"/>
                  <a:pt x="71226" y="78857"/>
                </a:cubicBezTo>
                <a:close/>
                <a:moveTo>
                  <a:pt x="61527" y="96663"/>
                </a:moveTo>
                <a:lnTo>
                  <a:pt x="80924" y="96663"/>
                </a:lnTo>
                <a:cubicBezTo>
                  <a:pt x="84008" y="96663"/>
                  <a:pt x="86488" y="99143"/>
                  <a:pt x="86488" y="102228"/>
                </a:cubicBezTo>
                <a:cubicBezTo>
                  <a:pt x="86488" y="103563"/>
                  <a:pt x="86011" y="104835"/>
                  <a:pt x="85153" y="105853"/>
                </a:cubicBezTo>
                <a:lnTo>
                  <a:pt x="76440" y="116028"/>
                </a:lnTo>
                <a:lnTo>
                  <a:pt x="86297" y="152626"/>
                </a:lnTo>
                <a:lnTo>
                  <a:pt x="86488" y="152626"/>
                </a:lnTo>
                <a:lnTo>
                  <a:pt x="97490" y="108587"/>
                </a:lnTo>
                <a:cubicBezTo>
                  <a:pt x="98189" y="105821"/>
                  <a:pt x="101019" y="104136"/>
                  <a:pt x="103690" y="105153"/>
                </a:cubicBezTo>
                <a:cubicBezTo>
                  <a:pt x="123373" y="112657"/>
                  <a:pt x="137364" y="131735"/>
                  <a:pt x="137364" y="154057"/>
                </a:cubicBezTo>
                <a:cubicBezTo>
                  <a:pt x="137364" y="158858"/>
                  <a:pt x="133452" y="162769"/>
                  <a:pt x="128651" y="162769"/>
                </a:cubicBezTo>
                <a:lnTo>
                  <a:pt x="13800" y="162801"/>
                </a:lnTo>
                <a:cubicBezTo>
                  <a:pt x="8999" y="162801"/>
                  <a:pt x="5088" y="158890"/>
                  <a:pt x="5088" y="154089"/>
                </a:cubicBezTo>
                <a:cubicBezTo>
                  <a:pt x="5088" y="131767"/>
                  <a:pt x="19078" y="112689"/>
                  <a:pt x="38761" y="105185"/>
                </a:cubicBezTo>
                <a:cubicBezTo>
                  <a:pt x="41432" y="104167"/>
                  <a:pt x="44262" y="105853"/>
                  <a:pt x="44961" y="108619"/>
                </a:cubicBezTo>
                <a:lnTo>
                  <a:pt x="55963" y="152658"/>
                </a:lnTo>
                <a:lnTo>
                  <a:pt x="56154" y="152658"/>
                </a:lnTo>
                <a:lnTo>
                  <a:pt x="66011" y="116059"/>
                </a:lnTo>
                <a:lnTo>
                  <a:pt x="57298" y="105884"/>
                </a:lnTo>
                <a:cubicBezTo>
                  <a:pt x="56440" y="104867"/>
                  <a:pt x="55963" y="103595"/>
                  <a:pt x="55963" y="102259"/>
                </a:cubicBezTo>
                <a:cubicBezTo>
                  <a:pt x="55963" y="99175"/>
                  <a:pt x="58443" y="96695"/>
                  <a:pt x="61527" y="96695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8" name="Text 55"/>
          <p:cNvSpPr/>
          <p:nvPr/>
        </p:nvSpPr>
        <p:spPr>
          <a:xfrm>
            <a:off x="786872" y="5291039"/>
            <a:ext cx="5101104" cy="253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HR / Recruiting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596938" y="5688997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60" name="Text 57"/>
          <p:cNvSpPr/>
          <p:nvPr/>
        </p:nvSpPr>
        <p:spPr>
          <a:xfrm>
            <a:off x="832095" y="5679953"/>
            <a:ext cx="941406" cy="158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Talent Partner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578849" y="5942243"/>
            <a:ext cx="1392855" cy="180890"/>
          </a:xfrm>
          <a:prstGeom prst="rect">
            <a:avLst/>
          </a:prstGeom>
          <a:noFill/>
        </p:spPr>
        <p:txBody>
          <a:bodyPr wrap="square" lIns="217068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Start: Feb 1 | 1/1 filled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4980487" y="5725175"/>
            <a:ext cx="823050" cy="325602"/>
          </a:xfrm>
          <a:custGeom>
            <a:avLst/>
            <a:gdLst/>
            <a:ahLst/>
            <a:cxnLst/>
            <a:rect l="l" t="t" r="r" b="b"/>
            <a:pathLst>
              <a:path w="823050" h="325602">
                <a:moveTo>
                  <a:pt x="72355" y="0"/>
                </a:moveTo>
                <a:lnTo>
                  <a:pt x="750695" y="0"/>
                </a:lnTo>
                <a:cubicBezTo>
                  <a:pt x="790629" y="0"/>
                  <a:pt x="823050" y="32421"/>
                  <a:pt x="823050" y="72355"/>
                </a:cubicBezTo>
                <a:lnTo>
                  <a:pt x="823050" y="253247"/>
                </a:lnTo>
                <a:cubicBezTo>
                  <a:pt x="823050" y="293181"/>
                  <a:pt x="790629" y="325602"/>
                  <a:pt x="750695" y="325602"/>
                </a:cubicBezTo>
                <a:lnTo>
                  <a:pt x="72355" y="325602"/>
                </a:lnTo>
                <a:cubicBezTo>
                  <a:pt x="32421" y="325602"/>
                  <a:pt x="0" y="293181"/>
                  <a:pt x="0" y="253247"/>
                </a:cubicBezTo>
                <a:lnTo>
                  <a:pt x="0" y="72355"/>
                </a:lnTo>
                <a:cubicBezTo>
                  <a:pt x="0" y="32395"/>
                  <a:pt x="32395" y="0"/>
                  <a:pt x="72355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63" name="Text 60"/>
          <p:cNvSpPr/>
          <p:nvPr/>
        </p:nvSpPr>
        <p:spPr>
          <a:xfrm>
            <a:off x="4980487" y="5725175"/>
            <a:ext cx="886362" cy="325602"/>
          </a:xfrm>
          <a:prstGeom prst="rect">
            <a:avLst/>
          </a:prstGeom>
          <a:noFill/>
        </p:spPr>
        <p:txBody>
          <a:bodyPr wrap="square" lIns="144712" tIns="72356" rIns="144712" bIns="72356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202485" y="5110148"/>
            <a:ext cx="5625685" cy="1266231"/>
          </a:xfrm>
          <a:custGeom>
            <a:avLst/>
            <a:gdLst/>
            <a:ahLst/>
            <a:cxnLst/>
            <a:rect l="l" t="t" r="r" b="b"/>
            <a:pathLst>
              <a:path w="5625685" h="1266231">
                <a:moveTo>
                  <a:pt x="72352" y="0"/>
                </a:moveTo>
                <a:lnTo>
                  <a:pt x="5553333" y="0"/>
                </a:lnTo>
                <a:cubicBezTo>
                  <a:pt x="5593292" y="0"/>
                  <a:pt x="5625685" y="32393"/>
                  <a:pt x="5625685" y="72352"/>
                </a:cubicBezTo>
                <a:lnTo>
                  <a:pt x="5625685" y="1193879"/>
                </a:lnTo>
                <a:cubicBezTo>
                  <a:pt x="5625685" y="1233838"/>
                  <a:pt x="5593292" y="1266231"/>
                  <a:pt x="5553333" y="1266231"/>
                </a:cubicBezTo>
                <a:lnTo>
                  <a:pt x="72352" y="1266231"/>
                </a:lnTo>
                <a:cubicBezTo>
                  <a:pt x="32393" y="1266231"/>
                  <a:pt x="0" y="1233838"/>
                  <a:pt x="0" y="1193879"/>
                </a:cubicBezTo>
                <a:lnTo>
                  <a:pt x="0" y="72352"/>
                </a:lnTo>
                <a:cubicBezTo>
                  <a:pt x="0" y="32420"/>
                  <a:pt x="32420" y="0"/>
                  <a:pt x="72352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65" name="Shape 62"/>
          <p:cNvSpPr/>
          <p:nvPr/>
        </p:nvSpPr>
        <p:spPr>
          <a:xfrm>
            <a:off x="6405986" y="5336261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10175" y="10175"/>
                </a:moveTo>
                <a:cubicBezTo>
                  <a:pt x="15803" y="10175"/>
                  <a:pt x="20350" y="14722"/>
                  <a:pt x="20350" y="20350"/>
                </a:cubicBezTo>
                <a:lnTo>
                  <a:pt x="20350" y="127188"/>
                </a:lnTo>
                <a:cubicBezTo>
                  <a:pt x="20350" y="129987"/>
                  <a:pt x="22640" y="132276"/>
                  <a:pt x="25438" y="132276"/>
                </a:cubicBezTo>
                <a:lnTo>
                  <a:pt x="152626" y="132276"/>
                </a:lnTo>
                <a:cubicBezTo>
                  <a:pt x="158254" y="132276"/>
                  <a:pt x="162801" y="136823"/>
                  <a:pt x="162801" y="142451"/>
                </a:cubicBezTo>
                <a:cubicBezTo>
                  <a:pt x="162801" y="148079"/>
                  <a:pt x="158254" y="152626"/>
                  <a:pt x="152626" y="152626"/>
                </a:cubicBezTo>
                <a:lnTo>
                  <a:pt x="25438" y="152626"/>
                </a:lnTo>
                <a:cubicBezTo>
                  <a:pt x="11383" y="152626"/>
                  <a:pt x="0" y="141243"/>
                  <a:pt x="0" y="127188"/>
                </a:cubicBezTo>
                <a:lnTo>
                  <a:pt x="0" y="20350"/>
                </a:lnTo>
                <a:cubicBezTo>
                  <a:pt x="0" y="14722"/>
                  <a:pt x="4547" y="10175"/>
                  <a:pt x="10175" y="10175"/>
                </a:cubicBezTo>
                <a:close/>
                <a:moveTo>
                  <a:pt x="40700" y="30525"/>
                </a:moveTo>
                <a:cubicBezTo>
                  <a:pt x="40700" y="24897"/>
                  <a:pt x="45247" y="20350"/>
                  <a:pt x="50875" y="20350"/>
                </a:cubicBezTo>
                <a:lnTo>
                  <a:pt x="111926" y="20350"/>
                </a:lnTo>
                <a:cubicBezTo>
                  <a:pt x="117554" y="20350"/>
                  <a:pt x="122101" y="24897"/>
                  <a:pt x="122101" y="30525"/>
                </a:cubicBezTo>
                <a:cubicBezTo>
                  <a:pt x="122101" y="36153"/>
                  <a:pt x="117554" y="40700"/>
                  <a:pt x="111926" y="40700"/>
                </a:cubicBezTo>
                <a:lnTo>
                  <a:pt x="50875" y="40700"/>
                </a:lnTo>
                <a:cubicBezTo>
                  <a:pt x="45247" y="40700"/>
                  <a:pt x="40700" y="36153"/>
                  <a:pt x="40700" y="30525"/>
                </a:cubicBezTo>
                <a:close/>
                <a:moveTo>
                  <a:pt x="50875" y="55963"/>
                </a:moveTo>
                <a:lnTo>
                  <a:pt x="91576" y="55963"/>
                </a:lnTo>
                <a:cubicBezTo>
                  <a:pt x="97204" y="55963"/>
                  <a:pt x="101751" y="60510"/>
                  <a:pt x="101751" y="66138"/>
                </a:cubicBezTo>
                <a:cubicBezTo>
                  <a:pt x="101751" y="71766"/>
                  <a:pt x="97204" y="76313"/>
                  <a:pt x="91576" y="76313"/>
                </a:cubicBezTo>
                <a:lnTo>
                  <a:pt x="50875" y="76313"/>
                </a:lnTo>
                <a:cubicBezTo>
                  <a:pt x="45247" y="76313"/>
                  <a:pt x="40700" y="71766"/>
                  <a:pt x="40700" y="66138"/>
                </a:cubicBezTo>
                <a:cubicBezTo>
                  <a:pt x="40700" y="60510"/>
                  <a:pt x="45247" y="55963"/>
                  <a:pt x="50875" y="55963"/>
                </a:cubicBezTo>
                <a:close/>
                <a:moveTo>
                  <a:pt x="50875" y="91576"/>
                </a:moveTo>
                <a:lnTo>
                  <a:pt x="132276" y="91576"/>
                </a:lnTo>
                <a:cubicBezTo>
                  <a:pt x="137904" y="91576"/>
                  <a:pt x="142451" y="96123"/>
                  <a:pt x="142451" y="101751"/>
                </a:cubicBezTo>
                <a:cubicBezTo>
                  <a:pt x="142451" y="107379"/>
                  <a:pt x="137904" y="111926"/>
                  <a:pt x="132276" y="111926"/>
                </a:cubicBezTo>
                <a:lnTo>
                  <a:pt x="50875" y="111926"/>
                </a:lnTo>
                <a:cubicBezTo>
                  <a:pt x="45247" y="111926"/>
                  <a:pt x="40700" y="107379"/>
                  <a:pt x="40700" y="101751"/>
                </a:cubicBezTo>
                <a:cubicBezTo>
                  <a:pt x="40700" y="96123"/>
                  <a:pt x="45247" y="91576"/>
                  <a:pt x="50875" y="9157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6" name="Text 63"/>
          <p:cNvSpPr/>
          <p:nvPr/>
        </p:nvSpPr>
        <p:spPr>
          <a:xfrm>
            <a:off x="6591399" y="5291039"/>
            <a:ext cx="5137282" cy="253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Pipeline Summary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6315541" y="5652819"/>
            <a:ext cx="1790813" cy="325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47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6351719" y="6014599"/>
            <a:ext cx="1718457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 Applicants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117731" y="5652819"/>
            <a:ext cx="1790813" cy="325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8153909" y="6014599"/>
            <a:ext cx="1718457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 Interview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9919920" y="5652819"/>
            <a:ext cx="1790813" cy="325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9956098" y="6014599"/>
            <a:ext cx="1718457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Offers Out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361780" y="6525614"/>
            <a:ext cx="11468439" cy="9045"/>
          </a:xfrm>
          <a:custGeom>
            <a:avLst/>
            <a:gdLst/>
            <a:ahLst/>
            <a:cxnLst/>
            <a:rect l="l" t="t" r="r" b="b"/>
            <a:pathLst>
              <a:path w="11468439" h="9045">
                <a:moveTo>
                  <a:pt x="0" y="0"/>
                </a:moveTo>
                <a:lnTo>
                  <a:pt x="11468439" y="0"/>
                </a:lnTo>
                <a:lnTo>
                  <a:pt x="11468439" y="9045"/>
                </a:lnTo>
                <a:lnTo>
                  <a:pt x="0" y="904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74" name="Text 71"/>
          <p:cNvSpPr/>
          <p:nvPr/>
        </p:nvSpPr>
        <p:spPr>
          <a:xfrm>
            <a:off x="361780" y="6674849"/>
            <a:ext cx="11531751" cy="180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Target:</a:t>
            </a: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11 hires | </a:t>
            </a:r>
            <a:r>
              <a:rPr lang="en-US" sz="99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Achieved:</a:t>
            </a: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8 hires (72%) | </a:t>
            </a:r>
            <a:r>
              <a:rPr lang="en-US" sz="99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Carryover to Q2:</a:t>
            </a:r>
            <a:r>
              <a:rPr lang="en-US" sz="9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3 roles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40" y="378340"/>
            <a:ext cx="3546936" cy="378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Retention and Attrition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340" y="832348"/>
            <a:ext cx="3461809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2026 Workforce Stability Analysis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207208" y="435091"/>
            <a:ext cx="605344" cy="605344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78340" y="1324189"/>
            <a:ext cx="4436034" cy="4804915"/>
          </a:xfrm>
          <a:custGeom>
            <a:avLst/>
            <a:gdLst/>
            <a:ahLst/>
            <a:cxnLst/>
            <a:rect l="l" t="t" r="r" b="b"/>
            <a:pathLst>
              <a:path w="4436034" h="4804915">
                <a:moveTo>
                  <a:pt x="75679" y="0"/>
                </a:moveTo>
                <a:lnTo>
                  <a:pt x="4360355" y="0"/>
                </a:lnTo>
                <a:cubicBezTo>
                  <a:pt x="4402152" y="0"/>
                  <a:pt x="4436034" y="33883"/>
                  <a:pt x="4436034" y="75679"/>
                </a:cubicBezTo>
                <a:lnTo>
                  <a:pt x="4436034" y="4729237"/>
                </a:lnTo>
                <a:cubicBezTo>
                  <a:pt x="4436034" y="4771033"/>
                  <a:pt x="4402152" y="4804915"/>
                  <a:pt x="4360355" y="4804915"/>
                </a:cubicBezTo>
                <a:lnTo>
                  <a:pt x="75679" y="4804915"/>
                </a:lnTo>
                <a:cubicBezTo>
                  <a:pt x="33883" y="4804915"/>
                  <a:pt x="0" y="4771033"/>
                  <a:pt x="0" y="4729237"/>
                </a:cubicBezTo>
                <a:lnTo>
                  <a:pt x="0" y="75679"/>
                </a:lnTo>
                <a:cubicBezTo>
                  <a:pt x="0" y="33911"/>
                  <a:pt x="33911" y="0"/>
                  <a:pt x="75679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6" name="Shape 3"/>
          <p:cNvSpPr/>
          <p:nvPr/>
        </p:nvSpPr>
        <p:spPr>
          <a:xfrm>
            <a:off x="640813" y="1589027"/>
            <a:ext cx="165524" cy="189170"/>
          </a:xfrm>
          <a:custGeom>
            <a:avLst/>
            <a:gdLst/>
            <a:ahLst/>
            <a:cxnLst/>
            <a:rect l="l" t="t" r="r" b="b"/>
            <a:pathLst>
              <a:path w="165524" h="189170">
                <a:moveTo>
                  <a:pt x="106408" y="23646"/>
                </a:moveTo>
                <a:lnTo>
                  <a:pt x="130054" y="23646"/>
                </a:lnTo>
                <a:lnTo>
                  <a:pt x="130054" y="177347"/>
                </a:lnTo>
                <a:cubicBezTo>
                  <a:pt x="130054" y="183886"/>
                  <a:pt x="135338" y="189170"/>
                  <a:pt x="141877" y="189170"/>
                </a:cubicBezTo>
                <a:lnTo>
                  <a:pt x="153701" y="189170"/>
                </a:lnTo>
                <a:cubicBezTo>
                  <a:pt x="160240" y="189170"/>
                  <a:pt x="165524" y="183886"/>
                  <a:pt x="165524" y="177347"/>
                </a:cubicBezTo>
                <a:cubicBezTo>
                  <a:pt x="165524" y="170807"/>
                  <a:pt x="160240" y="165524"/>
                  <a:pt x="153701" y="165524"/>
                </a:cubicBezTo>
                <a:lnTo>
                  <a:pt x="153701" y="23646"/>
                </a:lnTo>
                <a:cubicBezTo>
                  <a:pt x="153701" y="10604"/>
                  <a:pt x="143097" y="0"/>
                  <a:pt x="130054" y="0"/>
                </a:cubicBezTo>
                <a:lnTo>
                  <a:pt x="94585" y="0"/>
                </a:lnTo>
                <a:lnTo>
                  <a:pt x="94585" y="0"/>
                </a:lnTo>
                <a:lnTo>
                  <a:pt x="35469" y="0"/>
                </a:lnTo>
                <a:cubicBezTo>
                  <a:pt x="22427" y="0"/>
                  <a:pt x="11823" y="10604"/>
                  <a:pt x="11823" y="23646"/>
                </a:cubicBezTo>
                <a:lnTo>
                  <a:pt x="11823" y="165524"/>
                </a:lnTo>
                <a:cubicBezTo>
                  <a:pt x="5283" y="165524"/>
                  <a:pt x="0" y="170807"/>
                  <a:pt x="0" y="177347"/>
                </a:cubicBezTo>
                <a:cubicBezTo>
                  <a:pt x="0" y="183886"/>
                  <a:pt x="5283" y="189170"/>
                  <a:pt x="11823" y="189170"/>
                </a:cubicBezTo>
                <a:lnTo>
                  <a:pt x="94585" y="189170"/>
                </a:lnTo>
                <a:cubicBezTo>
                  <a:pt x="101125" y="189170"/>
                  <a:pt x="106408" y="183886"/>
                  <a:pt x="106408" y="177347"/>
                </a:cubicBezTo>
                <a:lnTo>
                  <a:pt x="106408" y="23646"/>
                </a:lnTo>
                <a:close/>
                <a:moveTo>
                  <a:pt x="59116" y="94585"/>
                </a:moveTo>
                <a:cubicBezTo>
                  <a:pt x="59116" y="88060"/>
                  <a:pt x="64413" y="82762"/>
                  <a:pt x="70939" y="82762"/>
                </a:cubicBezTo>
                <a:cubicBezTo>
                  <a:pt x="77464" y="82762"/>
                  <a:pt x="82762" y="88060"/>
                  <a:pt x="82762" y="94585"/>
                </a:cubicBezTo>
                <a:cubicBezTo>
                  <a:pt x="82762" y="101110"/>
                  <a:pt x="77464" y="106408"/>
                  <a:pt x="70939" y="106408"/>
                </a:cubicBezTo>
                <a:cubicBezTo>
                  <a:pt x="64413" y="106408"/>
                  <a:pt x="59116" y="101110"/>
                  <a:pt x="59116" y="9458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841806" y="1551193"/>
            <a:ext cx="3840149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Q1 Departures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5344" y="1967367"/>
            <a:ext cx="3982026" cy="1021517"/>
          </a:xfrm>
          <a:custGeom>
            <a:avLst/>
            <a:gdLst/>
            <a:ahLst/>
            <a:cxnLst/>
            <a:rect l="l" t="t" r="r" b="b"/>
            <a:pathLst>
              <a:path w="3982026" h="1021517">
                <a:moveTo>
                  <a:pt x="75664" y="0"/>
                </a:moveTo>
                <a:lnTo>
                  <a:pt x="3906363" y="0"/>
                </a:lnTo>
                <a:cubicBezTo>
                  <a:pt x="3948151" y="0"/>
                  <a:pt x="3982026" y="33876"/>
                  <a:pt x="3982026" y="75664"/>
                </a:cubicBezTo>
                <a:lnTo>
                  <a:pt x="3982026" y="945854"/>
                </a:lnTo>
                <a:cubicBezTo>
                  <a:pt x="3982026" y="987642"/>
                  <a:pt x="3948151" y="1021517"/>
                  <a:pt x="3906363" y="1021517"/>
                </a:cubicBezTo>
                <a:lnTo>
                  <a:pt x="75664" y="1021517"/>
                </a:lnTo>
                <a:cubicBezTo>
                  <a:pt x="33876" y="1021517"/>
                  <a:pt x="0" y="987642"/>
                  <a:pt x="0" y="945854"/>
                </a:cubicBezTo>
                <a:lnTo>
                  <a:pt x="0" y="75664"/>
                </a:lnTo>
                <a:cubicBezTo>
                  <a:pt x="0" y="33904"/>
                  <a:pt x="33904" y="0"/>
                  <a:pt x="7566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756680" y="2118703"/>
            <a:ext cx="1938991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Senior Frontend Engineer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6680" y="2383541"/>
            <a:ext cx="192007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Engineering • 2.5 years tenure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51718" y="2118703"/>
            <a:ext cx="785055" cy="264838"/>
          </a:xfrm>
          <a:custGeom>
            <a:avLst/>
            <a:gdLst/>
            <a:ahLst/>
            <a:cxnLst/>
            <a:rect l="l" t="t" r="r" b="b"/>
            <a:pathLst>
              <a:path w="785055" h="264838">
                <a:moveTo>
                  <a:pt x="37835" y="0"/>
                </a:moveTo>
                <a:lnTo>
                  <a:pt x="747220" y="0"/>
                </a:lnTo>
                <a:cubicBezTo>
                  <a:pt x="768116" y="0"/>
                  <a:pt x="785055" y="16939"/>
                  <a:pt x="785055" y="37835"/>
                </a:cubicBezTo>
                <a:lnTo>
                  <a:pt x="785055" y="227003"/>
                </a:lnTo>
                <a:cubicBezTo>
                  <a:pt x="785055" y="247899"/>
                  <a:pt x="768116" y="264838"/>
                  <a:pt x="747220" y="264838"/>
                </a:cubicBezTo>
                <a:lnTo>
                  <a:pt x="37835" y="264838"/>
                </a:lnTo>
                <a:cubicBezTo>
                  <a:pt x="16939" y="264838"/>
                  <a:pt x="0" y="247899"/>
                  <a:pt x="0" y="227003"/>
                </a:cubicBezTo>
                <a:lnTo>
                  <a:pt x="0" y="37835"/>
                </a:lnTo>
                <a:cubicBezTo>
                  <a:pt x="0" y="16953"/>
                  <a:pt x="16953" y="0"/>
                  <a:pt x="37835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2" name="Text 9"/>
          <p:cNvSpPr/>
          <p:nvPr/>
        </p:nvSpPr>
        <p:spPr>
          <a:xfrm>
            <a:off x="3651718" y="2118703"/>
            <a:ext cx="851265" cy="264838"/>
          </a:xfrm>
          <a:prstGeom prst="rect">
            <a:avLst/>
          </a:prstGeom>
          <a:noFill/>
        </p:spPr>
        <p:txBody>
          <a:bodyPr wrap="square" lIns="113502" tIns="37834" rIns="113502" bIns="37834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Voluntary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6680" y="2648379"/>
            <a:ext cx="374556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045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Accepted role at larger tech company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5344" y="3140220"/>
            <a:ext cx="3982026" cy="1021517"/>
          </a:xfrm>
          <a:custGeom>
            <a:avLst/>
            <a:gdLst/>
            <a:ahLst/>
            <a:cxnLst/>
            <a:rect l="l" t="t" r="r" b="b"/>
            <a:pathLst>
              <a:path w="3982026" h="1021517">
                <a:moveTo>
                  <a:pt x="75664" y="0"/>
                </a:moveTo>
                <a:lnTo>
                  <a:pt x="3906363" y="0"/>
                </a:lnTo>
                <a:cubicBezTo>
                  <a:pt x="3948151" y="0"/>
                  <a:pt x="3982026" y="33876"/>
                  <a:pt x="3982026" y="75664"/>
                </a:cubicBezTo>
                <a:lnTo>
                  <a:pt x="3982026" y="945854"/>
                </a:lnTo>
                <a:cubicBezTo>
                  <a:pt x="3982026" y="987642"/>
                  <a:pt x="3948151" y="1021517"/>
                  <a:pt x="3906363" y="1021517"/>
                </a:cubicBezTo>
                <a:lnTo>
                  <a:pt x="75664" y="1021517"/>
                </a:lnTo>
                <a:cubicBezTo>
                  <a:pt x="33876" y="1021517"/>
                  <a:pt x="0" y="987642"/>
                  <a:pt x="0" y="945854"/>
                </a:cubicBezTo>
                <a:lnTo>
                  <a:pt x="0" y="75664"/>
                </a:lnTo>
                <a:cubicBezTo>
                  <a:pt x="0" y="33904"/>
                  <a:pt x="33904" y="0"/>
                  <a:pt x="7566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756680" y="3291556"/>
            <a:ext cx="1380940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Mid-Market AE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6680" y="3556394"/>
            <a:ext cx="1362023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Sales • 1.8 years tenure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651718" y="3291556"/>
            <a:ext cx="785055" cy="264838"/>
          </a:xfrm>
          <a:custGeom>
            <a:avLst/>
            <a:gdLst/>
            <a:ahLst/>
            <a:cxnLst/>
            <a:rect l="l" t="t" r="r" b="b"/>
            <a:pathLst>
              <a:path w="785055" h="264838">
                <a:moveTo>
                  <a:pt x="37835" y="0"/>
                </a:moveTo>
                <a:lnTo>
                  <a:pt x="747220" y="0"/>
                </a:lnTo>
                <a:cubicBezTo>
                  <a:pt x="768116" y="0"/>
                  <a:pt x="785055" y="16939"/>
                  <a:pt x="785055" y="37835"/>
                </a:cubicBezTo>
                <a:lnTo>
                  <a:pt x="785055" y="227003"/>
                </a:lnTo>
                <a:cubicBezTo>
                  <a:pt x="785055" y="247899"/>
                  <a:pt x="768116" y="264838"/>
                  <a:pt x="747220" y="264838"/>
                </a:cubicBezTo>
                <a:lnTo>
                  <a:pt x="37835" y="264838"/>
                </a:lnTo>
                <a:cubicBezTo>
                  <a:pt x="16939" y="264838"/>
                  <a:pt x="0" y="247899"/>
                  <a:pt x="0" y="227003"/>
                </a:cubicBezTo>
                <a:lnTo>
                  <a:pt x="0" y="37835"/>
                </a:lnTo>
                <a:cubicBezTo>
                  <a:pt x="0" y="16953"/>
                  <a:pt x="16953" y="0"/>
                  <a:pt x="37835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8" name="Text 15"/>
          <p:cNvSpPr/>
          <p:nvPr/>
        </p:nvSpPr>
        <p:spPr>
          <a:xfrm>
            <a:off x="3651718" y="3291556"/>
            <a:ext cx="851265" cy="264838"/>
          </a:xfrm>
          <a:prstGeom prst="rect">
            <a:avLst/>
          </a:prstGeom>
          <a:noFill/>
        </p:spPr>
        <p:txBody>
          <a:bodyPr wrap="square" lIns="113502" tIns="37834" rIns="113502" bIns="37834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Voluntary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6680" y="3821232"/>
            <a:ext cx="374556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045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Career change to different industry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5344" y="4313074"/>
            <a:ext cx="3982026" cy="1021517"/>
          </a:xfrm>
          <a:custGeom>
            <a:avLst/>
            <a:gdLst/>
            <a:ahLst/>
            <a:cxnLst/>
            <a:rect l="l" t="t" r="r" b="b"/>
            <a:pathLst>
              <a:path w="3982026" h="1021517">
                <a:moveTo>
                  <a:pt x="75664" y="0"/>
                </a:moveTo>
                <a:lnTo>
                  <a:pt x="3906363" y="0"/>
                </a:lnTo>
                <a:cubicBezTo>
                  <a:pt x="3948151" y="0"/>
                  <a:pt x="3982026" y="33876"/>
                  <a:pt x="3982026" y="75664"/>
                </a:cubicBezTo>
                <a:lnTo>
                  <a:pt x="3982026" y="945854"/>
                </a:lnTo>
                <a:cubicBezTo>
                  <a:pt x="3982026" y="987642"/>
                  <a:pt x="3948151" y="1021517"/>
                  <a:pt x="3906363" y="1021517"/>
                </a:cubicBezTo>
                <a:lnTo>
                  <a:pt x="75664" y="1021517"/>
                </a:lnTo>
                <a:cubicBezTo>
                  <a:pt x="33876" y="1021517"/>
                  <a:pt x="0" y="987642"/>
                  <a:pt x="0" y="945854"/>
                </a:cubicBezTo>
                <a:lnTo>
                  <a:pt x="0" y="75664"/>
                </a:lnTo>
                <a:cubicBezTo>
                  <a:pt x="0" y="33904"/>
                  <a:pt x="33904" y="0"/>
                  <a:pt x="7566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756680" y="4464410"/>
            <a:ext cx="1551193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 Designer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6680" y="4729247"/>
            <a:ext cx="1532276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 • 3.2 years tenure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51718" y="4464410"/>
            <a:ext cx="785055" cy="264838"/>
          </a:xfrm>
          <a:custGeom>
            <a:avLst/>
            <a:gdLst/>
            <a:ahLst/>
            <a:cxnLst/>
            <a:rect l="l" t="t" r="r" b="b"/>
            <a:pathLst>
              <a:path w="785055" h="264838">
                <a:moveTo>
                  <a:pt x="37835" y="0"/>
                </a:moveTo>
                <a:lnTo>
                  <a:pt x="747220" y="0"/>
                </a:lnTo>
                <a:cubicBezTo>
                  <a:pt x="768116" y="0"/>
                  <a:pt x="785055" y="16939"/>
                  <a:pt x="785055" y="37835"/>
                </a:cubicBezTo>
                <a:lnTo>
                  <a:pt x="785055" y="227003"/>
                </a:lnTo>
                <a:cubicBezTo>
                  <a:pt x="785055" y="247899"/>
                  <a:pt x="768116" y="264838"/>
                  <a:pt x="747220" y="264838"/>
                </a:cubicBezTo>
                <a:lnTo>
                  <a:pt x="37835" y="264838"/>
                </a:lnTo>
                <a:cubicBezTo>
                  <a:pt x="16939" y="264838"/>
                  <a:pt x="0" y="247899"/>
                  <a:pt x="0" y="227003"/>
                </a:cubicBezTo>
                <a:lnTo>
                  <a:pt x="0" y="37835"/>
                </a:lnTo>
                <a:cubicBezTo>
                  <a:pt x="0" y="16953"/>
                  <a:pt x="16953" y="0"/>
                  <a:pt x="37835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4" name="Text 21"/>
          <p:cNvSpPr/>
          <p:nvPr/>
        </p:nvSpPr>
        <p:spPr>
          <a:xfrm>
            <a:off x="3651718" y="4464410"/>
            <a:ext cx="851265" cy="264838"/>
          </a:xfrm>
          <a:prstGeom prst="rect">
            <a:avLst/>
          </a:prstGeom>
          <a:noFill/>
        </p:spPr>
        <p:txBody>
          <a:bodyPr wrap="square" lIns="113502" tIns="37834" rIns="113502" bIns="37834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Voluntary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56680" y="4994085"/>
            <a:ext cx="3745564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045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Relocated to different city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42782" y="1324189"/>
            <a:ext cx="6772282" cy="1929533"/>
          </a:xfrm>
          <a:custGeom>
            <a:avLst/>
            <a:gdLst/>
            <a:ahLst/>
            <a:cxnLst/>
            <a:rect l="l" t="t" r="r" b="b"/>
            <a:pathLst>
              <a:path w="6772282" h="1929533">
                <a:moveTo>
                  <a:pt x="75676" y="0"/>
                </a:moveTo>
                <a:lnTo>
                  <a:pt x="6696606" y="0"/>
                </a:lnTo>
                <a:cubicBezTo>
                  <a:pt x="6738401" y="0"/>
                  <a:pt x="6772282" y="33881"/>
                  <a:pt x="6772282" y="75676"/>
                </a:cubicBezTo>
                <a:lnTo>
                  <a:pt x="6772282" y="1853857"/>
                </a:lnTo>
                <a:cubicBezTo>
                  <a:pt x="6772282" y="1895652"/>
                  <a:pt x="6738401" y="1929533"/>
                  <a:pt x="6696606" y="1929533"/>
                </a:cubicBezTo>
                <a:lnTo>
                  <a:pt x="75676" y="1929533"/>
                </a:lnTo>
                <a:cubicBezTo>
                  <a:pt x="33881" y="1929533"/>
                  <a:pt x="0" y="1895652"/>
                  <a:pt x="0" y="1853857"/>
                </a:cubicBezTo>
                <a:lnTo>
                  <a:pt x="0" y="75676"/>
                </a:lnTo>
                <a:cubicBezTo>
                  <a:pt x="0" y="33909"/>
                  <a:pt x="33909" y="0"/>
                  <a:pt x="75676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7" name="Text 24"/>
          <p:cNvSpPr/>
          <p:nvPr/>
        </p:nvSpPr>
        <p:spPr>
          <a:xfrm>
            <a:off x="5231952" y="1513359"/>
            <a:ext cx="6488528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Attrition Metrics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241410" y="1938991"/>
            <a:ext cx="2014659" cy="1116102"/>
          </a:xfrm>
          <a:custGeom>
            <a:avLst/>
            <a:gdLst/>
            <a:ahLst/>
            <a:cxnLst/>
            <a:rect l="l" t="t" r="r" b="b"/>
            <a:pathLst>
              <a:path w="2014659" h="1116102">
                <a:moveTo>
                  <a:pt x="75672" y="0"/>
                </a:moveTo>
                <a:lnTo>
                  <a:pt x="1938988" y="0"/>
                </a:lnTo>
                <a:cubicBezTo>
                  <a:pt x="1980752" y="0"/>
                  <a:pt x="2014659" y="33907"/>
                  <a:pt x="2014659" y="75672"/>
                </a:cubicBezTo>
                <a:lnTo>
                  <a:pt x="2014659" y="1040431"/>
                </a:lnTo>
                <a:cubicBezTo>
                  <a:pt x="2014659" y="1082223"/>
                  <a:pt x="1980780" y="1116102"/>
                  <a:pt x="1938988" y="1116102"/>
                </a:cubicBezTo>
                <a:lnTo>
                  <a:pt x="75672" y="1116102"/>
                </a:lnTo>
                <a:cubicBezTo>
                  <a:pt x="33907" y="1116102"/>
                  <a:pt x="0" y="1082195"/>
                  <a:pt x="0" y="1040431"/>
                </a:cubicBezTo>
                <a:lnTo>
                  <a:pt x="0" y="75672"/>
                </a:lnTo>
                <a:cubicBezTo>
                  <a:pt x="0" y="33907"/>
                  <a:pt x="33907" y="0"/>
                  <a:pt x="7567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17078" y="2099786"/>
            <a:ext cx="1863324" cy="378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6.7%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69100" y="2515960"/>
            <a:ext cx="1759280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Voluntary Attrition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73829" y="2742964"/>
            <a:ext cx="1749822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of 45 employees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422332" y="1938991"/>
            <a:ext cx="2014659" cy="1116102"/>
          </a:xfrm>
          <a:custGeom>
            <a:avLst/>
            <a:gdLst/>
            <a:ahLst/>
            <a:cxnLst/>
            <a:rect l="l" t="t" r="r" b="b"/>
            <a:pathLst>
              <a:path w="2014659" h="1116102">
                <a:moveTo>
                  <a:pt x="75672" y="0"/>
                </a:moveTo>
                <a:lnTo>
                  <a:pt x="1938988" y="0"/>
                </a:lnTo>
                <a:cubicBezTo>
                  <a:pt x="1980752" y="0"/>
                  <a:pt x="2014659" y="33907"/>
                  <a:pt x="2014659" y="75672"/>
                </a:cubicBezTo>
                <a:lnTo>
                  <a:pt x="2014659" y="1040431"/>
                </a:lnTo>
                <a:cubicBezTo>
                  <a:pt x="2014659" y="1082223"/>
                  <a:pt x="1980780" y="1116102"/>
                  <a:pt x="1938988" y="1116102"/>
                </a:cubicBezTo>
                <a:lnTo>
                  <a:pt x="75672" y="1116102"/>
                </a:lnTo>
                <a:cubicBezTo>
                  <a:pt x="33907" y="1116102"/>
                  <a:pt x="0" y="1082195"/>
                  <a:pt x="0" y="1040431"/>
                </a:cubicBezTo>
                <a:lnTo>
                  <a:pt x="0" y="75672"/>
                </a:lnTo>
                <a:cubicBezTo>
                  <a:pt x="0" y="33907"/>
                  <a:pt x="33907" y="0"/>
                  <a:pt x="7567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A7C9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98000" y="2099786"/>
            <a:ext cx="1863324" cy="378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0" b="1" dirty="0">
                <a:solidFill>
                  <a:srgbClr val="4A7C9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550022" y="2515960"/>
            <a:ext cx="1759280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Involuntary Attrition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554751" y="2742964"/>
            <a:ext cx="1749822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terminations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603254" y="1938991"/>
            <a:ext cx="2014659" cy="1116102"/>
          </a:xfrm>
          <a:custGeom>
            <a:avLst/>
            <a:gdLst/>
            <a:ahLst/>
            <a:cxnLst/>
            <a:rect l="l" t="t" r="r" b="b"/>
            <a:pathLst>
              <a:path w="2014659" h="1116102">
                <a:moveTo>
                  <a:pt x="75672" y="0"/>
                </a:moveTo>
                <a:lnTo>
                  <a:pt x="1938988" y="0"/>
                </a:lnTo>
                <a:cubicBezTo>
                  <a:pt x="1980752" y="0"/>
                  <a:pt x="2014659" y="33907"/>
                  <a:pt x="2014659" y="75672"/>
                </a:cubicBezTo>
                <a:lnTo>
                  <a:pt x="2014659" y="1040431"/>
                </a:lnTo>
                <a:cubicBezTo>
                  <a:pt x="2014659" y="1082223"/>
                  <a:pt x="1980780" y="1116102"/>
                  <a:pt x="1938988" y="1116102"/>
                </a:cubicBezTo>
                <a:lnTo>
                  <a:pt x="75672" y="1116102"/>
                </a:lnTo>
                <a:cubicBezTo>
                  <a:pt x="33907" y="1116102"/>
                  <a:pt x="0" y="1082195"/>
                  <a:pt x="0" y="1040431"/>
                </a:cubicBezTo>
                <a:lnTo>
                  <a:pt x="0" y="75672"/>
                </a:lnTo>
                <a:cubicBezTo>
                  <a:pt x="0" y="33907"/>
                  <a:pt x="33907" y="0"/>
                  <a:pt x="75672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5C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78922" y="2099786"/>
            <a:ext cx="1863324" cy="378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80" b="1" dirty="0">
                <a:solidFill>
                  <a:srgbClr val="5CB8A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2.4 yr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730944" y="2515960"/>
            <a:ext cx="1759280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Avg. Tenure at Exit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735673" y="2742964"/>
            <a:ext cx="1749822" cy="151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Industry avg: 2.1 yr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042782" y="3442892"/>
            <a:ext cx="6772282" cy="2686213"/>
          </a:xfrm>
          <a:custGeom>
            <a:avLst/>
            <a:gdLst/>
            <a:ahLst/>
            <a:cxnLst/>
            <a:rect l="l" t="t" r="r" b="b"/>
            <a:pathLst>
              <a:path w="6772282" h="2686213">
                <a:moveTo>
                  <a:pt x="75671" y="0"/>
                </a:moveTo>
                <a:lnTo>
                  <a:pt x="6696612" y="0"/>
                </a:lnTo>
                <a:cubicBezTo>
                  <a:pt x="6738404" y="0"/>
                  <a:pt x="6772282" y="33879"/>
                  <a:pt x="6772282" y="75671"/>
                </a:cubicBezTo>
                <a:lnTo>
                  <a:pt x="6772282" y="2610542"/>
                </a:lnTo>
                <a:cubicBezTo>
                  <a:pt x="6772282" y="2652334"/>
                  <a:pt x="6738404" y="2686213"/>
                  <a:pt x="6696612" y="2686213"/>
                </a:cubicBezTo>
                <a:lnTo>
                  <a:pt x="75671" y="2686213"/>
                </a:lnTo>
                <a:cubicBezTo>
                  <a:pt x="33907" y="2686213"/>
                  <a:pt x="0" y="2652306"/>
                  <a:pt x="0" y="2610542"/>
                </a:cubicBezTo>
                <a:lnTo>
                  <a:pt x="0" y="75671"/>
                </a:lnTo>
                <a:cubicBezTo>
                  <a:pt x="0" y="33907"/>
                  <a:pt x="33907" y="0"/>
                  <a:pt x="75671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41" name="Text 38"/>
          <p:cNvSpPr/>
          <p:nvPr/>
        </p:nvSpPr>
        <p:spPr>
          <a:xfrm>
            <a:off x="5231952" y="3632062"/>
            <a:ext cx="6488528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Retention by Function</a:t>
            </a:r>
            <a:endParaRPr lang="en-US" sz="1600" dirty="0"/>
          </a:p>
        </p:txBody>
      </p:sp>
      <p:pic>
        <p:nvPicPr>
          <p:cNvPr id="42" name="Image 1" descr="https://kimi-img.moonshot.cn/pub/slides/26-03-22-22:29:13-d6vvpeaebk41uqbpi6vg.png"/>
          <p:cNvPicPr>
            <a:picLocks noChangeAspect="1"/>
          </p:cNvPicPr>
          <p:nvPr/>
        </p:nvPicPr>
        <p:blipFill>
          <a:blip r:embed="rId2"/>
          <a:srcRect t="37" b="37"/>
          <a:stretch>
            <a:fillRect/>
          </a:stretch>
        </p:blipFill>
        <p:spPr>
          <a:xfrm>
            <a:off x="5231952" y="4048236"/>
            <a:ext cx="6393943" cy="1891699"/>
          </a:xfrm>
          <a:prstGeom prst="roundRect">
            <a:avLst>
              <a:gd name="adj" fmla="val 0"/>
            </a:avLst>
          </a:prstGeom>
        </p:spPr>
      </p:pic>
      <p:sp>
        <p:nvSpPr>
          <p:cNvPr id="43" name="Shape 39"/>
          <p:cNvSpPr/>
          <p:nvPr/>
        </p:nvSpPr>
        <p:spPr>
          <a:xfrm>
            <a:off x="378340" y="6285170"/>
            <a:ext cx="11435320" cy="9458"/>
          </a:xfrm>
          <a:custGeom>
            <a:avLst/>
            <a:gdLst/>
            <a:ahLst/>
            <a:cxnLst/>
            <a:rect l="l" t="t" r="r" b="b"/>
            <a:pathLst>
              <a:path w="11435320" h="9458">
                <a:moveTo>
                  <a:pt x="0" y="0"/>
                </a:moveTo>
                <a:lnTo>
                  <a:pt x="11435320" y="0"/>
                </a:lnTo>
                <a:lnTo>
                  <a:pt x="11435320" y="9458"/>
                </a:lnTo>
                <a:lnTo>
                  <a:pt x="0" y="945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44" name="Shape 40"/>
          <p:cNvSpPr/>
          <p:nvPr/>
        </p:nvSpPr>
        <p:spPr>
          <a:xfrm>
            <a:off x="401986" y="6479069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94585" y="189170"/>
                </a:moveTo>
                <a:cubicBezTo>
                  <a:pt x="146788" y="189170"/>
                  <a:pt x="189170" y="146788"/>
                  <a:pt x="189170" y="94585"/>
                </a:cubicBezTo>
                <a:cubicBezTo>
                  <a:pt x="189170" y="42382"/>
                  <a:pt x="146788" y="0"/>
                  <a:pt x="94585" y="0"/>
                </a:cubicBezTo>
                <a:cubicBezTo>
                  <a:pt x="42382" y="0"/>
                  <a:pt x="0" y="42382"/>
                  <a:pt x="0" y="94585"/>
                </a:cubicBezTo>
                <a:cubicBezTo>
                  <a:pt x="0" y="146788"/>
                  <a:pt x="42382" y="189170"/>
                  <a:pt x="94585" y="189170"/>
                </a:cubicBezTo>
                <a:close/>
                <a:moveTo>
                  <a:pt x="125768" y="78587"/>
                </a:moveTo>
                <a:lnTo>
                  <a:pt x="96211" y="125879"/>
                </a:lnTo>
                <a:cubicBezTo>
                  <a:pt x="94659" y="128355"/>
                  <a:pt x="91999" y="129907"/>
                  <a:pt x="89080" y="130054"/>
                </a:cubicBezTo>
                <a:cubicBezTo>
                  <a:pt x="86161" y="130202"/>
                  <a:pt x="83353" y="128872"/>
                  <a:pt x="81616" y="126507"/>
                </a:cubicBezTo>
                <a:lnTo>
                  <a:pt x="63882" y="102861"/>
                </a:lnTo>
                <a:cubicBezTo>
                  <a:pt x="60926" y="98945"/>
                  <a:pt x="61739" y="93403"/>
                  <a:pt x="65655" y="90447"/>
                </a:cubicBezTo>
                <a:cubicBezTo>
                  <a:pt x="69572" y="87491"/>
                  <a:pt x="75114" y="88304"/>
                  <a:pt x="78070" y="92220"/>
                </a:cubicBezTo>
                <a:lnTo>
                  <a:pt x="88045" y="105521"/>
                </a:lnTo>
                <a:lnTo>
                  <a:pt x="110731" y="69202"/>
                </a:lnTo>
                <a:cubicBezTo>
                  <a:pt x="113317" y="65064"/>
                  <a:pt x="118785" y="63771"/>
                  <a:pt x="122960" y="66394"/>
                </a:cubicBezTo>
                <a:cubicBezTo>
                  <a:pt x="127135" y="69017"/>
                  <a:pt x="128392" y="74449"/>
                  <a:pt x="125768" y="78624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5" name="Text 41"/>
          <p:cNvSpPr/>
          <p:nvPr/>
        </p:nvSpPr>
        <p:spPr>
          <a:xfrm>
            <a:off x="728304" y="6441235"/>
            <a:ext cx="2610545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Within Benchmark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728304" y="6668239"/>
            <a:ext cx="2601086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6.7% below SaaS industry average of 13-18%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4251963" y="6479069"/>
            <a:ext cx="212816" cy="189170"/>
          </a:xfrm>
          <a:custGeom>
            <a:avLst/>
            <a:gdLst/>
            <a:ahLst/>
            <a:cxnLst/>
            <a:rect l="l" t="t" r="r" b="b"/>
            <a:pathLst>
              <a:path w="212816" h="189170">
                <a:moveTo>
                  <a:pt x="106408" y="11823"/>
                </a:moveTo>
                <a:cubicBezTo>
                  <a:pt x="76555" y="11823"/>
                  <a:pt x="52650" y="25420"/>
                  <a:pt x="35248" y="41603"/>
                </a:cubicBezTo>
                <a:cubicBezTo>
                  <a:pt x="17956" y="57675"/>
                  <a:pt x="6392" y="76850"/>
                  <a:pt x="887" y="90040"/>
                </a:cubicBezTo>
                <a:cubicBezTo>
                  <a:pt x="-333" y="92959"/>
                  <a:pt x="-333" y="96211"/>
                  <a:pt x="887" y="99129"/>
                </a:cubicBezTo>
                <a:cubicBezTo>
                  <a:pt x="6392" y="112320"/>
                  <a:pt x="17956" y="131532"/>
                  <a:pt x="35248" y="147567"/>
                </a:cubicBezTo>
                <a:cubicBezTo>
                  <a:pt x="52650" y="163713"/>
                  <a:pt x="76555" y="177347"/>
                  <a:pt x="106408" y="177347"/>
                </a:cubicBezTo>
                <a:cubicBezTo>
                  <a:pt x="136261" y="177347"/>
                  <a:pt x="160166" y="163750"/>
                  <a:pt x="177568" y="147567"/>
                </a:cubicBezTo>
                <a:cubicBezTo>
                  <a:pt x="194860" y="131495"/>
                  <a:pt x="206424" y="112320"/>
                  <a:pt x="211929" y="99129"/>
                </a:cubicBezTo>
                <a:cubicBezTo>
                  <a:pt x="213149" y="96211"/>
                  <a:pt x="213149" y="92959"/>
                  <a:pt x="211929" y="90040"/>
                </a:cubicBezTo>
                <a:cubicBezTo>
                  <a:pt x="206424" y="76850"/>
                  <a:pt x="194860" y="57638"/>
                  <a:pt x="177568" y="41603"/>
                </a:cubicBezTo>
                <a:cubicBezTo>
                  <a:pt x="160166" y="25457"/>
                  <a:pt x="136261" y="11823"/>
                  <a:pt x="106408" y="11823"/>
                </a:cubicBezTo>
                <a:close/>
                <a:moveTo>
                  <a:pt x="53204" y="94585"/>
                </a:moveTo>
                <a:cubicBezTo>
                  <a:pt x="53204" y="65221"/>
                  <a:pt x="77044" y="41381"/>
                  <a:pt x="106408" y="41381"/>
                </a:cubicBezTo>
                <a:cubicBezTo>
                  <a:pt x="135772" y="41381"/>
                  <a:pt x="159612" y="65221"/>
                  <a:pt x="159612" y="94585"/>
                </a:cubicBezTo>
                <a:cubicBezTo>
                  <a:pt x="159612" y="123949"/>
                  <a:pt x="135772" y="147789"/>
                  <a:pt x="106408" y="147789"/>
                </a:cubicBezTo>
                <a:cubicBezTo>
                  <a:pt x="77044" y="147789"/>
                  <a:pt x="53204" y="123949"/>
                  <a:pt x="53204" y="94585"/>
                </a:cubicBezTo>
                <a:close/>
                <a:moveTo>
                  <a:pt x="106408" y="70939"/>
                </a:moveTo>
                <a:cubicBezTo>
                  <a:pt x="106408" y="83981"/>
                  <a:pt x="95804" y="94585"/>
                  <a:pt x="82762" y="94585"/>
                </a:cubicBezTo>
                <a:cubicBezTo>
                  <a:pt x="78513" y="94585"/>
                  <a:pt x="74523" y="93477"/>
                  <a:pt x="71050" y="91481"/>
                </a:cubicBezTo>
                <a:cubicBezTo>
                  <a:pt x="70680" y="95509"/>
                  <a:pt x="71013" y="99647"/>
                  <a:pt x="72121" y="103748"/>
                </a:cubicBezTo>
                <a:cubicBezTo>
                  <a:pt x="77183" y="122665"/>
                  <a:pt x="96654" y="133897"/>
                  <a:pt x="115571" y="128835"/>
                </a:cubicBezTo>
                <a:cubicBezTo>
                  <a:pt x="134488" y="123773"/>
                  <a:pt x="145720" y="104302"/>
                  <a:pt x="140658" y="85385"/>
                </a:cubicBezTo>
                <a:cubicBezTo>
                  <a:pt x="136151" y="68500"/>
                  <a:pt x="120152" y="57749"/>
                  <a:pt x="103304" y="59226"/>
                </a:cubicBezTo>
                <a:cubicBezTo>
                  <a:pt x="105263" y="62663"/>
                  <a:pt x="106408" y="66653"/>
                  <a:pt x="106408" y="70939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48" name="Text 44"/>
          <p:cNvSpPr/>
          <p:nvPr/>
        </p:nvSpPr>
        <p:spPr>
          <a:xfrm>
            <a:off x="4590104" y="6441235"/>
            <a:ext cx="2052493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Monitoring Required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4590104" y="6668239"/>
            <a:ext cx="204303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of 3 departures from Engineering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8149306" y="6479069"/>
            <a:ext cx="141877" cy="189170"/>
          </a:xfrm>
          <a:custGeom>
            <a:avLst/>
            <a:gdLst/>
            <a:ahLst/>
            <a:cxnLst/>
            <a:rect l="l" t="t" r="r" b="b"/>
            <a:pathLst>
              <a:path w="141877" h="189170">
                <a:moveTo>
                  <a:pt x="108218" y="141877"/>
                </a:moveTo>
                <a:cubicBezTo>
                  <a:pt x="110916" y="133638"/>
                  <a:pt x="116310" y="126175"/>
                  <a:pt x="122406" y="119746"/>
                </a:cubicBezTo>
                <a:cubicBezTo>
                  <a:pt x="134488" y="107036"/>
                  <a:pt x="141877" y="89856"/>
                  <a:pt x="141877" y="70939"/>
                </a:cubicBezTo>
                <a:cubicBezTo>
                  <a:pt x="141877" y="31775"/>
                  <a:pt x="110103" y="0"/>
                  <a:pt x="70939" y="0"/>
                </a:cubicBezTo>
                <a:cubicBezTo>
                  <a:pt x="31775" y="0"/>
                  <a:pt x="0" y="31775"/>
                  <a:pt x="0" y="70939"/>
                </a:cubicBezTo>
                <a:cubicBezTo>
                  <a:pt x="0" y="89856"/>
                  <a:pt x="7389" y="107036"/>
                  <a:pt x="19471" y="119746"/>
                </a:cubicBezTo>
                <a:cubicBezTo>
                  <a:pt x="25567" y="126175"/>
                  <a:pt x="30999" y="133638"/>
                  <a:pt x="33659" y="141877"/>
                </a:cubicBezTo>
                <a:lnTo>
                  <a:pt x="108182" y="141877"/>
                </a:lnTo>
                <a:close/>
                <a:moveTo>
                  <a:pt x="106408" y="159612"/>
                </a:moveTo>
                <a:lnTo>
                  <a:pt x="35469" y="159612"/>
                </a:lnTo>
                <a:lnTo>
                  <a:pt x="35469" y="165524"/>
                </a:lnTo>
                <a:cubicBezTo>
                  <a:pt x="35469" y="181854"/>
                  <a:pt x="48696" y="195081"/>
                  <a:pt x="65027" y="195081"/>
                </a:cubicBezTo>
                <a:lnTo>
                  <a:pt x="76850" y="195081"/>
                </a:lnTo>
                <a:cubicBezTo>
                  <a:pt x="93181" y="195081"/>
                  <a:pt x="106408" y="181854"/>
                  <a:pt x="106408" y="165524"/>
                </a:cubicBezTo>
                <a:lnTo>
                  <a:pt x="106408" y="159612"/>
                </a:lnTo>
                <a:close/>
                <a:moveTo>
                  <a:pt x="67983" y="41381"/>
                </a:moveTo>
                <a:cubicBezTo>
                  <a:pt x="53278" y="41381"/>
                  <a:pt x="41381" y="53278"/>
                  <a:pt x="41381" y="67983"/>
                </a:cubicBezTo>
                <a:cubicBezTo>
                  <a:pt x="41381" y="72897"/>
                  <a:pt x="37428" y="76850"/>
                  <a:pt x="32514" y="76850"/>
                </a:cubicBezTo>
                <a:cubicBezTo>
                  <a:pt x="27600" y="76850"/>
                  <a:pt x="23646" y="72897"/>
                  <a:pt x="23646" y="67983"/>
                </a:cubicBezTo>
                <a:cubicBezTo>
                  <a:pt x="23646" y="43487"/>
                  <a:pt x="43487" y="23646"/>
                  <a:pt x="67983" y="23646"/>
                </a:cubicBezTo>
                <a:cubicBezTo>
                  <a:pt x="72897" y="23646"/>
                  <a:pt x="76850" y="27600"/>
                  <a:pt x="76850" y="32514"/>
                </a:cubicBezTo>
                <a:cubicBezTo>
                  <a:pt x="76850" y="37428"/>
                  <a:pt x="72897" y="41381"/>
                  <a:pt x="67983" y="41381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1" name="Text 47"/>
          <p:cNvSpPr/>
          <p:nvPr/>
        </p:nvSpPr>
        <p:spPr>
          <a:xfrm>
            <a:off x="8451978" y="6441235"/>
            <a:ext cx="2714588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Taken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8451978" y="6668239"/>
            <a:ext cx="2705130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Exit interviews completed; feedback reviewed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42" y="327742"/>
            <a:ext cx="4252452" cy="3277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and Talent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742" y="721032"/>
            <a:ext cx="4178710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Performance Cycle and Talent Quality Assessment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339871" y="376903"/>
            <a:ext cx="524387" cy="524387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44129" y="1147097"/>
            <a:ext cx="5653548" cy="2359742"/>
          </a:xfrm>
          <a:custGeom>
            <a:avLst/>
            <a:gdLst/>
            <a:ahLst/>
            <a:cxnLst/>
            <a:rect l="l" t="t" r="r" b="b"/>
            <a:pathLst>
              <a:path w="5653548" h="2359742">
                <a:moveTo>
                  <a:pt x="32774" y="0"/>
                </a:moveTo>
                <a:lnTo>
                  <a:pt x="5587995" y="0"/>
                </a:lnTo>
                <a:cubicBezTo>
                  <a:pt x="5624199" y="0"/>
                  <a:pt x="5653548" y="29349"/>
                  <a:pt x="5653548" y="65554"/>
                </a:cubicBezTo>
                <a:lnTo>
                  <a:pt x="5653548" y="2294188"/>
                </a:lnTo>
                <a:cubicBezTo>
                  <a:pt x="5653548" y="2330393"/>
                  <a:pt x="5624199" y="2359742"/>
                  <a:pt x="5587995" y="2359742"/>
                </a:cubicBezTo>
                <a:lnTo>
                  <a:pt x="32774" y="2359742"/>
                </a:lnTo>
                <a:cubicBezTo>
                  <a:pt x="14674" y="2359742"/>
                  <a:pt x="0" y="2345068"/>
                  <a:pt x="0" y="2326968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" name="Shape 3"/>
          <p:cNvSpPr/>
          <p:nvPr/>
        </p:nvSpPr>
        <p:spPr>
          <a:xfrm>
            <a:off x="344129" y="1147097"/>
            <a:ext cx="32774" cy="2359742"/>
          </a:xfrm>
          <a:custGeom>
            <a:avLst/>
            <a:gdLst/>
            <a:ahLst/>
            <a:cxnLst/>
            <a:rect l="l" t="t" r="r" b="b"/>
            <a:pathLst>
              <a:path w="32774" h="2359742">
                <a:moveTo>
                  <a:pt x="32774" y="0"/>
                </a:moveTo>
                <a:lnTo>
                  <a:pt x="32774" y="0"/>
                </a:lnTo>
                <a:lnTo>
                  <a:pt x="32774" y="2359742"/>
                </a:lnTo>
                <a:lnTo>
                  <a:pt x="32774" y="2359742"/>
                </a:lnTo>
                <a:cubicBezTo>
                  <a:pt x="14674" y="2359742"/>
                  <a:pt x="0" y="2345068"/>
                  <a:pt x="0" y="2326968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7" name="Shape 4"/>
          <p:cNvSpPr/>
          <p:nvPr/>
        </p:nvSpPr>
        <p:spPr>
          <a:xfrm>
            <a:off x="565355" y="1343742"/>
            <a:ext cx="122903" cy="163871"/>
          </a:xfrm>
          <a:custGeom>
            <a:avLst/>
            <a:gdLst/>
            <a:ahLst/>
            <a:cxnLst/>
            <a:rect l="l" t="t" r="r" b="b"/>
            <a:pathLst>
              <a:path w="122903" h="163871">
                <a:moveTo>
                  <a:pt x="99667" y="10242"/>
                </a:moveTo>
                <a:lnTo>
                  <a:pt x="102419" y="10242"/>
                </a:lnTo>
                <a:cubicBezTo>
                  <a:pt x="113717" y="10242"/>
                  <a:pt x="122903" y="19428"/>
                  <a:pt x="122903" y="30726"/>
                </a:cubicBezTo>
                <a:lnTo>
                  <a:pt x="122903" y="143387"/>
                </a:lnTo>
                <a:cubicBezTo>
                  <a:pt x="122903" y="154685"/>
                  <a:pt x="113717" y="163871"/>
                  <a:pt x="102419" y="163871"/>
                </a:cubicBezTo>
                <a:lnTo>
                  <a:pt x="20484" y="163871"/>
                </a:lnTo>
                <a:cubicBezTo>
                  <a:pt x="9186" y="163871"/>
                  <a:pt x="0" y="154685"/>
                  <a:pt x="0" y="143387"/>
                </a:cubicBezTo>
                <a:lnTo>
                  <a:pt x="0" y="30726"/>
                </a:lnTo>
                <a:cubicBezTo>
                  <a:pt x="0" y="19428"/>
                  <a:pt x="9186" y="10242"/>
                  <a:pt x="20484" y="10242"/>
                </a:cubicBezTo>
                <a:lnTo>
                  <a:pt x="23236" y="10242"/>
                </a:lnTo>
                <a:cubicBezTo>
                  <a:pt x="26757" y="4129"/>
                  <a:pt x="33382" y="0"/>
                  <a:pt x="40968" y="0"/>
                </a:cubicBezTo>
                <a:lnTo>
                  <a:pt x="81935" y="0"/>
                </a:lnTo>
                <a:cubicBezTo>
                  <a:pt x="89521" y="0"/>
                  <a:pt x="96146" y="4129"/>
                  <a:pt x="99667" y="10242"/>
                </a:cubicBezTo>
                <a:close/>
                <a:moveTo>
                  <a:pt x="79375" y="35847"/>
                </a:moveTo>
                <a:cubicBezTo>
                  <a:pt x="83632" y="35847"/>
                  <a:pt x="87056" y="32422"/>
                  <a:pt x="87056" y="28165"/>
                </a:cubicBezTo>
                <a:cubicBezTo>
                  <a:pt x="87056" y="23909"/>
                  <a:pt x="83632" y="20484"/>
                  <a:pt x="79375" y="20484"/>
                </a:cubicBezTo>
                <a:lnTo>
                  <a:pt x="43528" y="20484"/>
                </a:lnTo>
                <a:cubicBezTo>
                  <a:pt x="39271" y="20484"/>
                  <a:pt x="35847" y="23909"/>
                  <a:pt x="35847" y="28165"/>
                </a:cubicBezTo>
                <a:cubicBezTo>
                  <a:pt x="35847" y="32422"/>
                  <a:pt x="39271" y="35847"/>
                  <a:pt x="43528" y="35847"/>
                </a:cubicBezTo>
                <a:lnTo>
                  <a:pt x="79375" y="35847"/>
                </a:lnTo>
                <a:close/>
                <a:moveTo>
                  <a:pt x="88465" y="83440"/>
                </a:moveTo>
                <a:cubicBezTo>
                  <a:pt x="90705" y="79855"/>
                  <a:pt x="89617" y="75118"/>
                  <a:pt x="86032" y="72846"/>
                </a:cubicBezTo>
                <a:cubicBezTo>
                  <a:pt x="82448" y="70573"/>
                  <a:pt x="77711" y="71694"/>
                  <a:pt x="75438" y="75278"/>
                </a:cubicBezTo>
                <a:lnTo>
                  <a:pt x="55787" y="106740"/>
                </a:lnTo>
                <a:lnTo>
                  <a:pt x="47145" y="95218"/>
                </a:lnTo>
                <a:cubicBezTo>
                  <a:pt x="44584" y="91825"/>
                  <a:pt x="39784" y="91121"/>
                  <a:pt x="36391" y="93682"/>
                </a:cubicBezTo>
                <a:cubicBezTo>
                  <a:pt x="32998" y="96242"/>
                  <a:pt x="32294" y="101043"/>
                  <a:pt x="34855" y="104436"/>
                </a:cubicBezTo>
                <a:lnTo>
                  <a:pt x="50217" y="124920"/>
                </a:lnTo>
                <a:cubicBezTo>
                  <a:pt x="51722" y="126936"/>
                  <a:pt x="54154" y="128088"/>
                  <a:pt x="56683" y="127992"/>
                </a:cubicBezTo>
                <a:cubicBezTo>
                  <a:pt x="59211" y="127896"/>
                  <a:pt x="61516" y="126552"/>
                  <a:pt x="62860" y="124376"/>
                </a:cubicBezTo>
                <a:lnTo>
                  <a:pt x="88465" y="83408"/>
                </a:lnTo>
                <a:close/>
              </a:path>
            </a:pathLst>
          </a:custGeom>
          <a:solidFill>
            <a:srgbClr val="1E3A5F"/>
          </a:solidFill>
        </p:spPr>
      </p:sp>
      <p:sp>
        <p:nvSpPr>
          <p:cNvPr id="8" name="Text 5"/>
          <p:cNvSpPr/>
          <p:nvPr/>
        </p:nvSpPr>
        <p:spPr>
          <a:xfrm>
            <a:off x="729226" y="1310968"/>
            <a:ext cx="5186516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Q1 Performance Review Cycle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4387" y="1937774"/>
            <a:ext cx="5309419" cy="8194"/>
          </a:xfrm>
          <a:custGeom>
            <a:avLst/>
            <a:gdLst/>
            <a:ahLst/>
            <a:cxnLst/>
            <a:rect l="l" t="t" r="r" b="b"/>
            <a:pathLst>
              <a:path w="5309419" h="8194">
                <a:moveTo>
                  <a:pt x="0" y="0"/>
                </a:moveTo>
                <a:lnTo>
                  <a:pt x="5309419" y="0"/>
                </a:lnTo>
                <a:lnTo>
                  <a:pt x="5309419" y="8194"/>
                </a:lnTo>
                <a:lnTo>
                  <a:pt x="0" y="81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0" name="Text 7"/>
          <p:cNvSpPr/>
          <p:nvPr/>
        </p:nvSpPr>
        <p:spPr>
          <a:xfrm>
            <a:off x="524387" y="1671484"/>
            <a:ext cx="1704258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Self-Assessment Completion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87552" y="1671484"/>
            <a:ext cx="31135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94%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4387" y="2306484"/>
            <a:ext cx="5309419" cy="8194"/>
          </a:xfrm>
          <a:custGeom>
            <a:avLst/>
            <a:gdLst/>
            <a:ahLst/>
            <a:cxnLst/>
            <a:rect l="l" t="t" r="r" b="b"/>
            <a:pathLst>
              <a:path w="5309419" h="8194">
                <a:moveTo>
                  <a:pt x="0" y="0"/>
                </a:moveTo>
                <a:lnTo>
                  <a:pt x="5309419" y="0"/>
                </a:lnTo>
                <a:lnTo>
                  <a:pt x="5309419" y="8194"/>
                </a:lnTo>
                <a:lnTo>
                  <a:pt x="0" y="81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3" name="Text 10"/>
          <p:cNvSpPr/>
          <p:nvPr/>
        </p:nvSpPr>
        <p:spPr>
          <a:xfrm>
            <a:off x="524387" y="2040194"/>
            <a:ext cx="1704258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Manager Review Completion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87424" y="2040194"/>
            <a:ext cx="31135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92%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4387" y="2675194"/>
            <a:ext cx="5309419" cy="8194"/>
          </a:xfrm>
          <a:custGeom>
            <a:avLst/>
            <a:gdLst/>
            <a:ahLst/>
            <a:cxnLst/>
            <a:rect l="l" t="t" r="r" b="b"/>
            <a:pathLst>
              <a:path w="5309419" h="8194">
                <a:moveTo>
                  <a:pt x="0" y="0"/>
                </a:moveTo>
                <a:lnTo>
                  <a:pt x="5309419" y="0"/>
                </a:lnTo>
                <a:lnTo>
                  <a:pt x="5309419" y="8194"/>
                </a:lnTo>
                <a:lnTo>
                  <a:pt x="0" y="81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6" name="Text 13"/>
          <p:cNvSpPr/>
          <p:nvPr/>
        </p:nvSpPr>
        <p:spPr>
          <a:xfrm>
            <a:off x="524387" y="2408903"/>
            <a:ext cx="1499419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Calibration Sessions Held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15858" y="2408903"/>
            <a:ext cx="385097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 of 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24387" y="3043903"/>
            <a:ext cx="5309419" cy="8194"/>
          </a:xfrm>
          <a:custGeom>
            <a:avLst/>
            <a:gdLst/>
            <a:ahLst/>
            <a:cxnLst/>
            <a:rect l="l" t="t" r="r" b="b"/>
            <a:pathLst>
              <a:path w="5309419" h="8194">
                <a:moveTo>
                  <a:pt x="0" y="0"/>
                </a:moveTo>
                <a:lnTo>
                  <a:pt x="5309419" y="0"/>
                </a:lnTo>
                <a:lnTo>
                  <a:pt x="5309419" y="8194"/>
                </a:lnTo>
                <a:lnTo>
                  <a:pt x="0" y="81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19" name="Text 16"/>
          <p:cNvSpPr/>
          <p:nvPr/>
        </p:nvSpPr>
        <p:spPr>
          <a:xfrm>
            <a:off x="524387" y="2777613"/>
            <a:ext cx="1433871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Final Reviews Approved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514834" y="2777613"/>
            <a:ext cx="385097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4387" y="3146323"/>
            <a:ext cx="1646903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 Review Cycle Time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20416" y="3146323"/>
            <a:ext cx="475226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 days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7742" y="3670710"/>
            <a:ext cx="5669935" cy="2753032"/>
          </a:xfrm>
          <a:custGeom>
            <a:avLst/>
            <a:gdLst/>
            <a:ahLst/>
            <a:cxnLst/>
            <a:rect l="l" t="t" r="r" b="b"/>
            <a:pathLst>
              <a:path w="5669935" h="2753032">
                <a:moveTo>
                  <a:pt x="65550" y="0"/>
                </a:moveTo>
                <a:lnTo>
                  <a:pt x="5604386" y="0"/>
                </a:lnTo>
                <a:cubicBezTo>
                  <a:pt x="5640588" y="0"/>
                  <a:pt x="5669935" y="29348"/>
                  <a:pt x="5669935" y="65550"/>
                </a:cubicBezTo>
                <a:lnTo>
                  <a:pt x="5669935" y="2687483"/>
                </a:lnTo>
                <a:cubicBezTo>
                  <a:pt x="5669935" y="2723660"/>
                  <a:pt x="5640564" y="2753032"/>
                  <a:pt x="5604386" y="2753032"/>
                </a:cubicBezTo>
                <a:lnTo>
                  <a:pt x="65550" y="2753032"/>
                </a:lnTo>
                <a:cubicBezTo>
                  <a:pt x="29348" y="2753032"/>
                  <a:pt x="0" y="2723685"/>
                  <a:pt x="0" y="2687483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24" name="Shape 21"/>
          <p:cNvSpPr/>
          <p:nvPr/>
        </p:nvSpPr>
        <p:spPr>
          <a:xfrm>
            <a:off x="501855" y="3867355"/>
            <a:ext cx="184355" cy="163871"/>
          </a:xfrm>
          <a:custGeom>
            <a:avLst/>
            <a:gdLst/>
            <a:ahLst/>
            <a:cxnLst/>
            <a:rect l="l" t="t" r="r" b="b"/>
            <a:pathLst>
              <a:path w="184355" h="163871">
                <a:moveTo>
                  <a:pt x="99059" y="-6049"/>
                </a:moveTo>
                <a:cubicBezTo>
                  <a:pt x="97746" y="-8610"/>
                  <a:pt x="95090" y="-10242"/>
                  <a:pt x="92209" y="-10242"/>
                </a:cubicBezTo>
                <a:cubicBezTo>
                  <a:pt x="89329" y="-10242"/>
                  <a:pt x="86672" y="-8610"/>
                  <a:pt x="85360" y="-6049"/>
                </a:cubicBezTo>
                <a:lnTo>
                  <a:pt x="61804" y="40104"/>
                </a:lnTo>
                <a:lnTo>
                  <a:pt x="10626" y="48233"/>
                </a:lnTo>
                <a:cubicBezTo>
                  <a:pt x="7777" y="48681"/>
                  <a:pt x="5409" y="50698"/>
                  <a:pt x="4513" y="53450"/>
                </a:cubicBezTo>
                <a:cubicBezTo>
                  <a:pt x="3617" y="56203"/>
                  <a:pt x="4353" y="59211"/>
                  <a:pt x="6369" y="61260"/>
                </a:cubicBezTo>
                <a:lnTo>
                  <a:pt x="42984" y="97907"/>
                </a:lnTo>
                <a:lnTo>
                  <a:pt x="34919" y="149084"/>
                </a:lnTo>
                <a:cubicBezTo>
                  <a:pt x="34471" y="151933"/>
                  <a:pt x="35655" y="154813"/>
                  <a:pt x="37991" y="156510"/>
                </a:cubicBezTo>
                <a:cubicBezTo>
                  <a:pt x="40328" y="158206"/>
                  <a:pt x="43400" y="158462"/>
                  <a:pt x="45993" y="157150"/>
                </a:cubicBezTo>
                <a:lnTo>
                  <a:pt x="92209" y="133657"/>
                </a:lnTo>
                <a:lnTo>
                  <a:pt x="138394" y="157150"/>
                </a:lnTo>
                <a:cubicBezTo>
                  <a:pt x="140955" y="158462"/>
                  <a:pt x="144059" y="158206"/>
                  <a:pt x="146396" y="156510"/>
                </a:cubicBezTo>
                <a:cubicBezTo>
                  <a:pt x="148732" y="154813"/>
                  <a:pt x="149916" y="151965"/>
                  <a:pt x="149468" y="149084"/>
                </a:cubicBezTo>
                <a:lnTo>
                  <a:pt x="141371" y="97907"/>
                </a:lnTo>
                <a:lnTo>
                  <a:pt x="177986" y="61260"/>
                </a:lnTo>
                <a:cubicBezTo>
                  <a:pt x="180034" y="59211"/>
                  <a:pt x="180738" y="56203"/>
                  <a:pt x="179842" y="53450"/>
                </a:cubicBezTo>
                <a:cubicBezTo>
                  <a:pt x="178946" y="50698"/>
                  <a:pt x="176609" y="48681"/>
                  <a:pt x="173729" y="48233"/>
                </a:cubicBezTo>
                <a:lnTo>
                  <a:pt x="122583" y="40104"/>
                </a:lnTo>
                <a:lnTo>
                  <a:pt x="99059" y="-604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>
            <a:off x="696452" y="3834581"/>
            <a:ext cx="5219290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Distribution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91613" y="4195097"/>
            <a:ext cx="1294581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Exceeds Expectations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611813" y="4195097"/>
            <a:ext cx="286774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18%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91613" y="4424516"/>
            <a:ext cx="5342194" cy="98323"/>
          </a:xfrm>
          <a:custGeom>
            <a:avLst/>
            <a:gdLst/>
            <a:ahLst/>
            <a:cxnLst/>
            <a:rect l="l" t="t" r="r" b="b"/>
            <a:pathLst>
              <a:path w="5342194" h="98323">
                <a:moveTo>
                  <a:pt x="49161" y="0"/>
                </a:moveTo>
                <a:lnTo>
                  <a:pt x="5293032" y="0"/>
                </a:lnTo>
                <a:cubicBezTo>
                  <a:pt x="5320183" y="0"/>
                  <a:pt x="5342194" y="22010"/>
                  <a:pt x="5342194" y="49161"/>
                </a:cubicBezTo>
                <a:lnTo>
                  <a:pt x="5342194" y="49161"/>
                </a:lnTo>
                <a:cubicBezTo>
                  <a:pt x="5342194" y="76312"/>
                  <a:pt x="5320183" y="98323"/>
                  <a:pt x="5293032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491613" y="4424516"/>
            <a:ext cx="958645" cy="98323"/>
          </a:xfrm>
          <a:custGeom>
            <a:avLst/>
            <a:gdLst/>
            <a:ahLst/>
            <a:cxnLst/>
            <a:rect l="l" t="t" r="r" b="b"/>
            <a:pathLst>
              <a:path w="958645" h="98323">
                <a:moveTo>
                  <a:pt x="49161" y="0"/>
                </a:moveTo>
                <a:lnTo>
                  <a:pt x="909484" y="0"/>
                </a:lnTo>
                <a:cubicBezTo>
                  <a:pt x="936635" y="0"/>
                  <a:pt x="958645" y="22010"/>
                  <a:pt x="958645" y="49161"/>
                </a:cubicBezTo>
                <a:lnTo>
                  <a:pt x="958645" y="49161"/>
                </a:lnTo>
                <a:cubicBezTo>
                  <a:pt x="958645" y="76312"/>
                  <a:pt x="936635" y="98323"/>
                  <a:pt x="909484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30" name="Text 27"/>
          <p:cNvSpPr/>
          <p:nvPr/>
        </p:nvSpPr>
        <p:spPr>
          <a:xfrm>
            <a:off x="491613" y="4621161"/>
            <a:ext cx="1163484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Meets Expectations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594401" y="4621161"/>
            <a:ext cx="303161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67%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91613" y="4850581"/>
            <a:ext cx="5342194" cy="98323"/>
          </a:xfrm>
          <a:custGeom>
            <a:avLst/>
            <a:gdLst/>
            <a:ahLst/>
            <a:cxnLst/>
            <a:rect l="l" t="t" r="r" b="b"/>
            <a:pathLst>
              <a:path w="5342194" h="98323">
                <a:moveTo>
                  <a:pt x="49161" y="0"/>
                </a:moveTo>
                <a:lnTo>
                  <a:pt x="5293032" y="0"/>
                </a:lnTo>
                <a:cubicBezTo>
                  <a:pt x="5320183" y="0"/>
                  <a:pt x="5342194" y="22010"/>
                  <a:pt x="5342194" y="49161"/>
                </a:cubicBezTo>
                <a:lnTo>
                  <a:pt x="5342194" y="49161"/>
                </a:lnTo>
                <a:cubicBezTo>
                  <a:pt x="5342194" y="76312"/>
                  <a:pt x="5320183" y="98323"/>
                  <a:pt x="5293032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491613" y="4850581"/>
            <a:ext cx="3580581" cy="98323"/>
          </a:xfrm>
          <a:custGeom>
            <a:avLst/>
            <a:gdLst/>
            <a:ahLst/>
            <a:cxnLst/>
            <a:rect l="l" t="t" r="r" b="b"/>
            <a:pathLst>
              <a:path w="3580581" h="98323">
                <a:moveTo>
                  <a:pt x="49161" y="0"/>
                </a:moveTo>
                <a:lnTo>
                  <a:pt x="3531419" y="0"/>
                </a:lnTo>
                <a:cubicBezTo>
                  <a:pt x="3558570" y="0"/>
                  <a:pt x="3580581" y="22010"/>
                  <a:pt x="3580581" y="49161"/>
                </a:cubicBezTo>
                <a:lnTo>
                  <a:pt x="3580581" y="49161"/>
                </a:lnTo>
                <a:cubicBezTo>
                  <a:pt x="3580581" y="76312"/>
                  <a:pt x="3558570" y="98323"/>
                  <a:pt x="3531419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34" name="Text 31"/>
          <p:cNvSpPr/>
          <p:nvPr/>
        </p:nvSpPr>
        <p:spPr>
          <a:xfrm>
            <a:off x="491613" y="5047226"/>
            <a:ext cx="712839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Developing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618278" y="5047226"/>
            <a:ext cx="278581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12%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91613" y="5276645"/>
            <a:ext cx="5342194" cy="98323"/>
          </a:xfrm>
          <a:custGeom>
            <a:avLst/>
            <a:gdLst/>
            <a:ahLst/>
            <a:cxnLst/>
            <a:rect l="l" t="t" r="r" b="b"/>
            <a:pathLst>
              <a:path w="5342194" h="98323">
                <a:moveTo>
                  <a:pt x="49161" y="0"/>
                </a:moveTo>
                <a:lnTo>
                  <a:pt x="5293032" y="0"/>
                </a:lnTo>
                <a:cubicBezTo>
                  <a:pt x="5320183" y="0"/>
                  <a:pt x="5342194" y="22010"/>
                  <a:pt x="5342194" y="49161"/>
                </a:cubicBezTo>
                <a:lnTo>
                  <a:pt x="5342194" y="49161"/>
                </a:lnTo>
                <a:cubicBezTo>
                  <a:pt x="5342194" y="76312"/>
                  <a:pt x="5320183" y="98323"/>
                  <a:pt x="5293032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491613" y="5276645"/>
            <a:ext cx="639097" cy="98323"/>
          </a:xfrm>
          <a:custGeom>
            <a:avLst/>
            <a:gdLst/>
            <a:ahLst/>
            <a:cxnLst/>
            <a:rect l="l" t="t" r="r" b="b"/>
            <a:pathLst>
              <a:path w="639097" h="98323">
                <a:moveTo>
                  <a:pt x="49161" y="0"/>
                </a:moveTo>
                <a:lnTo>
                  <a:pt x="589935" y="0"/>
                </a:lnTo>
                <a:cubicBezTo>
                  <a:pt x="617087" y="0"/>
                  <a:pt x="639097" y="22010"/>
                  <a:pt x="639097" y="49161"/>
                </a:cubicBezTo>
                <a:lnTo>
                  <a:pt x="639097" y="49161"/>
                </a:lnTo>
                <a:cubicBezTo>
                  <a:pt x="639097" y="76312"/>
                  <a:pt x="617087" y="98323"/>
                  <a:pt x="589935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491613" y="5473290"/>
            <a:ext cx="1229032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Needs Improvement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656429" y="5473290"/>
            <a:ext cx="245806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3%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91613" y="5702710"/>
            <a:ext cx="5342194" cy="98323"/>
          </a:xfrm>
          <a:custGeom>
            <a:avLst/>
            <a:gdLst/>
            <a:ahLst/>
            <a:cxnLst/>
            <a:rect l="l" t="t" r="r" b="b"/>
            <a:pathLst>
              <a:path w="5342194" h="98323">
                <a:moveTo>
                  <a:pt x="49161" y="0"/>
                </a:moveTo>
                <a:lnTo>
                  <a:pt x="5293032" y="0"/>
                </a:lnTo>
                <a:cubicBezTo>
                  <a:pt x="5320183" y="0"/>
                  <a:pt x="5342194" y="22010"/>
                  <a:pt x="5342194" y="49161"/>
                </a:cubicBezTo>
                <a:lnTo>
                  <a:pt x="5342194" y="49161"/>
                </a:lnTo>
                <a:cubicBezTo>
                  <a:pt x="5342194" y="76312"/>
                  <a:pt x="5320183" y="98323"/>
                  <a:pt x="5293032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1" name="Shape 38"/>
          <p:cNvSpPr/>
          <p:nvPr/>
        </p:nvSpPr>
        <p:spPr>
          <a:xfrm>
            <a:off x="491613" y="5702710"/>
            <a:ext cx="163871" cy="98323"/>
          </a:xfrm>
          <a:custGeom>
            <a:avLst/>
            <a:gdLst/>
            <a:ahLst/>
            <a:cxnLst/>
            <a:rect l="l" t="t" r="r" b="b"/>
            <a:pathLst>
              <a:path w="163871" h="98323">
                <a:moveTo>
                  <a:pt x="49161" y="0"/>
                </a:moveTo>
                <a:lnTo>
                  <a:pt x="114710" y="0"/>
                </a:lnTo>
                <a:cubicBezTo>
                  <a:pt x="141843" y="0"/>
                  <a:pt x="163871" y="22028"/>
                  <a:pt x="163871" y="49161"/>
                </a:cubicBezTo>
                <a:lnTo>
                  <a:pt x="163871" y="49161"/>
                </a:lnTo>
                <a:cubicBezTo>
                  <a:pt x="163871" y="76294"/>
                  <a:pt x="141843" y="98323"/>
                  <a:pt x="114710" y="98323"/>
                </a:cubicBezTo>
                <a:lnTo>
                  <a:pt x="49161" y="98323"/>
                </a:lnTo>
                <a:cubicBezTo>
                  <a:pt x="22028" y="98323"/>
                  <a:pt x="0" y="76294"/>
                  <a:pt x="0" y="49161"/>
                </a:cubicBezTo>
                <a:lnTo>
                  <a:pt x="0" y="49161"/>
                </a:lnTo>
                <a:cubicBezTo>
                  <a:pt x="0" y="22028"/>
                  <a:pt x="22028" y="0"/>
                  <a:pt x="49161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491613" y="5936226"/>
            <a:ext cx="5342194" cy="8194"/>
          </a:xfrm>
          <a:custGeom>
            <a:avLst/>
            <a:gdLst/>
            <a:ahLst/>
            <a:cxnLst/>
            <a:rect l="l" t="t" r="r" b="b"/>
            <a:pathLst>
              <a:path w="5342194" h="8194">
                <a:moveTo>
                  <a:pt x="0" y="0"/>
                </a:moveTo>
                <a:lnTo>
                  <a:pt x="5342194" y="0"/>
                </a:lnTo>
                <a:lnTo>
                  <a:pt x="5342194" y="8194"/>
                </a:lnTo>
                <a:lnTo>
                  <a:pt x="0" y="81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491613" y="5932129"/>
            <a:ext cx="5399548" cy="294968"/>
          </a:xfrm>
          <a:prstGeom prst="rect">
            <a:avLst/>
          </a:prstGeom>
          <a:noFill/>
        </p:spPr>
        <p:txBody>
          <a:bodyPr wrap="square" lIns="0" tIns="131097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Distribution aligns with target bell curve (15-20% exceeds, 65-70% meets)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210710" y="1147097"/>
            <a:ext cx="5653548" cy="2408903"/>
          </a:xfrm>
          <a:custGeom>
            <a:avLst/>
            <a:gdLst/>
            <a:ahLst/>
            <a:cxnLst/>
            <a:rect l="l" t="t" r="r" b="b"/>
            <a:pathLst>
              <a:path w="5653548" h="2408903">
                <a:moveTo>
                  <a:pt x="32774" y="0"/>
                </a:moveTo>
                <a:lnTo>
                  <a:pt x="5588002" y="0"/>
                </a:lnTo>
                <a:cubicBezTo>
                  <a:pt x="5624202" y="0"/>
                  <a:pt x="5653548" y="29346"/>
                  <a:pt x="5653548" y="65546"/>
                </a:cubicBezTo>
                <a:lnTo>
                  <a:pt x="5653548" y="2343357"/>
                </a:lnTo>
                <a:cubicBezTo>
                  <a:pt x="5653548" y="2379557"/>
                  <a:pt x="5624202" y="2408903"/>
                  <a:pt x="5588002" y="2408903"/>
                </a:cubicBezTo>
                <a:lnTo>
                  <a:pt x="32774" y="2408903"/>
                </a:lnTo>
                <a:cubicBezTo>
                  <a:pt x="14674" y="2408903"/>
                  <a:pt x="0" y="2394230"/>
                  <a:pt x="0" y="2376129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45" name="Shape 42"/>
          <p:cNvSpPr/>
          <p:nvPr/>
        </p:nvSpPr>
        <p:spPr>
          <a:xfrm>
            <a:off x="6210710" y="1147097"/>
            <a:ext cx="32774" cy="2408903"/>
          </a:xfrm>
          <a:custGeom>
            <a:avLst/>
            <a:gdLst/>
            <a:ahLst/>
            <a:cxnLst/>
            <a:rect l="l" t="t" r="r" b="b"/>
            <a:pathLst>
              <a:path w="32774" h="2408903">
                <a:moveTo>
                  <a:pt x="32774" y="0"/>
                </a:moveTo>
                <a:lnTo>
                  <a:pt x="32774" y="0"/>
                </a:lnTo>
                <a:lnTo>
                  <a:pt x="32774" y="2408903"/>
                </a:lnTo>
                <a:lnTo>
                  <a:pt x="32774" y="2408903"/>
                </a:lnTo>
                <a:cubicBezTo>
                  <a:pt x="14674" y="2408903"/>
                  <a:pt x="0" y="2394230"/>
                  <a:pt x="0" y="2376129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6" name="Shape 43"/>
          <p:cNvSpPr/>
          <p:nvPr/>
        </p:nvSpPr>
        <p:spPr>
          <a:xfrm>
            <a:off x="6411452" y="1343742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37351" y="10818"/>
                </a:moveTo>
                <a:cubicBezTo>
                  <a:pt x="38791" y="8866"/>
                  <a:pt x="41096" y="7681"/>
                  <a:pt x="43528" y="7681"/>
                </a:cubicBezTo>
                <a:lnTo>
                  <a:pt x="120343" y="7681"/>
                </a:lnTo>
                <a:cubicBezTo>
                  <a:pt x="122775" y="7681"/>
                  <a:pt x="125080" y="8834"/>
                  <a:pt x="126520" y="10818"/>
                </a:cubicBezTo>
                <a:lnTo>
                  <a:pt x="162367" y="59467"/>
                </a:lnTo>
                <a:cubicBezTo>
                  <a:pt x="164543" y="62412"/>
                  <a:pt x="164319" y="66477"/>
                  <a:pt x="161887" y="69197"/>
                </a:cubicBezTo>
                <a:lnTo>
                  <a:pt x="87633" y="151133"/>
                </a:lnTo>
                <a:cubicBezTo>
                  <a:pt x="86192" y="152733"/>
                  <a:pt x="84112" y="153661"/>
                  <a:pt x="81935" y="153661"/>
                </a:cubicBezTo>
                <a:cubicBezTo>
                  <a:pt x="79759" y="153661"/>
                  <a:pt x="77711" y="152733"/>
                  <a:pt x="76238" y="151133"/>
                </a:cubicBezTo>
                <a:lnTo>
                  <a:pt x="1984" y="69197"/>
                </a:lnTo>
                <a:cubicBezTo>
                  <a:pt x="-480" y="66477"/>
                  <a:pt x="-672" y="62412"/>
                  <a:pt x="1504" y="59467"/>
                </a:cubicBezTo>
                <a:lnTo>
                  <a:pt x="37351" y="10818"/>
                </a:lnTo>
                <a:close/>
                <a:moveTo>
                  <a:pt x="49673" y="23556"/>
                </a:moveTo>
                <a:cubicBezTo>
                  <a:pt x="48617" y="24357"/>
                  <a:pt x="48329" y="25797"/>
                  <a:pt x="49001" y="26917"/>
                </a:cubicBezTo>
                <a:lnTo>
                  <a:pt x="67373" y="57547"/>
                </a:lnTo>
                <a:lnTo>
                  <a:pt x="20260" y="61452"/>
                </a:lnTo>
                <a:cubicBezTo>
                  <a:pt x="18948" y="61548"/>
                  <a:pt x="17923" y="62668"/>
                  <a:pt x="17923" y="64012"/>
                </a:cubicBezTo>
                <a:cubicBezTo>
                  <a:pt x="17923" y="65356"/>
                  <a:pt x="18948" y="66445"/>
                  <a:pt x="20260" y="66573"/>
                </a:cubicBezTo>
                <a:lnTo>
                  <a:pt x="81711" y="71694"/>
                </a:lnTo>
                <a:cubicBezTo>
                  <a:pt x="81839" y="71694"/>
                  <a:pt x="81999" y="71694"/>
                  <a:pt x="82128" y="71694"/>
                </a:cubicBezTo>
                <a:lnTo>
                  <a:pt x="143579" y="66573"/>
                </a:lnTo>
                <a:cubicBezTo>
                  <a:pt x="144891" y="66477"/>
                  <a:pt x="145916" y="65356"/>
                  <a:pt x="145916" y="64012"/>
                </a:cubicBezTo>
                <a:cubicBezTo>
                  <a:pt x="145916" y="62668"/>
                  <a:pt x="144891" y="61580"/>
                  <a:pt x="143579" y="61452"/>
                </a:cubicBezTo>
                <a:lnTo>
                  <a:pt x="96466" y="57515"/>
                </a:lnTo>
                <a:lnTo>
                  <a:pt x="114838" y="26917"/>
                </a:lnTo>
                <a:cubicBezTo>
                  <a:pt x="115510" y="25797"/>
                  <a:pt x="115222" y="24325"/>
                  <a:pt x="114166" y="23556"/>
                </a:cubicBezTo>
                <a:cubicBezTo>
                  <a:pt x="113109" y="22788"/>
                  <a:pt x="111637" y="22916"/>
                  <a:pt x="110741" y="23877"/>
                </a:cubicBezTo>
                <a:lnTo>
                  <a:pt x="81935" y="55114"/>
                </a:lnTo>
                <a:lnTo>
                  <a:pt x="53098" y="23877"/>
                </a:lnTo>
                <a:cubicBezTo>
                  <a:pt x="52202" y="22916"/>
                  <a:pt x="50730" y="22788"/>
                  <a:pt x="49673" y="23556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47" name="Text 44"/>
          <p:cNvSpPr/>
          <p:nvPr/>
        </p:nvSpPr>
        <p:spPr>
          <a:xfrm>
            <a:off x="6595806" y="1310968"/>
            <a:ext cx="5186516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High-Potential Talent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95065" y="1675581"/>
            <a:ext cx="5301226" cy="1450258"/>
          </a:xfrm>
          <a:custGeom>
            <a:avLst/>
            <a:gdLst/>
            <a:ahLst/>
            <a:cxnLst/>
            <a:rect l="l" t="t" r="r" b="b"/>
            <a:pathLst>
              <a:path w="5301226" h="1450258">
                <a:moveTo>
                  <a:pt x="65552" y="0"/>
                </a:moveTo>
                <a:lnTo>
                  <a:pt x="5235674" y="0"/>
                </a:lnTo>
                <a:cubicBezTo>
                  <a:pt x="5271877" y="0"/>
                  <a:pt x="5301226" y="29348"/>
                  <a:pt x="5301226" y="65552"/>
                </a:cubicBezTo>
                <a:lnTo>
                  <a:pt x="5301226" y="1384706"/>
                </a:lnTo>
                <a:cubicBezTo>
                  <a:pt x="5301226" y="1420910"/>
                  <a:pt x="5271877" y="1450258"/>
                  <a:pt x="5235674" y="1450258"/>
                </a:cubicBezTo>
                <a:lnTo>
                  <a:pt x="65552" y="1450258"/>
                </a:lnTo>
                <a:cubicBezTo>
                  <a:pt x="29348" y="1450258"/>
                  <a:pt x="0" y="1420910"/>
                  <a:pt x="0" y="1384706"/>
                </a:cubicBezTo>
                <a:lnTo>
                  <a:pt x="0" y="65552"/>
                </a:lnTo>
                <a:cubicBezTo>
                  <a:pt x="0" y="29348"/>
                  <a:pt x="29348" y="0"/>
                  <a:pt x="6555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30258" y="1810774"/>
            <a:ext cx="5104581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 Employees Identified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530258" y="2105742"/>
            <a:ext cx="5096387" cy="393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Calibration sessions identified top performers ready for accelerated development and expanded scope.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530258" y="2646516"/>
            <a:ext cx="65548" cy="65548"/>
          </a:xfrm>
          <a:custGeom>
            <a:avLst/>
            <a:gdLst/>
            <a:ahLst/>
            <a:cxnLst/>
            <a:rect l="l" t="t" r="r" b="b"/>
            <a:pathLst>
              <a:path w="65548" h="65548">
                <a:moveTo>
                  <a:pt x="32774" y="0"/>
                </a:moveTo>
                <a:lnTo>
                  <a:pt x="32774" y="0"/>
                </a:lnTo>
                <a:cubicBezTo>
                  <a:pt x="50863" y="0"/>
                  <a:pt x="65548" y="14686"/>
                  <a:pt x="65548" y="32774"/>
                </a:cubicBezTo>
                <a:lnTo>
                  <a:pt x="65548" y="32774"/>
                </a:lnTo>
                <a:cubicBezTo>
                  <a:pt x="65548" y="50863"/>
                  <a:pt x="50863" y="65548"/>
                  <a:pt x="32774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2" name="Text 49"/>
          <p:cNvSpPr/>
          <p:nvPr/>
        </p:nvSpPr>
        <p:spPr>
          <a:xfrm>
            <a:off x="6661355" y="2597355"/>
            <a:ext cx="745613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Engineering: 4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078452" y="2646516"/>
            <a:ext cx="65548" cy="65548"/>
          </a:xfrm>
          <a:custGeom>
            <a:avLst/>
            <a:gdLst/>
            <a:ahLst/>
            <a:cxnLst/>
            <a:rect l="l" t="t" r="r" b="b"/>
            <a:pathLst>
              <a:path w="65548" h="65548">
                <a:moveTo>
                  <a:pt x="32774" y="0"/>
                </a:moveTo>
                <a:lnTo>
                  <a:pt x="32774" y="0"/>
                </a:lnTo>
                <a:cubicBezTo>
                  <a:pt x="50863" y="0"/>
                  <a:pt x="65548" y="14686"/>
                  <a:pt x="65548" y="32774"/>
                </a:cubicBezTo>
                <a:lnTo>
                  <a:pt x="65548" y="32774"/>
                </a:lnTo>
                <a:cubicBezTo>
                  <a:pt x="65548" y="50863"/>
                  <a:pt x="50863" y="65548"/>
                  <a:pt x="32774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54" name="Text 51"/>
          <p:cNvSpPr/>
          <p:nvPr/>
        </p:nvSpPr>
        <p:spPr>
          <a:xfrm>
            <a:off x="9209548" y="2597355"/>
            <a:ext cx="557161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Product: 2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530258" y="2875935"/>
            <a:ext cx="65548" cy="65548"/>
          </a:xfrm>
          <a:custGeom>
            <a:avLst/>
            <a:gdLst/>
            <a:ahLst/>
            <a:cxnLst/>
            <a:rect l="l" t="t" r="r" b="b"/>
            <a:pathLst>
              <a:path w="65548" h="65548">
                <a:moveTo>
                  <a:pt x="32774" y="0"/>
                </a:moveTo>
                <a:lnTo>
                  <a:pt x="32774" y="0"/>
                </a:lnTo>
                <a:cubicBezTo>
                  <a:pt x="50863" y="0"/>
                  <a:pt x="65548" y="14686"/>
                  <a:pt x="65548" y="32774"/>
                </a:cubicBezTo>
                <a:lnTo>
                  <a:pt x="65548" y="32774"/>
                </a:lnTo>
                <a:cubicBezTo>
                  <a:pt x="65548" y="50863"/>
                  <a:pt x="50863" y="65548"/>
                  <a:pt x="32774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56" name="Text 53"/>
          <p:cNvSpPr/>
          <p:nvPr/>
        </p:nvSpPr>
        <p:spPr>
          <a:xfrm>
            <a:off x="6661355" y="2826774"/>
            <a:ext cx="409677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Sales: 1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078452" y="2875935"/>
            <a:ext cx="65548" cy="65548"/>
          </a:xfrm>
          <a:custGeom>
            <a:avLst/>
            <a:gdLst/>
            <a:ahLst/>
            <a:cxnLst/>
            <a:rect l="l" t="t" r="r" b="b"/>
            <a:pathLst>
              <a:path w="65548" h="65548">
                <a:moveTo>
                  <a:pt x="32774" y="0"/>
                </a:moveTo>
                <a:lnTo>
                  <a:pt x="32774" y="0"/>
                </a:lnTo>
                <a:cubicBezTo>
                  <a:pt x="50863" y="0"/>
                  <a:pt x="65548" y="14686"/>
                  <a:pt x="65548" y="32774"/>
                </a:cubicBezTo>
                <a:lnTo>
                  <a:pt x="65548" y="32774"/>
                </a:lnTo>
                <a:cubicBezTo>
                  <a:pt x="65548" y="50863"/>
                  <a:pt x="50863" y="65548"/>
                  <a:pt x="32774" y="65548"/>
                </a:cubicBezTo>
                <a:lnTo>
                  <a:pt x="32774" y="65548"/>
                </a:lnTo>
                <a:cubicBezTo>
                  <a:pt x="14686" y="65548"/>
                  <a:pt x="0" y="50863"/>
                  <a:pt x="0" y="32774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8" name="Text 55"/>
          <p:cNvSpPr/>
          <p:nvPr/>
        </p:nvSpPr>
        <p:spPr>
          <a:xfrm>
            <a:off x="9209548" y="2826774"/>
            <a:ext cx="532581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Finance: 1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407355" y="3244645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112604" y="62418"/>
                </a:moveTo>
                <a:cubicBezTo>
                  <a:pt x="115404" y="59618"/>
                  <a:pt x="115404" y="55070"/>
                  <a:pt x="112604" y="52269"/>
                </a:cubicBezTo>
                <a:lnTo>
                  <a:pt x="76757" y="16422"/>
                </a:lnTo>
                <a:cubicBezTo>
                  <a:pt x="73956" y="13622"/>
                  <a:pt x="69408" y="13622"/>
                  <a:pt x="66608" y="16422"/>
                </a:cubicBezTo>
                <a:cubicBezTo>
                  <a:pt x="63807" y="19223"/>
                  <a:pt x="63807" y="23771"/>
                  <a:pt x="66608" y="26571"/>
                </a:cubicBezTo>
                <a:lnTo>
                  <a:pt x="90222" y="50185"/>
                </a:lnTo>
                <a:lnTo>
                  <a:pt x="7169" y="50185"/>
                </a:lnTo>
                <a:cubicBezTo>
                  <a:pt x="3204" y="50185"/>
                  <a:pt x="0" y="53389"/>
                  <a:pt x="0" y="57355"/>
                </a:cubicBezTo>
                <a:cubicBezTo>
                  <a:pt x="0" y="61320"/>
                  <a:pt x="3204" y="64524"/>
                  <a:pt x="7169" y="64524"/>
                </a:cubicBezTo>
                <a:lnTo>
                  <a:pt x="90222" y="64524"/>
                </a:lnTo>
                <a:lnTo>
                  <a:pt x="66608" y="88138"/>
                </a:lnTo>
                <a:cubicBezTo>
                  <a:pt x="63807" y="90939"/>
                  <a:pt x="63807" y="95487"/>
                  <a:pt x="66608" y="98287"/>
                </a:cubicBezTo>
                <a:cubicBezTo>
                  <a:pt x="69408" y="101088"/>
                  <a:pt x="73956" y="101088"/>
                  <a:pt x="76757" y="98287"/>
                </a:cubicBezTo>
                <a:lnTo>
                  <a:pt x="112604" y="62441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60" name="Text 57"/>
          <p:cNvSpPr/>
          <p:nvPr/>
        </p:nvSpPr>
        <p:spPr>
          <a:xfrm>
            <a:off x="6559596" y="3228258"/>
            <a:ext cx="5198146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Individual development plans created for all 8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210710" y="3719871"/>
            <a:ext cx="5653548" cy="2703871"/>
          </a:xfrm>
          <a:custGeom>
            <a:avLst/>
            <a:gdLst/>
            <a:ahLst/>
            <a:cxnLst/>
            <a:rect l="l" t="t" r="r" b="b"/>
            <a:pathLst>
              <a:path w="5653548" h="2703871">
                <a:moveTo>
                  <a:pt x="32774" y="0"/>
                </a:moveTo>
                <a:lnTo>
                  <a:pt x="5588007" y="0"/>
                </a:lnTo>
                <a:cubicBezTo>
                  <a:pt x="5624204" y="0"/>
                  <a:pt x="5653548" y="29344"/>
                  <a:pt x="5653548" y="65542"/>
                </a:cubicBezTo>
                <a:lnTo>
                  <a:pt x="5653548" y="2638329"/>
                </a:lnTo>
                <a:cubicBezTo>
                  <a:pt x="5653548" y="2674527"/>
                  <a:pt x="5624204" y="2703871"/>
                  <a:pt x="5588007" y="2703871"/>
                </a:cubicBezTo>
                <a:lnTo>
                  <a:pt x="32774" y="2703871"/>
                </a:lnTo>
                <a:cubicBezTo>
                  <a:pt x="14674" y="2703871"/>
                  <a:pt x="0" y="2689197"/>
                  <a:pt x="0" y="2671097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2" name="Shape 59"/>
          <p:cNvSpPr/>
          <p:nvPr/>
        </p:nvSpPr>
        <p:spPr>
          <a:xfrm>
            <a:off x="6210710" y="3719871"/>
            <a:ext cx="32774" cy="2703871"/>
          </a:xfrm>
          <a:custGeom>
            <a:avLst/>
            <a:gdLst/>
            <a:ahLst/>
            <a:cxnLst/>
            <a:rect l="l" t="t" r="r" b="b"/>
            <a:pathLst>
              <a:path w="32774" h="2703871">
                <a:moveTo>
                  <a:pt x="32774" y="0"/>
                </a:moveTo>
                <a:lnTo>
                  <a:pt x="32774" y="0"/>
                </a:lnTo>
                <a:lnTo>
                  <a:pt x="32774" y="2703871"/>
                </a:lnTo>
                <a:lnTo>
                  <a:pt x="32774" y="2703871"/>
                </a:lnTo>
                <a:cubicBezTo>
                  <a:pt x="14674" y="2703871"/>
                  <a:pt x="0" y="2689197"/>
                  <a:pt x="0" y="2671097"/>
                </a:cubicBezTo>
                <a:lnTo>
                  <a:pt x="0" y="32774"/>
                </a:lnTo>
                <a:cubicBezTo>
                  <a:pt x="0" y="14686"/>
                  <a:pt x="14686" y="0"/>
                  <a:pt x="32774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63" name="Shape 60"/>
          <p:cNvSpPr/>
          <p:nvPr/>
        </p:nvSpPr>
        <p:spPr>
          <a:xfrm>
            <a:off x="6411452" y="3916516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61452" y="20484"/>
                </a:moveTo>
                <a:cubicBezTo>
                  <a:pt x="61452" y="14819"/>
                  <a:pt x="66028" y="10242"/>
                  <a:pt x="71694" y="10242"/>
                </a:cubicBezTo>
                <a:lnTo>
                  <a:pt x="92177" y="10242"/>
                </a:lnTo>
                <a:cubicBezTo>
                  <a:pt x="97842" y="10242"/>
                  <a:pt x="102419" y="14819"/>
                  <a:pt x="102419" y="20484"/>
                </a:cubicBezTo>
                <a:lnTo>
                  <a:pt x="102419" y="40968"/>
                </a:lnTo>
                <a:cubicBezTo>
                  <a:pt x="102419" y="46633"/>
                  <a:pt x="97842" y="51210"/>
                  <a:pt x="92177" y="51210"/>
                </a:cubicBezTo>
                <a:lnTo>
                  <a:pt x="89617" y="51210"/>
                </a:lnTo>
                <a:lnTo>
                  <a:pt x="89617" y="71694"/>
                </a:lnTo>
                <a:lnTo>
                  <a:pt x="128024" y="71694"/>
                </a:lnTo>
                <a:cubicBezTo>
                  <a:pt x="140763" y="71694"/>
                  <a:pt x="151069" y="81999"/>
                  <a:pt x="151069" y="94738"/>
                </a:cubicBezTo>
                <a:lnTo>
                  <a:pt x="151069" y="112661"/>
                </a:lnTo>
                <a:lnTo>
                  <a:pt x="153629" y="112661"/>
                </a:lnTo>
                <a:cubicBezTo>
                  <a:pt x="159294" y="112661"/>
                  <a:pt x="163871" y="117238"/>
                  <a:pt x="163871" y="122903"/>
                </a:cubicBezTo>
                <a:lnTo>
                  <a:pt x="163871" y="143387"/>
                </a:lnTo>
                <a:cubicBezTo>
                  <a:pt x="163871" y="149052"/>
                  <a:pt x="159294" y="153629"/>
                  <a:pt x="153629" y="153629"/>
                </a:cubicBezTo>
                <a:lnTo>
                  <a:pt x="133145" y="153629"/>
                </a:lnTo>
                <a:cubicBezTo>
                  <a:pt x="127480" y="153629"/>
                  <a:pt x="122903" y="149052"/>
                  <a:pt x="122903" y="143387"/>
                </a:cubicBezTo>
                <a:lnTo>
                  <a:pt x="122903" y="122903"/>
                </a:lnTo>
                <a:cubicBezTo>
                  <a:pt x="122903" y="117238"/>
                  <a:pt x="127480" y="112661"/>
                  <a:pt x="133145" y="112661"/>
                </a:cubicBezTo>
                <a:lnTo>
                  <a:pt x="135706" y="112661"/>
                </a:lnTo>
                <a:lnTo>
                  <a:pt x="135706" y="94738"/>
                </a:lnTo>
                <a:cubicBezTo>
                  <a:pt x="135706" y="90481"/>
                  <a:pt x="132281" y="87056"/>
                  <a:pt x="128024" y="87056"/>
                </a:cubicBezTo>
                <a:lnTo>
                  <a:pt x="89617" y="87056"/>
                </a:lnTo>
                <a:lnTo>
                  <a:pt x="89617" y="112661"/>
                </a:lnTo>
                <a:lnTo>
                  <a:pt x="92177" y="112661"/>
                </a:lnTo>
                <a:cubicBezTo>
                  <a:pt x="97842" y="112661"/>
                  <a:pt x="102419" y="117238"/>
                  <a:pt x="102419" y="122903"/>
                </a:cubicBezTo>
                <a:lnTo>
                  <a:pt x="102419" y="143387"/>
                </a:lnTo>
                <a:cubicBezTo>
                  <a:pt x="102419" y="149052"/>
                  <a:pt x="97842" y="153629"/>
                  <a:pt x="92177" y="153629"/>
                </a:cubicBezTo>
                <a:lnTo>
                  <a:pt x="71694" y="153629"/>
                </a:lnTo>
                <a:cubicBezTo>
                  <a:pt x="66028" y="153629"/>
                  <a:pt x="61452" y="149052"/>
                  <a:pt x="61452" y="143387"/>
                </a:cubicBezTo>
                <a:lnTo>
                  <a:pt x="61452" y="122903"/>
                </a:lnTo>
                <a:cubicBezTo>
                  <a:pt x="61452" y="117238"/>
                  <a:pt x="66028" y="112661"/>
                  <a:pt x="71694" y="112661"/>
                </a:cubicBezTo>
                <a:lnTo>
                  <a:pt x="74254" y="112661"/>
                </a:lnTo>
                <a:lnTo>
                  <a:pt x="74254" y="87056"/>
                </a:lnTo>
                <a:lnTo>
                  <a:pt x="35847" y="87056"/>
                </a:lnTo>
                <a:cubicBezTo>
                  <a:pt x="31590" y="87056"/>
                  <a:pt x="28165" y="90481"/>
                  <a:pt x="28165" y="94738"/>
                </a:cubicBezTo>
                <a:lnTo>
                  <a:pt x="28165" y="112661"/>
                </a:lnTo>
                <a:lnTo>
                  <a:pt x="30726" y="112661"/>
                </a:lnTo>
                <a:cubicBezTo>
                  <a:pt x="36391" y="112661"/>
                  <a:pt x="40968" y="117238"/>
                  <a:pt x="40968" y="122903"/>
                </a:cubicBezTo>
                <a:lnTo>
                  <a:pt x="40968" y="143387"/>
                </a:lnTo>
                <a:cubicBezTo>
                  <a:pt x="40968" y="149052"/>
                  <a:pt x="36391" y="153629"/>
                  <a:pt x="30726" y="153629"/>
                </a:cubicBezTo>
                <a:lnTo>
                  <a:pt x="10242" y="153629"/>
                </a:lnTo>
                <a:cubicBezTo>
                  <a:pt x="4577" y="153629"/>
                  <a:pt x="0" y="149052"/>
                  <a:pt x="0" y="143387"/>
                </a:cubicBezTo>
                <a:lnTo>
                  <a:pt x="0" y="122903"/>
                </a:lnTo>
                <a:cubicBezTo>
                  <a:pt x="0" y="117238"/>
                  <a:pt x="4577" y="112661"/>
                  <a:pt x="10242" y="112661"/>
                </a:cubicBezTo>
                <a:lnTo>
                  <a:pt x="12802" y="112661"/>
                </a:lnTo>
                <a:lnTo>
                  <a:pt x="12802" y="94738"/>
                </a:lnTo>
                <a:cubicBezTo>
                  <a:pt x="12802" y="81999"/>
                  <a:pt x="23108" y="71694"/>
                  <a:pt x="35847" y="71694"/>
                </a:cubicBezTo>
                <a:lnTo>
                  <a:pt x="74254" y="71694"/>
                </a:lnTo>
                <a:lnTo>
                  <a:pt x="74254" y="51210"/>
                </a:lnTo>
                <a:lnTo>
                  <a:pt x="71694" y="51210"/>
                </a:lnTo>
                <a:cubicBezTo>
                  <a:pt x="66028" y="51210"/>
                  <a:pt x="61452" y="46633"/>
                  <a:pt x="61452" y="40968"/>
                </a:cubicBezTo>
                <a:lnTo>
                  <a:pt x="61452" y="20484"/>
                </a:lnTo>
                <a:close/>
              </a:path>
            </a:pathLst>
          </a:custGeom>
          <a:solidFill>
            <a:srgbClr val="4A7C94"/>
          </a:solidFill>
        </p:spPr>
      </p:sp>
      <p:sp>
        <p:nvSpPr>
          <p:cNvPr id="64" name="Text 61"/>
          <p:cNvSpPr/>
          <p:nvPr/>
        </p:nvSpPr>
        <p:spPr>
          <a:xfrm>
            <a:off x="6595806" y="3883742"/>
            <a:ext cx="5186516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Succession Planning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395065" y="4248355"/>
            <a:ext cx="5301226" cy="598129"/>
          </a:xfrm>
          <a:custGeom>
            <a:avLst/>
            <a:gdLst/>
            <a:ahLst/>
            <a:cxnLst/>
            <a:rect l="l" t="t" r="r" b="b"/>
            <a:pathLst>
              <a:path w="5301226" h="598129">
                <a:moveTo>
                  <a:pt x="65549" y="0"/>
                </a:moveTo>
                <a:lnTo>
                  <a:pt x="5235677" y="0"/>
                </a:lnTo>
                <a:cubicBezTo>
                  <a:pt x="5271879" y="0"/>
                  <a:pt x="5301226" y="29347"/>
                  <a:pt x="5301226" y="65549"/>
                </a:cubicBezTo>
                <a:lnTo>
                  <a:pt x="5301226" y="532580"/>
                </a:lnTo>
                <a:cubicBezTo>
                  <a:pt x="5301226" y="568782"/>
                  <a:pt x="5271879" y="598129"/>
                  <a:pt x="5235677" y="598129"/>
                </a:cubicBezTo>
                <a:lnTo>
                  <a:pt x="65549" y="598129"/>
                </a:lnTo>
                <a:cubicBezTo>
                  <a:pt x="29347" y="598129"/>
                  <a:pt x="0" y="568782"/>
                  <a:pt x="0" y="532580"/>
                </a:cubicBezTo>
                <a:lnTo>
                  <a:pt x="0" y="65549"/>
                </a:lnTo>
                <a:cubicBezTo>
                  <a:pt x="0" y="29347"/>
                  <a:pt x="29347" y="0"/>
                  <a:pt x="655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497484" y="4350774"/>
            <a:ext cx="516193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Critical Roles Identified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6497484" y="4580194"/>
            <a:ext cx="5153742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VP Engineering, VP Sales, VP Product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6395065" y="4953000"/>
            <a:ext cx="5301226" cy="598129"/>
          </a:xfrm>
          <a:custGeom>
            <a:avLst/>
            <a:gdLst/>
            <a:ahLst/>
            <a:cxnLst/>
            <a:rect l="l" t="t" r="r" b="b"/>
            <a:pathLst>
              <a:path w="5301226" h="598129">
                <a:moveTo>
                  <a:pt x="65549" y="0"/>
                </a:moveTo>
                <a:lnTo>
                  <a:pt x="5235677" y="0"/>
                </a:lnTo>
                <a:cubicBezTo>
                  <a:pt x="5271879" y="0"/>
                  <a:pt x="5301226" y="29347"/>
                  <a:pt x="5301226" y="65549"/>
                </a:cubicBezTo>
                <a:lnTo>
                  <a:pt x="5301226" y="532580"/>
                </a:lnTo>
                <a:cubicBezTo>
                  <a:pt x="5301226" y="568782"/>
                  <a:pt x="5271879" y="598129"/>
                  <a:pt x="5235677" y="598129"/>
                </a:cubicBezTo>
                <a:lnTo>
                  <a:pt x="65549" y="598129"/>
                </a:lnTo>
                <a:cubicBezTo>
                  <a:pt x="29347" y="598129"/>
                  <a:pt x="0" y="568782"/>
                  <a:pt x="0" y="532580"/>
                </a:cubicBezTo>
                <a:lnTo>
                  <a:pt x="0" y="65549"/>
                </a:lnTo>
                <a:cubicBezTo>
                  <a:pt x="0" y="29347"/>
                  <a:pt x="29347" y="0"/>
                  <a:pt x="655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97484" y="5055419"/>
            <a:ext cx="516193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Internal Candidates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6497484" y="5284839"/>
            <a:ext cx="5153742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potential successors identified for VP Engineering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6395065" y="5657645"/>
            <a:ext cx="5301226" cy="598129"/>
          </a:xfrm>
          <a:custGeom>
            <a:avLst/>
            <a:gdLst/>
            <a:ahLst/>
            <a:cxnLst/>
            <a:rect l="l" t="t" r="r" b="b"/>
            <a:pathLst>
              <a:path w="5301226" h="598129">
                <a:moveTo>
                  <a:pt x="65549" y="0"/>
                </a:moveTo>
                <a:lnTo>
                  <a:pt x="5235677" y="0"/>
                </a:lnTo>
                <a:cubicBezTo>
                  <a:pt x="5271879" y="0"/>
                  <a:pt x="5301226" y="29347"/>
                  <a:pt x="5301226" y="65549"/>
                </a:cubicBezTo>
                <a:lnTo>
                  <a:pt x="5301226" y="532580"/>
                </a:lnTo>
                <a:cubicBezTo>
                  <a:pt x="5301226" y="568782"/>
                  <a:pt x="5271879" y="598129"/>
                  <a:pt x="5235677" y="598129"/>
                </a:cubicBezTo>
                <a:lnTo>
                  <a:pt x="65549" y="598129"/>
                </a:lnTo>
                <a:cubicBezTo>
                  <a:pt x="29347" y="598129"/>
                  <a:pt x="0" y="568782"/>
                  <a:pt x="0" y="532580"/>
                </a:cubicBezTo>
                <a:lnTo>
                  <a:pt x="0" y="65549"/>
                </a:lnTo>
                <a:cubicBezTo>
                  <a:pt x="0" y="29347"/>
                  <a:pt x="29347" y="0"/>
                  <a:pt x="655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497484" y="5760065"/>
            <a:ext cx="516193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Development Actions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497484" y="5989484"/>
            <a:ext cx="5153742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Leadership training, cross-functional projects, mentorship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327742" y="6558935"/>
            <a:ext cx="11536516" cy="8194"/>
          </a:xfrm>
          <a:custGeom>
            <a:avLst/>
            <a:gdLst/>
            <a:ahLst/>
            <a:cxnLst/>
            <a:rect l="l" t="t" r="r" b="b"/>
            <a:pathLst>
              <a:path w="11536516" h="8194">
                <a:moveTo>
                  <a:pt x="0" y="0"/>
                </a:moveTo>
                <a:lnTo>
                  <a:pt x="11536516" y="0"/>
                </a:lnTo>
                <a:lnTo>
                  <a:pt x="11536516" y="8194"/>
                </a:lnTo>
                <a:lnTo>
                  <a:pt x="0" y="819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75" name="Text 72"/>
          <p:cNvSpPr/>
          <p:nvPr/>
        </p:nvSpPr>
        <p:spPr>
          <a:xfrm>
            <a:off x="327742" y="6694129"/>
            <a:ext cx="11593871" cy="163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Next Review Cycle:</a:t>
            </a:r>
            <a:r>
              <a:rPr lang="en-US" sz="9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Q3 2026 (mid-year) | </a:t>
            </a:r>
            <a:r>
              <a:rPr lang="en-US" sz="90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Calibration Lead:</a:t>
            </a:r>
            <a:r>
              <a:rPr lang="en-US" sz="9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VP People with functional VPs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57864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Employee Programs / Organizational Support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98500"/>
            <a:ext cx="5715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 HR Operational Updates and Enablement Initiatives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366500" y="365125"/>
            <a:ext cx="508000" cy="50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17500" y="1127125"/>
            <a:ext cx="5683250" cy="2365375"/>
          </a:xfrm>
          <a:custGeom>
            <a:avLst/>
            <a:gdLst/>
            <a:ahLst/>
            <a:cxnLst/>
            <a:rect l="l" t="t" r="r" b="b"/>
            <a:pathLst>
              <a:path w="5683250" h="2365375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2301865"/>
                </a:lnTo>
                <a:cubicBezTo>
                  <a:pt x="5683250" y="2336940"/>
                  <a:pt x="5654815" y="2365375"/>
                  <a:pt x="5619740" y="2365375"/>
                </a:cubicBezTo>
                <a:lnTo>
                  <a:pt x="63510" y="2365375"/>
                </a:lnTo>
                <a:cubicBezTo>
                  <a:pt x="28435" y="2365375"/>
                  <a:pt x="0" y="2336940"/>
                  <a:pt x="0" y="230186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" name="Shape 3"/>
          <p:cNvSpPr/>
          <p:nvPr/>
        </p:nvSpPr>
        <p:spPr>
          <a:xfrm>
            <a:off x="317500" y="1127125"/>
            <a:ext cx="5683250" cy="31750"/>
          </a:xfrm>
          <a:custGeom>
            <a:avLst/>
            <a:gdLst/>
            <a:ahLst/>
            <a:cxnLst/>
            <a:rect l="l" t="t" r="r" b="b"/>
            <a:pathLst>
              <a:path w="5683250" h="31750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7" name="Shape 4"/>
          <p:cNvSpPr/>
          <p:nvPr/>
        </p:nvSpPr>
        <p:spPr>
          <a:xfrm>
            <a:off x="506016" y="13335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4817" y="-4031"/>
                </a:moveTo>
                <a:cubicBezTo>
                  <a:pt x="71282" y="-4744"/>
                  <a:pt x="67655" y="-4744"/>
                  <a:pt x="64120" y="-4031"/>
                </a:cubicBezTo>
                <a:lnTo>
                  <a:pt x="5984" y="7596"/>
                </a:lnTo>
                <a:cubicBezTo>
                  <a:pt x="2511" y="8279"/>
                  <a:pt x="0" y="11348"/>
                  <a:pt x="0" y="14883"/>
                </a:cubicBezTo>
                <a:cubicBezTo>
                  <a:pt x="0" y="18076"/>
                  <a:pt x="2015" y="20867"/>
                  <a:pt x="4961" y="21890"/>
                </a:cubicBezTo>
                <a:lnTo>
                  <a:pt x="4961" y="44648"/>
                </a:lnTo>
                <a:lnTo>
                  <a:pt x="93" y="69019"/>
                </a:lnTo>
                <a:cubicBezTo>
                  <a:pt x="31" y="69298"/>
                  <a:pt x="0" y="69608"/>
                  <a:pt x="0" y="69918"/>
                </a:cubicBezTo>
                <a:cubicBezTo>
                  <a:pt x="0" y="72399"/>
                  <a:pt x="2015" y="74445"/>
                  <a:pt x="4527" y="74445"/>
                </a:cubicBezTo>
                <a:lnTo>
                  <a:pt x="15348" y="74445"/>
                </a:lnTo>
                <a:cubicBezTo>
                  <a:pt x="17828" y="74445"/>
                  <a:pt x="19875" y="72430"/>
                  <a:pt x="19875" y="69918"/>
                </a:cubicBezTo>
                <a:cubicBezTo>
                  <a:pt x="19875" y="69608"/>
                  <a:pt x="19844" y="69329"/>
                  <a:pt x="19782" y="69019"/>
                </a:cubicBezTo>
                <a:lnTo>
                  <a:pt x="14883" y="44648"/>
                </a:lnTo>
                <a:lnTo>
                  <a:pt x="14883" y="23968"/>
                </a:lnTo>
                <a:lnTo>
                  <a:pt x="29766" y="26944"/>
                </a:lnTo>
                <a:lnTo>
                  <a:pt x="29766" y="44648"/>
                </a:lnTo>
                <a:cubicBezTo>
                  <a:pt x="29766" y="66570"/>
                  <a:pt x="47532" y="84336"/>
                  <a:pt x="69453" y="84336"/>
                </a:cubicBezTo>
                <a:cubicBezTo>
                  <a:pt x="91374" y="84336"/>
                  <a:pt x="109141" y="66570"/>
                  <a:pt x="109141" y="44648"/>
                </a:cubicBezTo>
                <a:lnTo>
                  <a:pt x="109141" y="26944"/>
                </a:lnTo>
                <a:lnTo>
                  <a:pt x="132922" y="22200"/>
                </a:lnTo>
                <a:cubicBezTo>
                  <a:pt x="136395" y="21487"/>
                  <a:pt x="138906" y="18417"/>
                  <a:pt x="138906" y="14883"/>
                </a:cubicBezTo>
                <a:cubicBezTo>
                  <a:pt x="138906" y="11348"/>
                  <a:pt x="136395" y="8279"/>
                  <a:pt x="132922" y="7596"/>
                </a:cubicBezTo>
                <a:lnTo>
                  <a:pt x="74817" y="-4031"/>
                </a:lnTo>
                <a:close/>
                <a:moveTo>
                  <a:pt x="69453" y="69453"/>
                </a:moveTo>
                <a:cubicBezTo>
                  <a:pt x="55749" y="69453"/>
                  <a:pt x="44648" y="58353"/>
                  <a:pt x="44648" y="44648"/>
                </a:cubicBezTo>
                <a:lnTo>
                  <a:pt x="94258" y="44648"/>
                </a:lnTo>
                <a:cubicBezTo>
                  <a:pt x="94258" y="58353"/>
                  <a:pt x="83158" y="69453"/>
                  <a:pt x="69453" y="69453"/>
                </a:cubicBezTo>
                <a:close/>
                <a:moveTo>
                  <a:pt x="37238" y="99250"/>
                </a:moveTo>
                <a:cubicBezTo>
                  <a:pt x="18200" y="107993"/>
                  <a:pt x="4961" y="127217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62012" y="158750"/>
                </a:lnTo>
                <a:lnTo>
                  <a:pt x="62012" y="113481"/>
                </a:lnTo>
                <a:lnTo>
                  <a:pt x="44214" y="100149"/>
                </a:lnTo>
                <a:cubicBezTo>
                  <a:pt x="42199" y="98630"/>
                  <a:pt x="39501" y="98227"/>
                  <a:pt x="37207" y="99281"/>
                </a:cubicBezTo>
                <a:close/>
                <a:moveTo>
                  <a:pt x="76895" y="158750"/>
                </a:move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27217"/>
                  <a:pt x="120706" y="107993"/>
                  <a:pt x="101668" y="99281"/>
                </a:cubicBezTo>
                <a:cubicBezTo>
                  <a:pt x="99374" y="98227"/>
                  <a:pt x="96676" y="98630"/>
                  <a:pt x="94661" y="100149"/>
                </a:cubicBezTo>
                <a:lnTo>
                  <a:pt x="76864" y="113481"/>
                </a:lnTo>
                <a:lnTo>
                  <a:pt x="76864" y="158750"/>
                </a:lnTo>
                <a:close/>
              </a:path>
            </a:pathLst>
          </a:custGeom>
          <a:solidFill>
            <a:srgbClr val="1E3A5F"/>
          </a:solidFill>
        </p:spPr>
      </p:sp>
      <p:sp>
        <p:nvSpPr>
          <p:cNvPr id="8" name="Text 5"/>
          <p:cNvSpPr/>
          <p:nvPr/>
        </p:nvSpPr>
        <p:spPr>
          <a:xfrm>
            <a:off x="674688" y="1301750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Onboarding Improvements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0063" y="1682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0" name="Text 7"/>
          <p:cNvSpPr/>
          <p:nvPr/>
        </p:nvSpPr>
        <p:spPr>
          <a:xfrm>
            <a:off x="730250" y="1651000"/>
            <a:ext cx="2532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Structured 30-60-90 Day Plan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0250" y="1841500"/>
            <a:ext cx="2524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Standardized for all new hires with clear milestones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0063" y="2127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3" name="Text 10"/>
          <p:cNvSpPr/>
          <p:nvPr/>
        </p:nvSpPr>
        <p:spPr>
          <a:xfrm>
            <a:off x="730250" y="2095500"/>
            <a:ext cx="278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Buddy Program Launch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0250" y="2286000"/>
            <a:ext cx="2778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 experienced employees trained as onboarding buddies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0063" y="257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6" name="Text 13"/>
          <p:cNvSpPr/>
          <p:nvPr/>
        </p:nvSpPr>
        <p:spPr>
          <a:xfrm>
            <a:off x="730250" y="2540000"/>
            <a:ext cx="1817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Manager Check-in Template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0250" y="2730500"/>
            <a:ext cx="1809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Weekly touchpoints for first 90 days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0063" y="3016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19" name="Text 16"/>
          <p:cNvSpPr/>
          <p:nvPr/>
        </p:nvSpPr>
        <p:spPr>
          <a:xfrm>
            <a:off x="730250" y="2984500"/>
            <a:ext cx="2341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New Hire Survey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0250" y="3175000"/>
            <a:ext cx="2333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30-day feedback collection (avg score: 4.2/5.0)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17500" y="3667125"/>
            <a:ext cx="5683250" cy="1920875"/>
          </a:xfrm>
          <a:custGeom>
            <a:avLst/>
            <a:gdLst/>
            <a:ahLst/>
            <a:cxnLst/>
            <a:rect l="l" t="t" r="r" b="b"/>
            <a:pathLst>
              <a:path w="5683250" h="1920875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1857371"/>
                </a:lnTo>
                <a:cubicBezTo>
                  <a:pt x="5683250" y="1892443"/>
                  <a:pt x="5654818" y="1920875"/>
                  <a:pt x="5619746" y="1920875"/>
                </a:cubicBezTo>
                <a:lnTo>
                  <a:pt x="63504" y="1920875"/>
                </a:lnTo>
                <a:cubicBezTo>
                  <a:pt x="28432" y="1920875"/>
                  <a:pt x="0" y="1892443"/>
                  <a:pt x="0" y="18573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22" name="Shape 19"/>
          <p:cNvSpPr/>
          <p:nvPr/>
        </p:nvSpPr>
        <p:spPr>
          <a:xfrm>
            <a:off x="317500" y="3667125"/>
            <a:ext cx="5683250" cy="31750"/>
          </a:xfrm>
          <a:custGeom>
            <a:avLst/>
            <a:gdLst/>
            <a:ahLst/>
            <a:cxnLst/>
            <a:rect l="l" t="t" r="r" b="b"/>
            <a:pathLst>
              <a:path w="5683250" h="31750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3" name="Shape 20"/>
          <p:cNvSpPr/>
          <p:nvPr/>
        </p:nvSpPr>
        <p:spPr>
          <a:xfrm>
            <a:off x="476250" y="38735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39688" y="29766"/>
                </a:moveTo>
                <a:cubicBezTo>
                  <a:pt x="39688" y="18821"/>
                  <a:pt x="48586" y="9922"/>
                  <a:pt x="59531" y="9922"/>
                </a:cubicBezTo>
                <a:lnTo>
                  <a:pt x="168672" y="9922"/>
                </a:lnTo>
                <a:cubicBezTo>
                  <a:pt x="179617" y="9922"/>
                  <a:pt x="188516" y="18821"/>
                  <a:pt x="188516" y="29766"/>
                </a:cubicBezTo>
                <a:lnTo>
                  <a:pt x="188516" y="104180"/>
                </a:lnTo>
                <a:lnTo>
                  <a:pt x="158750" y="104180"/>
                </a:lnTo>
                <a:lnTo>
                  <a:pt x="158750" y="99219"/>
                </a:lnTo>
                <a:cubicBezTo>
                  <a:pt x="158750" y="93731"/>
                  <a:pt x="154316" y="89297"/>
                  <a:pt x="148828" y="89297"/>
                </a:cubicBezTo>
                <a:lnTo>
                  <a:pt x="128984" y="89297"/>
                </a:lnTo>
                <a:cubicBezTo>
                  <a:pt x="123496" y="89297"/>
                  <a:pt x="119062" y="93731"/>
                  <a:pt x="119062" y="99219"/>
                </a:cubicBezTo>
                <a:lnTo>
                  <a:pt x="119062" y="104180"/>
                </a:lnTo>
                <a:lnTo>
                  <a:pt x="79034" y="104180"/>
                </a:lnTo>
                <a:cubicBezTo>
                  <a:pt x="82414" y="98351"/>
                  <a:pt x="84336" y="91560"/>
                  <a:pt x="84336" y="84336"/>
                </a:cubicBezTo>
                <a:cubicBezTo>
                  <a:pt x="84336" y="62415"/>
                  <a:pt x="66570" y="44648"/>
                  <a:pt x="44648" y="44648"/>
                </a:cubicBezTo>
                <a:cubicBezTo>
                  <a:pt x="42974" y="44648"/>
                  <a:pt x="41300" y="44741"/>
                  <a:pt x="39688" y="44958"/>
                </a:cubicBezTo>
                <a:lnTo>
                  <a:pt x="39688" y="29766"/>
                </a:lnTo>
                <a:close/>
                <a:moveTo>
                  <a:pt x="103250" y="138906"/>
                </a:moveTo>
                <a:cubicBezTo>
                  <a:pt x="101668" y="131403"/>
                  <a:pt x="98196" y="124613"/>
                  <a:pt x="93297" y="119062"/>
                </a:cubicBezTo>
                <a:lnTo>
                  <a:pt x="188516" y="119062"/>
                </a:lnTo>
                <a:cubicBezTo>
                  <a:pt x="188516" y="130008"/>
                  <a:pt x="179617" y="138906"/>
                  <a:pt x="168672" y="138906"/>
                </a:cubicBezTo>
                <a:lnTo>
                  <a:pt x="103250" y="138906"/>
                </a:lnTo>
                <a:close/>
                <a:moveTo>
                  <a:pt x="19844" y="84336"/>
                </a:moveTo>
                <a:cubicBezTo>
                  <a:pt x="19844" y="70646"/>
                  <a:pt x="30958" y="59531"/>
                  <a:pt x="44648" y="59531"/>
                </a:cubicBezTo>
                <a:cubicBezTo>
                  <a:pt x="58339" y="59531"/>
                  <a:pt x="69453" y="70646"/>
                  <a:pt x="69453" y="84336"/>
                </a:cubicBezTo>
                <a:cubicBezTo>
                  <a:pt x="69453" y="98026"/>
                  <a:pt x="58339" y="109141"/>
                  <a:pt x="44648" y="109141"/>
                </a:cubicBezTo>
                <a:cubicBezTo>
                  <a:pt x="30958" y="109141"/>
                  <a:pt x="19844" y="98026"/>
                  <a:pt x="19844" y="84336"/>
                </a:cubicBezTo>
                <a:close/>
                <a:moveTo>
                  <a:pt x="0" y="148828"/>
                </a:moveTo>
                <a:cubicBezTo>
                  <a:pt x="0" y="132395"/>
                  <a:pt x="13333" y="119062"/>
                  <a:pt x="29766" y="119062"/>
                </a:cubicBezTo>
                <a:lnTo>
                  <a:pt x="59531" y="119062"/>
                </a:lnTo>
                <a:cubicBezTo>
                  <a:pt x="75964" y="119062"/>
                  <a:pt x="89297" y="132395"/>
                  <a:pt x="89297" y="148828"/>
                </a:cubicBezTo>
                <a:cubicBezTo>
                  <a:pt x="89297" y="154316"/>
                  <a:pt x="84863" y="158750"/>
                  <a:pt x="79375" y="158750"/>
                </a:cubicBezTo>
                <a:lnTo>
                  <a:pt x="9922" y="158750"/>
                </a:lnTo>
                <a:cubicBezTo>
                  <a:pt x="4434" y="158750"/>
                  <a:pt x="0" y="154316"/>
                  <a:pt x="0" y="148828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4" name="Text 21"/>
          <p:cNvSpPr/>
          <p:nvPr/>
        </p:nvSpPr>
        <p:spPr>
          <a:xfrm>
            <a:off x="674688" y="3841750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Manager Enablement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00063" y="4222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6" name="Text 23"/>
          <p:cNvSpPr/>
          <p:nvPr/>
        </p:nvSpPr>
        <p:spPr>
          <a:xfrm>
            <a:off x="730250" y="4191000"/>
            <a:ext cx="2444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Manager Training Series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0250" y="4381500"/>
            <a:ext cx="2436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 sessions completed: Feedback, 1:1s, Goal Setting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0063" y="4667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9" name="Text 26"/>
          <p:cNvSpPr/>
          <p:nvPr/>
        </p:nvSpPr>
        <p:spPr>
          <a:xfrm>
            <a:off x="730250" y="4635500"/>
            <a:ext cx="2135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Manager Handbook Update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0250" y="4826000"/>
            <a:ext cx="2127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Revised with new processes and templates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00063" y="5111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32" name="Text 29"/>
          <p:cNvSpPr/>
          <p:nvPr/>
        </p:nvSpPr>
        <p:spPr>
          <a:xfrm>
            <a:off x="730250" y="5080000"/>
            <a:ext cx="2230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People Manager Community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0250" y="5270500"/>
            <a:ext cx="2222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Monthly peer learning sessions (12 managers)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91250" y="1127125"/>
            <a:ext cx="5683250" cy="3317875"/>
          </a:xfrm>
          <a:custGeom>
            <a:avLst/>
            <a:gdLst/>
            <a:ahLst/>
            <a:cxnLst/>
            <a:rect l="l" t="t" r="r" b="b"/>
            <a:pathLst>
              <a:path w="5683250" h="3317875">
                <a:moveTo>
                  <a:pt x="31750" y="0"/>
                </a:moveTo>
                <a:lnTo>
                  <a:pt x="5651500" y="0"/>
                </a:lnTo>
                <a:cubicBezTo>
                  <a:pt x="5669035" y="0"/>
                  <a:pt x="5683250" y="14215"/>
                  <a:pt x="5683250" y="31750"/>
                </a:cubicBezTo>
                <a:lnTo>
                  <a:pt x="5683250" y="3254371"/>
                </a:lnTo>
                <a:cubicBezTo>
                  <a:pt x="5683250" y="3289443"/>
                  <a:pt x="5654818" y="3317875"/>
                  <a:pt x="5619746" y="3317875"/>
                </a:cubicBezTo>
                <a:lnTo>
                  <a:pt x="63504" y="3317875"/>
                </a:lnTo>
                <a:cubicBezTo>
                  <a:pt x="28432" y="3317875"/>
                  <a:pt x="0" y="3289443"/>
                  <a:pt x="0" y="32543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35" name="Shape 32"/>
          <p:cNvSpPr/>
          <p:nvPr/>
        </p:nvSpPr>
        <p:spPr>
          <a:xfrm>
            <a:off x="6191250" y="1127125"/>
            <a:ext cx="5683250" cy="31750"/>
          </a:xfrm>
          <a:custGeom>
            <a:avLst/>
            <a:gdLst/>
            <a:ahLst/>
            <a:cxnLst/>
            <a:rect l="l" t="t" r="r" b="b"/>
            <a:pathLst>
              <a:path w="5683250" h="31750">
                <a:moveTo>
                  <a:pt x="31750" y="0"/>
                </a:moveTo>
                <a:lnTo>
                  <a:pt x="5651500" y="0"/>
                </a:lnTo>
                <a:cubicBezTo>
                  <a:pt x="5669023" y="0"/>
                  <a:pt x="5683250" y="14227"/>
                  <a:pt x="5683250" y="31750"/>
                </a:cubicBezTo>
                <a:lnTo>
                  <a:pt x="568325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36" name="Shape 33"/>
          <p:cNvSpPr/>
          <p:nvPr/>
        </p:nvSpPr>
        <p:spPr>
          <a:xfrm>
            <a:off x="6369844" y="133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4724" y="27006"/>
                </a:moveTo>
                <a:lnTo>
                  <a:pt x="79375" y="33424"/>
                </a:lnTo>
                <a:lnTo>
                  <a:pt x="84026" y="27006"/>
                </a:lnTo>
                <a:cubicBezTo>
                  <a:pt x="91777" y="16278"/>
                  <a:pt x="104242" y="9922"/>
                  <a:pt x="117481" y="9922"/>
                </a:cubicBezTo>
                <a:cubicBezTo>
                  <a:pt x="140271" y="9922"/>
                  <a:pt x="158750" y="28401"/>
                  <a:pt x="158750" y="51191"/>
                </a:cubicBezTo>
                <a:lnTo>
                  <a:pt x="158750" y="51997"/>
                </a:lnTo>
                <a:cubicBezTo>
                  <a:pt x="158750" y="86785"/>
                  <a:pt x="115373" y="127186"/>
                  <a:pt x="92739" y="144456"/>
                </a:cubicBezTo>
                <a:cubicBezTo>
                  <a:pt x="88894" y="147371"/>
                  <a:pt x="84181" y="148828"/>
                  <a:pt x="79375" y="148828"/>
                </a:cubicBezTo>
                <a:cubicBezTo>
                  <a:pt x="74569" y="148828"/>
                  <a:pt x="69825" y="147402"/>
                  <a:pt x="66011" y="144456"/>
                </a:cubicBezTo>
                <a:cubicBezTo>
                  <a:pt x="43377" y="127186"/>
                  <a:pt x="0" y="86785"/>
                  <a:pt x="0" y="51997"/>
                </a:cubicBezTo>
                <a:lnTo>
                  <a:pt x="0" y="51191"/>
                </a:lnTo>
                <a:cubicBezTo>
                  <a:pt x="0" y="28401"/>
                  <a:pt x="18479" y="9922"/>
                  <a:pt x="41269" y="9922"/>
                </a:cubicBezTo>
                <a:cubicBezTo>
                  <a:pt x="54508" y="9922"/>
                  <a:pt x="66973" y="16278"/>
                  <a:pt x="74724" y="27006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37" name="Text 34"/>
          <p:cNvSpPr/>
          <p:nvPr/>
        </p:nvSpPr>
        <p:spPr>
          <a:xfrm>
            <a:off x="6548438" y="1301750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Engagement Initiatives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53969" y="1654969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53188" y="1754188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Quarterly All-Hands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53188" y="1976438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March 15 — 89% attendance, CEO roadmap presentation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53969" y="2337594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53188" y="2436813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Offsites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53188" y="2659063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Engineering (Feb), Sales (Mar), Product (planned Q2)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53969" y="3020219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53188" y="3119438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Pulse Survey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53188" y="3341688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Quarterly engagement pulse (response rate: 78%)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53969" y="3702844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53188" y="3802062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Recognition Program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53188" y="4024313"/>
            <a:ext cx="521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Peer-to-peer recognition platform launched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191250" y="4603750"/>
            <a:ext cx="5683250" cy="1905000"/>
          </a:xfrm>
          <a:custGeom>
            <a:avLst/>
            <a:gdLst/>
            <a:ahLst/>
            <a:cxnLst/>
            <a:rect l="l" t="t" r="r" b="b"/>
            <a:pathLst>
              <a:path w="5683250" h="1905000">
                <a:moveTo>
                  <a:pt x="63494" y="0"/>
                </a:moveTo>
                <a:lnTo>
                  <a:pt x="5619756" y="0"/>
                </a:lnTo>
                <a:cubicBezTo>
                  <a:pt x="5654823" y="0"/>
                  <a:pt x="5683250" y="28427"/>
                  <a:pt x="5683250" y="63494"/>
                </a:cubicBezTo>
                <a:lnTo>
                  <a:pt x="5683250" y="1841506"/>
                </a:lnTo>
                <a:cubicBezTo>
                  <a:pt x="5683250" y="1876573"/>
                  <a:pt x="5654823" y="1905000"/>
                  <a:pt x="5619756" y="1905000"/>
                </a:cubicBezTo>
                <a:lnTo>
                  <a:pt x="63494" y="1905000"/>
                </a:lnTo>
                <a:cubicBezTo>
                  <a:pt x="28427" y="1905000"/>
                  <a:pt x="0" y="1876573"/>
                  <a:pt x="0" y="1841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1" name="Shape 48"/>
          <p:cNvSpPr/>
          <p:nvPr/>
        </p:nvSpPr>
        <p:spPr>
          <a:xfrm>
            <a:off x="6389688" y="4794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27285" y="19844"/>
                </a:moveTo>
                <a:cubicBezTo>
                  <a:pt x="23161" y="19844"/>
                  <a:pt x="19844" y="23161"/>
                  <a:pt x="19844" y="27285"/>
                </a:cubicBezTo>
                <a:cubicBezTo>
                  <a:pt x="19844" y="31409"/>
                  <a:pt x="23161" y="34727"/>
                  <a:pt x="27285" y="34727"/>
                </a:cubicBezTo>
                <a:lnTo>
                  <a:pt x="42168" y="34727"/>
                </a:lnTo>
                <a:cubicBezTo>
                  <a:pt x="46292" y="34727"/>
                  <a:pt x="49609" y="31409"/>
                  <a:pt x="49609" y="27285"/>
                </a:cubicBezTo>
                <a:cubicBezTo>
                  <a:pt x="49609" y="23161"/>
                  <a:pt x="46292" y="19844"/>
                  <a:pt x="42168" y="19844"/>
                </a:cubicBezTo>
                <a:lnTo>
                  <a:pt x="27285" y="19844"/>
                </a:lnTo>
                <a:close/>
                <a:moveTo>
                  <a:pt x="27285" y="49609"/>
                </a:moveTo>
                <a:cubicBezTo>
                  <a:pt x="23161" y="49609"/>
                  <a:pt x="19844" y="52927"/>
                  <a:pt x="19844" y="57051"/>
                </a:cubicBezTo>
                <a:cubicBezTo>
                  <a:pt x="19844" y="61175"/>
                  <a:pt x="23161" y="64492"/>
                  <a:pt x="27285" y="64492"/>
                </a:cubicBezTo>
                <a:lnTo>
                  <a:pt x="42168" y="64492"/>
                </a:lnTo>
                <a:cubicBezTo>
                  <a:pt x="46292" y="64492"/>
                  <a:pt x="49609" y="61175"/>
                  <a:pt x="49609" y="57051"/>
                </a:cubicBezTo>
                <a:cubicBezTo>
                  <a:pt x="49609" y="52927"/>
                  <a:pt x="46292" y="49609"/>
                  <a:pt x="42168" y="49609"/>
                </a:cubicBezTo>
                <a:lnTo>
                  <a:pt x="27285" y="49609"/>
                </a:lnTo>
                <a:close/>
                <a:moveTo>
                  <a:pt x="49082" y="99219"/>
                </a:moveTo>
                <a:cubicBezTo>
                  <a:pt x="45579" y="99219"/>
                  <a:pt x="42292" y="100800"/>
                  <a:pt x="40122" y="103529"/>
                </a:cubicBezTo>
                <a:lnTo>
                  <a:pt x="21487" y="126814"/>
                </a:lnTo>
                <a:cubicBezTo>
                  <a:pt x="18914" y="130008"/>
                  <a:pt x="19441" y="134720"/>
                  <a:pt x="22634" y="137263"/>
                </a:cubicBezTo>
                <a:cubicBezTo>
                  <a:pt x="25828" y="139805"/>
                  <a:pt x="30541" y="139309"/>
                  <a:pt x="33083" y="136085"/>
                </a:cubicBezTo>
                <a:lnTo>
                  <a:pt x="47687" y="117853"/>
                </a:lnTo>
                <a:lnTo>
                  <a:pt x="52400" y="133573"/>
                </a:lnTo>
                <a:cubicBezTo>
                  <a:pt x="53330" y="136736"/>
                  <a:pt x="56245" y="138875"/>
                  <a:pt x="59531" y="138875"/>
                </a:cubicBezTo>
                <a:lnTo>
                  <a:pt x="91777" y="138875"/>
                </a:lnTo>
                <a:cubicBezTo>
                  <a:pt x="95901" y="138875"/>
                  <a:pt x="99219" y="135558"/>
                  <a:pt x="99219" y="131434"/>
                </a:cubicBezTo>
                <a:cubicBezTo>
                  <a:pt x="99219" y="127310"/>
                  <a:pt x="95901" y="123992"/>
                  <a:pt x="91777" y="123992"/>
                </a:cubicBezTo>
                <a:lnTo>
                  <a:pt x="65081" y="123992"/>
                </a:lnTo>
                <a:lnTo>
                  <a:pt x="60089" y="107373"/>
                </a:lnTo>
                <a:cubicBezTo>
                  <a:pt x="58632" y="102505"/>
                  <a:pt x="54167" y="99188"/>
                  <a:pt x="49082" y="991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Text 49"/>
          <p:cNvSpPr/>
          <p:nvPr/>
        </p:nvSpPr>
        <p:spPr>
          <a:xfrm>
            <a:off x="6548438" y="4762500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Policy Refresh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65875" y="5143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4" name="Text 51"/>
          <p:cNvSpPr/>
          <p:nvPr/>
        </p:nvSpPr>
        <p:spPr>
          <a:xfrm>
            <a:off x="6604000" y="5111750"/>
            <a:ext cx="231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Remote Work Policy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604000" y="5302250"/>
            <a:ext cx="2309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Updated to clarify expectations and equipment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65875" y="5588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Text 54"/>
          <p:cNvSpPr/>
          <p:nvPr/>
        </p:nvSpPr>
        <p:spPr>
          <a:xfrm>
            <a:off x="6604000" y="5556250"/>
            <a:ext cx="1785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PTO Policy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604000" y="5746750"/>
            <a:ext cx="1778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Simplified accrual and rollover rules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365875" y="6032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0" name="Text 57"/>
          <p:cNvSpPr/>
          <p:nvPr/>
        </p:nvSpPr>
        <p:spPr>
          <a:xfrm>
            <a:off x="6604000" y="6000750"/>
            <a:ext cx="1730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Parental Leave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604000" y="6191250"/>
            <a:ext cx="1722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Under review for Q2 enhancement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17500" y="6639719"/>
            <a:ext cx="11557000" cy="7938"/>
          </a:xfrm>
          <a:custGeom>
            <a:avLst/>
            <a:gdLst/>
            <a:ahLst/>
            <a:cxnLst/>
            <a:rect l="l" t="t" r="r" b="b"/>
            <a:pathLst>
              <a:path w="11557000" h="7938">
                <a:moveTo>
                  <a:pt x="0" y="0"/>
                </a:moveTo>
                <a:lnTo>
                  <a:pt x="11557000" y="0"/>
                </a:lnTo>
                <a:lnTo>
                  <a:pt x="1155700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63" name="Text 60"/>
          <p:cNvSpPr/>
          <p:nvPr/>
        </p:nvSpPr>
        <p:spPr>
          <a:xfrm>
            <a:off x="317500" y="6770688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Program Owner:</a:t>
            </a: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VP People | </a:t>
            </a:r>
            <a:r>
              <a:rPr lang="en-US" sz="87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Support:</a:t>
            </a: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HRBP, Office Manager | </a:t>
            </a:r>
            <a:r>
              <a:rPr lang="en-US" sz="87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Budget Utilization:</a:t>
            </a: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87% of Q1 allocated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825" y="323825"/>
            <a:ext cx="3052048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Risks and Watch Items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825" y="712414"/>
            <a:ext cx="2979187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People-Related Risks Requiring Monitoring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348222" y="372398"/>
            <a:ext cx="518120" cy="51812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40016" y="1133386"/>
            <a:ext cx="5658837" cy="2274869"/>
          </a:xfrm>
          <a:custGeom>
            <a:avLst/>
            <a:gdLst/>
            <a:ahLst/>
            <a:cxnLst/>
            <a:rect l="l" t="t" r="r" b="b"/>
            <a:pathLst>
              <a:path w="5658837" h="2274869">
                <a:moveTo>
                  <a:pt x="32382" y="0"/>
                </a:moveTo>
                <a:lnTo>
                  <a:pt x="5594071" y="0"/>
                </a:lnTo>
                <a:cubicBezTo>
                  <a:pt x="5629840" y="0"/>
                  <a:pt x="5658837" y="28997"/>
                  <a:pt x="5658837" y="64766"/>
                </a:cubicBezTo>
                <a:lnTo>
                  <a:pt x="5658837" y="2210103"/>
                </a:lnTo>
                <a:cubicBezTo>
                  <a:pt x="5658837" y="2245872"/>
                  <a:pt x="5629840" y="2274869"/>
                  <a:pt x="5594071" y="2274869"/>
                </a:cubicBez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EF3C7"/>
          </a:solidFill>
        </p:spPr>
      </p:sp>
      <p:sp>
        <p:nvSpPr>
          <p:cNvPr id="6" name="Shape 3"/>
          <p:cNvSpPr/>
          <p:nvPr/>
        </p:nvSpPr>
        <p:spPr>
          <a:xfrm>
            <a:off x="340016" y="1133386"/>
            <a:ext cx="32382" cy="2274869"/>
          </a:xfrm>
          <a:custGeom>
            <a:avLst/>
            <a:gdLst/>
            <a:ahLst/>
            <a:cxnLst/>
            <a:rect l="l" t="t" r="r" b="b"/>
            <a:pathLst>
              <a:path w="32382" h="2274869">
                <a:moveTo>
                  <a:pt x="32382" y="0"/>
                </a:moveTo>
                <a:lnTo>
                  <a:pt x="32382" y="0"/>
                </a:lnTo>
                <a:lnTo>
                  <a:pt x="32382" y="2274869"/>
                </a:ln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7" name="Shape 4"/>
          <p:cNvSpPr/>
          <p:nvPr/>
        </p:nvSpPr>
        <p:spPr>
          <a:xfrm>
            <a:off x="518120" y="1295299"/>
            <a:ext cx="323825" cy="323825"/>
          </a:xfrm>
          <a:custGeom>
            <a:avLst/>
            <a:gdLst/>
            <a:ahLst/>
            <a:cxnLst/>
            <a:rect l="l" t="t" r="r" b="b"/>
            <a:pathLst>
              <a:path w="323825" h="323825">
                <a:moveTo>
                  <a:pt x="161912" y="0"/>
                </a:moveTo>
                <a:lnTo>
                  <a:pt x="161912" y="0"/>
                </a:lnTo>
                <a:cubicBezTo>
                  <a:pt x="251274" y="0"/>
                  <a:pt x="323825" y="72550"/>
                  <a:pt x="323825" y="161912"/>
                </a:cubicBezTo>
                <a:lnTo>
                  <a:pt x="323825" y="161912"/>
                </a:lnTo>
                <a:cubicBezTo>
                  <a:pt x="323825" y="251274"/>
                  <a:pt x="251274" y="323825"/>
                  <a:pt x="161912" y="323825"/>
                </a:cubicBezTo>
                <a:lnTo>
                  <a:pt x="161912" y="323825"/>
                </a:lnTo>
                <a:cubicBezTo>
                  <a:pt x="72550" y="323825"/>
                  <a:pt x="0" y="251274"/>
                  <a:pt x="0" y="161912"/>
                </a:cubicBezTo>
                <a:lnTo>
                  <a:pt x="0" y="161912"/>
                </a:lnTo>
                <a:cubicBezTo>
                  <a:pt x="0" y="72550"/>
                  <a:pt x="72550" y="0"/>
                  <a:pt x="161912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8" name="Text 5"/>
          <p:cNvSpPr/>
          <p:nvPr/>
        </p:nvSpPr>
        <p:spPr>
          <a:xfrm>
            <a:off x="481689" y="1295299"/>
            <a:ext cx="396685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9092" y="1343873"/>
            <a:ext cx="1028143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Hiring Delays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8120" y="1716271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Three roles from Q1 plan remain unfilled (Principal Engineer, Enterprise AE, CSM). Extended vacancies may impact product roadmap and revenue targets.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8120" y="2169625"/>
            <a:ext cx="5383586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Medium — Engineering capacity constraints, Sales pipeline coverage gaps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8120" y="2428685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Mitigation: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Increased sourcing budget, engaged external agency for senior engineering role, accelerated interview process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8120" y="2918470"/>
            <a:ext cx="5318821" cy="8096"/>
          </a:xfrm>
          <a:custGeom>
            <a:avLst/>
            <a:gdLst/>
            <a:ahLst/>
            <a:cxnLst/>
            <a:rect l="l" t="t" r="r" b="b"/>
            <a:pathLst>
              <a:path w="5318821" h="8096">
                <a:moveTo>
                  <a:pt x="0" y="0"/>
                </a:moveTo>
                <a:lnTo>
                  <a:pt x="5318821" y="0"/>
                </a:lnTo>
                <a:lnTo>
                  <a:pt x="5318821" y="8096"/>
                </a:lnTo>
                <a:lnTo>
                  <a:pt x="0" y="8096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3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518120" y="3019665"/>
            <a:ext cx="979570" cy="226677"/>
          </a:xfrm>
          <a:custGeom>
            <a:avLst/>
            <a:gdLst/>
            <a:ahLst/>
            <a:cxnLst/>
            <a:rect l="l" t="t" r="r" b="b"/>
            <a:pathLst>
              <a:path w="979570" h="226677">
                <a:moveTo>
                  <a:pt x="113339" y="0"/>
                </a:moveTo>
                <a:lnTo>
                  <a:pt x="866231" y="0"/>
                </a:lnTo>
                <a:cubicBezTo>
                  <a:pt x="928826" y="0"/>
                  <a:pt x="979570" y="50743"/>
                  <a:pt x="979570" y="113339"/>
                </a:cubicBezTo>
                <a:lnTo>
                  <a:pt x="979570" y="113339"/>
                </a:lnTo>
                <a:cubicBezTo>
                  <a:pt x="979570" y="175934"/>
                  <a:pt x="928826" y="226677"/>
                  <a:pt x="866231" y="226677"/>
                </a:cubicBezTo>
                <a:lnTo>
                  <a:pt x="113339" y="226677"/>
                </a:lnTo>
                <a:cubicBezTo>
                  <a:pt x="50785" y="226677"/>
                  <a:pt x="0" y="175892"/>
                  <a:pt x="0" y="113339"/>
                </a:cubicBezTo>
                <a:lnTo>
                  <a:pt x="0" y="113339"/>
                </a:lnTo>
                <a:cubicBezTo>
                  <a:pt x="0" y="50785"/>
                  <a:pt x="50785" y="0"/>
                  <a:pt x="113339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5" name="Text 12"/>
          <p:cNvSpPr/>
          <p:nvPr/>
        </p:nvSpPr>
        <p:spPr>
          <a:xfrm>
            <a:off x="518120" y="3019665"/>
            <a:ext cx="1036239" cy="226677"/>
          </a:xfrm>
          <a:prstGeom prst="rect">
            <a:avLst/>
          </a:prstGeom>
          <a:noFill/>
        </p:spPr>
        <p:txBody>
          <a:bodyPr wrap="square" lIns="97147" tIns="32382" rIns="97147" bIns="32382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Medium Priority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58912" y="3052048"/>
            <a:ext cx="1101004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4A7C9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resolution: Q2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40016" y="3570167"/>
            <a:ext cx="5658837" cy="2274869"/>
          </a:xfrm>
          <a:custGeom>
            <a:avLst/>
            <a:gdLst/>
            <a:ahLst/>
            <a:cxnLst/>
            <a:rect l="l" t="t" r="r" b="b"/>
            <a:pathLst>
              <a:path w="5658837" h="2274869">
                <a:moveTo>
                  <a:pt x="32382" y="0"/>
                </a:moveTo>
                <a:lnTo>
                  <a:pt x="5594071" y="0"/>
                </a:lnTo>
                <a:cubicBezTo>
                  <a:pt x="5629840" y="0"/>
                  <a:pt x="5658837" y="28997"/>
                  <a:pt x="5658837" y="64766"/>
                </a:cubicBezTo>
                <a:lnTo>
                  <a:pt x="5658837" y="2210103"/>
                </a:lnTo>
                <a:cubicBezTo>
                  <a:pt x="5658837" y="2245872"/>
                  <a:pt x="5629840" y="2274869"/>
                  <a:pt x="5594071" y="2274869"/>
                </a:cubicBez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EE2E2"/>
          </a:solidFill>
        </p:spPr>
      </p:sp>
      <p:sp>
        <p:nvSpPr>
          <p:cNvPr id="18" name="Shape 15"/>
          <p:cNvSpPr/>
          <p:nvPr/>
        </p:nvSpPr>
        <p:spPr>
          <a:xfrm>
            <a:off x="340016" y="3570167"/>
            <a:ext cx="32382" cy="2274869"/>
          </a:xfrm>
          <a:custGeom>
            <a:avLst/>
            <a:gdLst/>
            <a:ahLst/>
            <a:cxnLst/>
            <a:rect l="l" t="t" r="r" b="b"/>
            <a:pathLst>
              <a:path w="32382" h="2274869">
                <a:moveTo>
                  <a:pt x="32382" y="0"/>
                </a:moveTo>
                <a:lnTo>
                  <a:pt x="32382" y="0"/>
                </a:lnTo>
                <a:lnTo>
                  <a:pt x="32382" y="2274869"/>
                </a:ln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19" name="Shape 16"/>
          <p:cNvSpPr/>
          <p:nvPr/>
        </p:nvSpPr>
        <p:spPr>
          <a:xfrm>
            <a:off x="518120" y="3732080"/>
            <a:ext cx="323825" cy="323825"/>
          </a:xfrm>
          <a:custGeom>
            <a:avLst/>
            <a:gdLst/>
            <a:ahLst/>
            <a:cxnLst/>
            <a:rect l="l" t="t" r="r" b="b"/>
            <a:pathLst>
              <a:path w="323825" h="323825">
                <a:moveTo>
                  <a:pt x="161912" y="0"/>
                </a:moveTo>
                <a:lnTo>
                  <a:pt x="161912" y="0"/>
                </a:lnTo>
                <a:cubicBezTo>
                  <a:pt x="251274" y="0"/>
                  <a:pt x="323825" y="72550"/>
                  <a:pt x="323825" y="161912"/>
                </a:cubicBezTo>
                <a:lnTo>
                  <a:pt x="323825" y="161912"/>
                </a:lnTo>
                <a:cubicBezTo>
                  <a:pt x="323825" y="251274"/>
                  <a:pt x="251274" y="323825"/>
                  <a:pt x="161912" y="323825"/>
                </a:cubicBezTo>
                <a:lnTo>
                  <a:pt x="161912" y="323825"/>
                </a:lnTo>
                <a:cubicBezTo>
                  <a:pt x="72550" y="323825"/>
                  <a:pt x="0" y="251274"/>
                  <a:pt x="0" y="161912"/>
                </a:cubicBezTo>
                <a:lnTo>
                  <a:pt x="0" y="161912"/>
                </a:lnTo>
                <a:cubicBezTo>
                  <a:pt x="0" y="72550"/>
                  <a:pt x="72550" y="0"/>
                  <a:pt x="161912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20" name="Text 17"/>
          <p:cNvSpPr/>
          <p:nvPr/>
        </p:nvSpPr>
        <p:spPr>
          <a:xfrm>
            <a:off x="481689" y="3732080"/>
            <a:ext cx="396685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9092" y="3780653"/>
            <a:ext cx="1279108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Bandwidth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8120" y="4153052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Engineering team operating at high capacity with 1:9 manager-to-IC ratio. Risk of burnout and reduced quality if sustained.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8120" y="4606406"/>
            <a:ext cx="5383586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Medium-High — Delivery delays, attrition risk, technical debt accumulation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8120" y="4865466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Mitigation: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Prioritize Engineering Manager hire in Q2, review project scope with Product, implement workload monitoring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8120" y="5355251"/>
            <a:ext cx="5318821" cy="8096"/>
          </a:xfrm>
          <a:custGeom>
            <a:avLst/>
            <a:gdLst/>
            <a:ahLst/>
            <a:cxnLst/>
            <a:rect l="l" t="t" r="r" b="b"/>
            <a:pathLst>
              <a:path w="5318821" h="8096">
                <a:moveTo>
                  <a:pt x="0" y="0"/>
                </a:moveTo>
                <a:lnTo>
                  <a:pt x="5318821" y="0"/>
                </a:lnTo>
                <a:lnTo>
                  <a:pt x="5318821" y="8096"/>
                </a:lnTo>
                <a:lnTo>
                  <a:pt x="0" y="8096"/>
                </a:lnTo>
                <a:lnTo>
                  <a:pt x="0" y="0"/>
                </a:lnTo>
                <a:close/>
              </a:path>
            </a:pathLst>
          </a:custGeom>
          <a:solidFill>
            <a:srgbClr val="EF4444">
              <a:alpha val="30196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518120" y="5456446"/>
            <a:ext cx="793371" cy="226677"/>
          </a:xfrm>
          <a:custGeom>
            <a:avLst/>
            <a:gdLst/>
            <a:ahLst/>
            <a:cxnLst/>
            <a:rect l="l" t="t" r="r" b="b"/>
            <a:pathLst>
              <a:path w="793371" h="226677">
                <a:moveTo>
                  <a:pt x="113339" y="0"/>
                </a:moveTo>
                <a:lnTo>
                  <a:pt x="680032" y="0"/>
                </a:lnTo>
                <a:cubicBezTo>
                  <a:pt x="742585" y="0"/>
                  <a:pt x="793371" y="50785"/>
                  <a:pt x="793371" y="113339"/>
                </a:cubicBezTo>
                <a:lnTo>
                  <a:pt x="793371" y="113339"/>
                </a:lnTo>
                <a:cubicBezTo>
                  <a:pt x="793371" y="175892"/>
                  <a:pt x="742585" y="226677"/>
                  <a:pt x="680032" y="226677"/>
                </a:cubicBezTo>
                <a:lnTo>
                  <a:pt x="113339" y="226677"/>
                </a:lnTo>
                <a:cubicBezTo>
                  <a:pt x="50785" y="226677"/>
                  <a:pt x="0" y="175892"/>
                  <a:pt x="0" y="113339"/>
                </a:cubicBezTo>
                <a:lnTo>
                  <a:pt x="0" y="113339"/>
                </a:lnTo>
                <a:cubicBezTo>
                  <a:pt x="0" y="50785"/>
                  <a:pt x="50785" y="0"/>
                  <a:pt x="113339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27" name="Text 24"/>
          <p:cNvSpPr/>
          <p:nvPr/>
        </p:nvSpPr>
        <p:spPr>
          <a:xfrm>
            <a:off x="518120" y="5456446"/>
            <a:ext cx="850040" cy="226677"/>
          </a:xfrm>
          <a:prstGeom prst="rect">
            <a:avLst/>
          </a:prstGeom>
          <a:noFill/>
        </p:spPr>
        <p:txBody>
          <a:bodyPr wrap="square" lIns="97147" tIns="32382" rIns="97147" bIns="32382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 Priority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9734" y="5488829"/>
            <a:ext cx="1214343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4A7C9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Escalated to leadership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08390" y="1133386"/>
            <a:ext cx="5658837" cy="2274869"/>
          </a:xfrm>
          <a:custGeom>
            <a:avLst/>
            <a:gdLst/>
            <a:ahLst/>
            <a:cxnLst/>
            <a:rect l="l" t="t" r="r" b="b"/>
            <a:pathLst>
              <a:path w="5658837" h="2274869">
                <a:moveTo>
                  <a:pt x="32382" y="0"/>
                </a:moveTo>
                <a:lnTo>
                  <a:pt x="5594071" y="0"/>
                </a:lnTo>
                <a:cubicBezTo>
                  <a:pt x="5629840" y="0"/>
                  <a:pt x="5658837" y="28997"/>
                  <a:pt x="5658837" y="64766"/>
                </a:cubicBezTo>
                <a:lnTo>
                  <a:pt x="5658837" y="2210103"/>
                </a:lnTo>
                <a:cubicBezTo>
                  <a:pt x="5658837" y="2245872"/>
                  <a:pt x="5629840" y="2274869"/>
                  <a:pt x="5594071" y="2274869"/>
                </a:cubicBez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DBEAFE"/>
          </a:solidFill>
        </p:spPr>
      </p:sp>
      <p:sp>
        <p:nvSpPr>
          <p:cNvPr id="30" name="Shape 27"/>
          <p:cNvSpPr/>
          <p:nvPr/>
        </p:nvSpPr>
        <p:spPr>
          <a:xfrm>
            <a:off x="6208390" y="1133386"/>
            <a:ext cx="32382" cy="2274869"/>
          </a:xfrm>
          <a:custGeom>
            <a:avLst/>
            <a:gdLst/>
            <a:ahLst/>
            <a:cxnLst/>
            <a:rect l="l" t="t" r="r" b="b"/>
            <a:pathLst>
              <a:path w="32382" h="2274869">
                <a:moveTo>
                  <a:pt x="32382" y="0"/>
                </a:moveTo>
                <a:lnTo>
                  <a:pt x="32382" y="0"/>
                </a:lnTo>
                <a:lnTo>
                  <a:pt x="32382" y="2274869"/>
                </a:ln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1" name="Shape 28"/>
          <p:cNvSpPr/>
          <p:nvPr/>
        </p:nvSpPr>
        <p:spPr>
          <a:xfrm>
            <a:off x="6386494" y="1295299"/>
            <a:ext cx="323825" cy="323825"/>
          </a:xfrm>
          <a:custGeom>
            <a:avLst/>
            <a:gdLst/>
            <a:ahLst/>
            <a:cxnLst/>
            <a:rect l="l" t="t" r="r" b="b"/>
            <a:pathLst>
              <a:path w="323825" h="323825">
                <a:moveTo>
                  <a:pt x="161912" y="0"/>
                </a:moveTo>
                <a:lnTo>
                  <a:pt x="161912" y="0"/>
                </a:lnTo>
                <a:cubicBezTo>
                  <a:pt x="251274" y="0"/>
                  <a:pt x="323825" y="72550"/>
                  <a:pt x="323825" y="161912"/>
                </a:cubicBezTo>
                <a:lnTo>
                  <a:pt x="323825" y="161912"/>
                </a:lnTo>
                <a:cubicBezTo>
                  <a:pt x="323825" y="251274"/>
                  <a:pt x="251274" y="323825"/>
                  <a:pt x="161912" y="323825"/>
                </a:cubicBezTo>
                <a:lnTo>
                  <a:pt x="161912" y="323825"/>
                </a:lnTo>
                <a:cubicBezTo>
                  <a:pt x="72550" y="323825"/>
                  <a:pt x="0" y="251274"/>
                  <a:pt x="0" y="161912"/>
                </a:cubicBezTo>
                <a:lnTo>
                  <a:pt x="0" y="161912"/>
                </a:lnTo>
                <a:cubicBezTo>
                  <a:pt x="0" y="72550"/>
                  <a:pt x="72550" y="0"/>
                  <a:pt x="161912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2" name="Text 29"/>
          <p:cNvSpPr/>
          <p:nvPr/>
        </p:nvSpPr>
        <p:spPr>
          <a:xfrm>
            <a:off x="6350063" y="1295299"/>
            <a:ext cx="396685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07466" y="1343873"/>
            <a:ext cx="1101004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Manager Load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86494" y="1716271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Senior managers (VP Eng, VP Sales) carrying heavy spans of control. Limited time for strategic work and team development.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86494" y="2169625"/>
            <a:ext cx="5383586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Medium — Reduced strategic focus, slower decision-making, manager fatigue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86494" y="2428685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Mitigation: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Evaluate need for Director-level layer, delegate operational tasks, prioritize leadership hires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86494" y="2918470"/>
            <a:ext cx="5318821" cy="8096"/>
          </a:xfrm>
          <a:custGeom>
            <a:avLst/>
            <a:gdLst/>
            <a:ahLst/>
            <a:cxnLst/>
            <a:rect l="l" t="t" r="r" b="b"/>
            <a:pathLst>
              <a:path w="5318821" h="8096">
                <a:moveTo>
                  <a:pt x="0" y="0"/>
                </a:moveTo>
                <a:lnTo>
                  <a:pt x="5318821" y="0"/>
                </a:lnTo>
                <a:lnTo>
                  <a:pt x="5318821" y="8096"/>
                </a:lnTo>
                <a:lnTo>
                  <a:pt x="0" y="8096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6386494" y="3019665"/>
            <a:ext cx="979570" cy="226677"/>
          </a:xfrm>
          <a:custGeom>
            <a:avLst/>
            <a:gdLst/>
            <a:ahLst/>
            <a:cxnLst/>
            <a:rect l="l" t="t" r="r" b="b"/>
            <a:pathLst>
              <a:path w="979570" h="226677">
                <a:moveTo>
                  <a:pt x="113339" y="0"/>
                </a:moveTo>
                <a:lnTo>
                  <a:pt x="866231" y="0"/>
                </a:lnTo>
                <a:cubicBezTo>
                  <a:pt x="928826" y="0"/>
                  <a:pt x="979570" y="50743"/>
                  <a:pt x="979570" y="113339"/>
                </a:cubicBezTo>
                <a:lnTo>
                  <a:pt x="979570" y="113339"/>
                </a:lnTo>
                <a:cubicBezTo>
                  <a:pt x="979570" y="175934"/>
                  <a:pt x="928826" y="226677"/>
                  <a:pt x="866231" y="226677"/>
                </a:cubicBezTo>
                <a:lnTo>
                  <a:pt x="113339" y="226677"/>
                </a:lnTo>
                <a:cubicBezTo>
                  <a:pt x="50785" y="226677"/>
                  <a:pt x="0" y="175892"/>
                  <a:pt x="0" y="113339"/>
                </a:cubicBezTo>
                <a:lnTo>
                  <a:pt x="0" y="113339"/>
                </a:lnTo>
                <a:cubicBezTo>
                  <a:pt x="0" y="50785"/>
                  <a:pt x="50785" y="0"/>
                  <a:pt x="113339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9" name="Text 36"/>
          <p:cNvSpPr/>
          <p:nvPr/>
        </p:nvSpPr>
        <p:spPr>
          <a:xfrm>
            <a:off x="6386494" y="3019665"/>
            <a:ext cx="1036239" cy="226677"/>
          </a:xfrm>
          <a:prstGeom prst="rect">
            <a:avLst/>
          </a:prstGeom>
          <a:noFill/>
        </p:spPr>
        <p:txBody>
          <a:bodyPr wrap="square" lIns="97147" tIns="32382" rIns="97147" bIns="32382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Medium Priority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27286" y="3052048"/>
            <a:ext cx="720510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4A7C9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Under review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208390" y="3570167"/>
            <a:ext cx="5658837" cy="2274869"/>
          </a:xfrm>
          <a:custGeom>
            <a:avLst/>
            <a:gdLst/>
            <a:ahLst/>
            <a:cxnLst/>
            <a:rect l="l" t="t" r="r" b="b"/>
            <a:pathLst>
              <a:path w="5658837" h="2274869">
                <a:moveTo>
                  <a:pt x="32382" y="0"/>
                </a:moveTo>
                <a:lnTo>
                  <a:pt x="5594071" y="0"/>
                </a:lnTo>
                <a:cubicBezTo>
                  <a:pt x="5629840" y="0"/>
                  <a:pt x="5658837" y="28997"/>
                  <a:pt x="5658837" y="64766"/>
                </a:cubicBezTo>
                <a:lnTo>
                  <a:pt x="5658837" y="2210103"/>
                </a:lnTo>
                <a:cubicBezTo>
                  <a:pt x="5658837" y="2245872"/>
                  <a:pt x="5629840" y="2274869"/>
                  <a:pt x="5594071" y="2274869"/>
                </a:cubicBez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F3E8FF"/>
          </a:solidFill>
        </p:spPr>
      </p:sp>
      <p:sp>
        <p:nvSpPr>
          <p:cNvPr id="42" name="Shape 39"/>
          <p:cNvSpPr/>
          <p:nvPr/>
        </p:nvSpPr>
        <p:spPr>
          <a:xfrm>
            <a:off x="6208390" y="3570167"/>
            <a:ext cx="32382" cy="2274869"/>
          </a:xfrm>
          <a:custGeom>
            <a:avLst/>
            <a:gdLst/>
            <a:ahLst/>
            <a:cxnLst/>
            <a:rect l="l" t="t" r="r" b="b"/>
            <a:pathLst>
              <a:path w="32382" h="2274869">
                <a:moveTo>
                  <a:pt x="32382" y="0"/>
                </a:moveTo>
                <a:lnTo>
                  <a:pt x="32382" y="0"/>
                </a:lnTo>
                <a:lnTo>
                  <a:pt x="32382" y="2274869"/>
                </a:lnTo>
                <a:lnTo>
                  <a:pt x="32382" y="2274869"/>
                </a:lnTo>
                <a:cubicBezTo>
                  <a:pt x="14498" y="2274869"/>
                  <a:pt x="0" y="2260370"/>
                  <a:pt x="0" y="224248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8B5CF6"/>
          </a:solidFill>
        </p:spPr>
      </p:sp>
      <p:sp>
        <p:nvSpPr>
          <p:cNvPr id="43" name="Shape 40"/>
          <p:cNvSpPr/>
          <p:nvPr/>
        </p:nvSpPr>
        <p:spPr>
          <a:xfrm>
            <a:off x="6386494" y="3732080"/>
            <a:ext cx="323825" cy="323825"/>
          </a:xfrm>
          <a:custGeom>
            <a:avLst/>
            <a:gdLst/>
            <a:ahLst/>
            <a:cxnLst/>
            <a:rect l="l" t="t" r="r" b="b"/>
            <a:pathLst>
              <a:path w="323825" h="323825">
                <a:moveTo>
                  <a:pt x="161912" y="0"/>
                </a:moveTo>
                <a:lnTo>
                  <a:pt x="161912" y="0"/>
                </a:lnTo>
                <a:cubicBezTo>
                  <a:pt x="251274" y="0"/>
                  <a:pt x="323825" y="72550"/>
                  <a:pt x="323825" y="161912"/>
                </a:cubicBezTo>
                <a:lnTo>
                  <a:pt x="323825" y="161912"/>
                </a:lnTo>
                <a:cubicBezTo>
                  <a:pt x="323825" y="251274"/>
                  <a:pt x="251274" y="323825"/>
                  <a:pt x="161912" y="323825"/>
                </a:cubicBezTo>
                <a:lnTo>
                  <a:pt x="161912" y="323825"/>
                </a:lnTo>
                <a:cubicBezTo>
                  <a:pt x="72550" y="323825"/>
                  <a:pt x="0" y="251274"/>
                  <a:pt x="0" y="161912"/>
                </a:cubicBezTo>
                <a:lnTo>
                  <a:pt x="0" y="161912"/>
                </a:lnTo>
                <a:cubicBezTo>
                  <a:pt x="0" y="72550"/>
                  <a:pt x="72550" y="0"/>
                  <a:pt x="161912" y="0"/>
                </a:cubicBezTo>
                <a:close/>
              </a:path>
            </a:pathLst>
          </a:custGeom>
          <a:solidFill>
            <a:srgbClr val="8B5CF6"/>
          </a:solidFill>
        </p:spPr>
      </p:sp>
      <p:sp>
        <p:nvSpPr>
          <p:cNvPr id="44" name="Text 41"/>
          <p:cNvSpPr/>
          <p:nvPr/>
        </p:nvSpPr>
        <p:spPr>
          <a:xfrm>
            <a:off x="6350063" y="3732080"/>
            <a:ext cx="396685" cy="323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807466" y="3780653"/>
            <a:ext cx="1716271" cy="226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Org Structure Pressure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86494" y="4153052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Rapid growth (8 new hires in Q1) straining existing communication channels and decision-making processes.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86494" y="4606406"/>
            <a:ext cx="5383586" cy="194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Low-Medium — Information silos, slower cross-functional collaboration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386494" y="4865466"/>
            <a:ext cx="5383586" cy="38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Mitigation:</a:t>
            </a:r>
            <a:r>
              <a:rPr lang="en-US" sz="102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Document decision-making frameworks, enhance All-Hands communication, implement cross-functional project teams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86494" y="5355251"/>
            <a:ext cx="5318821" cy="8096"/>
          </a:xfrm>
          <a:custGeom>
            <a:avLst/>
            <a:gdLst/>
            <a:ahLst/>
            <a:cxnLst/>
            <a:rect l="l" t="t" r="r" b="b"/>
            <a:pathLst>
              <a:path w="5318821" h="8096">
                <a:moveTo>
                  <a:pt x="0" y="0"/>
                </a:moveTo>
                <a:lnTo>
                  <a:pt x="5318821" y="0"/>
                </a:lnTo>
                <a:lnTo>
                  <a:pt x="5318821" y="8096"/>
                </a:lnTo>
                <a:lnTo>
                  <a:pt x="0" y="8096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30196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6386494" y="5456446"/>
            <a:ext cx="785275" cy="226677"/>
          </a:xfrm>
          <a:custGeom>
            <a:avLst/>
            <a:gdLst/>
            <a:ahLst/>
            <a:cxnLst/>
            <a:rect l="l" t="t" r="r" b="b"/>
            <a:pathLst>
              <a:path w="785275" h="226677">
                <a:moveTo>
                  <a:pt x="113339" y="0"/>
                </a:moveTo>
                <a:lnTo>
                  <a:pt x="671936" y="0"/>
                </a:lnTo>
                <a:cubicBezTo>
                  <a:pt x="734490" y="0"/>
                  <a:pt x="785275" y="50785"/>
                  <a:pt x="785275" y="113339"/>
                </a:cubicBezTo>
                <a:lnTo>
                  <a:pt x="785275" y="113339"/>
                </a:lnTo>
                <a:cubicBezTo>
                  <a:pt x="785275" y="175892"/>
                  <a:pt x="734490" y="226677"/>
                  <a:pt x="671936" y="226677"/>
                </a:cubicBezTo>
                <a:lnTo>
                  <a:pt x="113339" y="226677"/>
                </a:lnTo>
                <a:cubicBezTo>
                  <a:pt x="50785" y="226677"/>
                  <a:pt x="0" y="175892"/>
                  <a:pt x="0" y="113339"/>
                </a:cubicBezTo>
                <a:lnTo>
                  <a:pt x="0" y="113339"/>
                </a:lnTo>
                <a:cubicBezTo>
                  <a:pt x="0" y="50785"/>
                  <a:pt x="50785" y="0"/>
                  <a:pt x="113339" y="0"/>
                </a:cubicBezTo>
                <a:close/>
              </a:path>
            </a:pathLst>
          </a:custGeom>
          <a:solidFill>
            <a:srgbClr val="8B5CF6"/>
          </a:solidFill>
        </p:spPr>
      </p:sp>
      <p:sp>
        <p:nvSpPr>
          <p:cNvPr id="51" name="Text 48"/>
          <p:cNvSpPr/>
          <p:nvPr/>
        </p:nvSpPr>
        <p:spPr>
          <a:xfrm>
            <a:off x="6386494" y="5456446"/>
            <a:ext cx="841944" cy="226677"/>
          </a:xfrm>
          <a:prstGeom prst="rect">
            <a:avLst/>
          </a:prstGeom>
          <a:noFill/>
        </p:spPr>
        <p:txBody>
          <a:bodyPr wrap="square" lIns="97147" tIns="32382" rIns="97147" bIns="32382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Low Priority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235142" y="5488829"/>
            <a:ext cx="922900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4A7C9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 quarterly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23825" y="6237673"/>
            <a:ext cx="11544351" cy="8096"/>
          </a:xfrm>
          <a:custGeom>
            <a:avLst/>
            <a:gdLst/>
            <a:ahLst/>
            <a:cxnLst/>
            <a:rect l="l" t="t" r="r" b="b"/>
            <a:pathLst>
              <a:path w="11544351" h="8096">
                <a:moveTo>
                  <a:pt x="0" y="0"/>
                </a:moveTo>
                <a:lnTo>
                  <a:pt x="11544351" y="0"/>
                </a:lnTo>
                <a:lnTo>
                  <a:pt x="11544351" y="8096"/>
                </a:lnTo>
                <a:lnTo>
                  <a:pt x="0" y="80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54" name="Text 51"/>
          <p:cNvSpPr/>
          <p:nvPr/>
        </p:nvSpPr>
        <p:spPr>
          <a:xfrm>
            <a:off x="323825" y="6371251"/>
            <a:ext cx="11601020" cy="161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 Review Process:</a:t>
            </a:r>
            <a:r>
              <a:rPr lang="en-US" sz="8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Monthly leadership sync | </a:t>
            </a:r>
            <a:r>
              <a:rPr lang="en-US" sz="890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Owner:</a:t>
            </a:r>
            <a:r>
              <a:rPr lang="en-US" sz="8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VP People | </a:t>
            </a:r>
            <a:r>
              <a:rPr lang="en-US" sz="890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Next Review:</a:t>
            </a:r>
            <a:r>
              <a:rPr lang="en-US" sz="89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April 30,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2944543" cy="318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5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Next Quarter Priorities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700324"/>
            <a:ext cx="2872919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Q2 2026 HR Strategic Focus Areas</a:t>
            </a:r>
            <a:endParaRPr lang="en-US" sz="1600" dirty="0"/>
          </a:p>
        </p:txBody>
      </p:sp>
      <p:pic>
        <p:nvPicPr>
          <p:cNvPr id="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1367826" y="366078"/>
            <a:ext cx="509326" cy="509326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18329" y="1114151"/>
            <a:ext cx="3748324" cy="2363593"/>
          </a:xfrm>
          <a:custGeom>
            <a:avLst/>
            <a:gdLst/>
            <a:ahLst/>
            <a:cxnLst/>
            <a:rect l="l" t="t" r="r" b="b"/>
            <a:pathLst>
              <a:path w="3748324" h="2363593">
                <a:moveTo>
                  <a:pt x="63675" y="0"/>
                </a:moveTo>
                <a:lnTo>
                  <a:pt x="3684649" y="0"/>
                </a:lnTo>
                <a:cubicBezTo>
                  <a:pt x="3719815" y="0"/>
                  <a:pt x="3748324" y="28508"/>
                  <a:pt x="3748324" y="63675"/>
                </a:cubicBezTo>
                <a:lnTo>
                  <a:pt x="3748324" y="2299918"/>
                </a:lnTo>
                <a:cubicBezTo>
                  <a:pt x="3748324" y="2335084"/>
                  <a:pt x="3719815" y="2363593"/>
                  <a:pt x="3684649" y="2363593"/>
                </a:cubicBezTo>
                <a:lnTo>
                  <a:pt x="63675" y="2363593"/>
                </a:lnTo>
                <a:cubicBezTo>
                  <a:pt x="28508" y="2363593"/>
                  <a:pt x="0" y="2335084"/>
                  <a:pt x="0" y="2299918"/>
                </a:cubicBezTo>
                <a:lnTo>
                  <a:pt x="0" y="63675"/>
                </a:lnTo>
                <a:cubicBezTo>
                  <a:pt x="0" y="28532"/>
                  <a:pt x="28532" y="0"/>
                  <a:pt x="63675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6" name="Shape 3"/>
          <p:cNvSpPr/>
          <p:nvPr/>
        </p:nvSpPr>
        <p:spPr>
          <a:xfrm>
            <a:off x="477493" y="1273316"/>
            <a:ext cx="381995" cy="381995"/>
          </a:xfrm>
          <a:custGeom>
            <a:avLst/>
            <a:gdLst/>
            <a:ahLst/>
            <a:cxnLst/>
            <a:rect l="l" t="t" r="r" b="b"/>
            <a:pathLst>
              <a:path w="381995" h="381995">
                <a:moveTo>
                  <a:pt x="190997" y="0"/>
                </a:moveTo>
                <a:lnTo>
                  <a:pt x="190997" y="0"/>
                </a:lnTo>
                <a:cubicBezTo>
                  <a:pt x="296412" y="0"/>
                  <a:pt x="381995" y="85583"/>
                  <a:pt x="381995" y="190997"/>
                </a:cubicBezTo>
                <a:lnTo>
                  <a:pt x="381995" y="190997"/>
                </a:lnTo>
                <a:cubicBezTo>
                  <a:pt x="381995" y="296412"/>
                  <a:pt x="296412" y="381995"/>
                  <a:pt x="190997" y="381995"/>
                </a:cubicBezTo>
                <a:lnTo>
                  <a:pt x="190997" y="381995"/>
                </a:lnTo>
                <a:cubicBezTo>
                  <a:pt x="85583" y="381995"/>
                  <a:pt x="0" y="296412"/>
                  <a:pt x="0" y="190997"/>
                </a:cubicBezTo>
                <a:lnTo>
                  <a:pt x="0" y="190997"/>
                </a:lnTo>
                <a:cubicBezTo>
                  <a:pt x="0" y="85583"/>
                  <a:pt x="85583" y="0"/>
                  <a:pt x="1909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29744" y="1273316"/>
            <a:ext cx="477493" cy="381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4987" y="1352898"/>
            <a:ext cx="2164637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 Q1 Carryover Hiring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7493" y="1782642"/>
            <a:ext cx="3493661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Fill 3 remaining Q1 roles plus 6 new Q2 approved positions: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1264" y="2100971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680428" y="2069138"/>
            <a:ext cx="1352898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Principal Engineer (priority)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1264" y="232380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680428" y="2291969"/>
            <a:ext cx="1034569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Enterprise AE + CSM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1264" y="254663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2"/>
          <p:cNvSpPr/>
          <p:nvPr/>
        </p:nvSpPr>
        <p:spPr>
          <a:xfrm>
            <a:off x="680428" y="2514799"/>
            <a:ext cx="1169859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 Engineering (Q2 plan)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21264" y="276946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680428" y="2737629"/>
            <a:ext cx="1145984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 Sales + 1 CS (Q2 plan)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7493" y="3028104"/>
            <a:ext cx="3429995" cy="7958"/>
          </a:xfrm>
          <a:custGeom>
            <a:avLst/>
            <a:gdLst/>
            <a:ahLst/>
            <a:cxnLst/>
            <a:rect l="l" t="t" r="r" b="b"/>
            <a:pathLst>
              <a:path w="3429995" h="7958">
                <a:moveTo>
                  <a:pt x="0" y="0"/>
                </a:moveTo>
                <a:lnTo>
                  <a:pt x="3429995" y="0"/>
                </a:lnTo>
                <a:lnTo>
                  <a:pt x="3429995" y="7958"/>
                </a:lnTo>
                <a:lnTo>
                  <a:pt x="0" y="79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477493" y="3024125"/>
            <a:ext cx="3485702" cy="286496"/>
          </a:xfrm>
          <a:prstGeom prst="rect">
            <a:avLst/>
          </a:prstGeom>
          <a:noFill/>
        </p:spPr>
        <p:txBody>
          <a:bodyPr wrap="square" lIns="0" tIns="127332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Target: 9 hires | Budget: $1.2M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24325" y="1114151"/>
            <a:ext cx="3748324" cy="2363593"/>
          </a:xfrm>
          <a:custGeom>
            <a:avLst/>
            <a:gdLst/>
            <a:ahLst/>
            <a:cxnLst/>
            <a:rect l="l" t="t" r="r" b="b"/>
            <a:pathLst>
              <a:path w="3748324" h="2363593">
                <a:moveTo>
                  <a:pt x="63675" y="0"/>
                </a:moveTo>
                <a:lnTo>
                  <a:pt x="3684649" y="0"/>
                </a:lnTo>
                <a:cubicBezTo>
                  <a:pt x="3719815" y="0"/>
                  <a:pt x="3748324" y="28508"/>
                  <a:pt x="3748324" y="63675"/>
                </a:cubicBezTo>
                <a:lnTo>
                  <a:pt x="3748324" y="2299918"/>
                </a:lnTo>
                <a:cubicBezTo>
                  <a:pt x="3748324" y="2335084"/>
                  <a:pt x="3719815" y="2363593"/>
                  <a:pt x="3684649" y="2363593"/>
                </a:cubicBezTo>
                <a:lnTo>
                  <a:pt x="63675" y="2363593"/>
                </a:lnTo>
                <a:cubicBezTo>
                  <a:pt x="28508" y="2363593"/>
                  <a:pt x="0" y="2335084"/>
                  <a:pt x="0" y="2299918"/>
                </a:cubicBezTo>
                <a:lnTo>
                  <a:pt x="0" y="63675"/>
                </a:lnTo>
                <a:cubicBezTo>
                  <a:pt x="0" y="28532"/>
                  <a:pt x="28532" y="0"/>
                  <a:pt x="63675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21" name="Shape 18"/>
          <p:cNvSpPr/>
          <p:nvPr/>
        </p:nvSpPr>
        <p:spPr>
          <a:xfrm>
            <a:off x="4383490" y="1273316"/>
            <a:ext cx="381995" cy="381995"/>
          </a:xfrm>
          <a:custGeom>
            <a:avLst/>
            <a:gdLst/>
            <a:ahLst/>
            <a:cxnLst/>
            <a:rect l="l" t="t" r="r" b="b"/>
            <a:pathLst>
              <a:path w="381995" h="381995">
                <a:moveTo>
                  <a:pt x="190997" y="0"/>
                </a:moveTo>
                <a:lnTo>
                  <a:pt x="190997" y="0"/>
                </a:lnTo>
                <a:cubicBezTo>
                  <a:pt x="296412" y="0"/>
                  <a:pt x="381995" y="85583"/>
                  <a:pt x="381995" y="190997"/>
                </a:cubicBezTo>
                <a:lnTo>
                  <a:pt x="381995" y="190997"/>
                </a:lnTo>
                <a:cubicBezTo>
                  <a:pt x="381995" y="296412"/>
                  <a:pt x="296412" y="381995"/>
                  <a:pt x="190997" y="381995"/>
                </a:cubicBezTo>
                <a:lnTo>
                  <a:pt x="190997" y="381995"/>
                </a:lnTo>
                <a:cubicBezTo>
                  <a:pt x="85583" y="381995"/>
                  <a:pt x="0" y="296412"/>
                  <a:pt x="0" y="190997"/>
                </a:cubicBezTo>
                <a:lnTo>
                  <a:pt x="0" y="190997"/>
                </a:lnTo>
                <a:cubicBezTo>
                  <a:pt x="0" y="85583"/>
                  <a:pt x="85583" y="0"/>
                  <a:pt x="1909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4335740" y="1273316"/>
            <a:ext cx="477493" cy="381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60983" y="1352898"/>
            <a:ext cx="1854266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Bandwidth Risks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383490" y="1782642"/>
            <a:ext cx="3493661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immediate actions to reduce team pressure: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27260" y="2100971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3"/>
          <p:cNvSpPr/>
          <p:nvPr/>
        </p:nvSpPr>
        <p:spPr>
          <a:xfrm>
            <a:off x="4586424" y="2069138"/>
            <a:ext cx="1527979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Hire Engineering Manager (Q2)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27260" y="232380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5"/>
          <p:cNvSpPr/>
          <p:nvPr/>
        </p:nvSpPr>
        <p:spPr>
          <a:xfrm>
            <a:off x="4586424" y="2291969"/>
            <a:ext cx="1734893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Review project scope with Product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27260" y="254663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7"/>
          <p:cNvSpPr/>
          <p:nvPr/>
        </p:nvSpPr>
        <p:spPr>
          <a:xfrm>
            <a:off x="4586424" y="2514799"/>
            <a:ext cx="1472272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workload tracking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27260" y="276946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29"/>
          <p:cNvSpPr/>
          <p:nvPr/>
        </p:nvSpPr>
        <p:spPr>
          <a:xfrm>
            <a:off x="4586424" y="2737629"/>
            <a:ext cx="1448397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Manager 1:1 focus on burnout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383490" y="3028104"/>
            <a:ext cx="3429995" cy="7958"/>
          </a:xfrm>
          <a:custGeom>
            <a:avLst/>
            <a:gdLst/>
            <a:ahLst/>
            <a:cxnLst/>
            <a:rect l="l" t="t" r="r" b="b"/>
            <a:pathLst>
              <a:path w="3429995" h="7958">
                <a:moveTo>
                  <a:pt x="0" y="0"/>
                </a:moveTo>
                <a:lnTo>
                  <a:pt x="3429995" y="0"/>
                </a:lnTo>
                <a:lnTo>
                  <a:pt x="3429995" y="7958"/>
                </a:lnTo>
                <a:lnTo>
                  <a:pt x="0" y="79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4383490" y="3024125"/>
            <a:ext cx="3485702" cy="286496"/>
          </a:xfrm>
          <a:prstGeom prst="rect">
            <a:avLst/>
          </a:prstGeom>
          <a:noFill/>
        </p:spPr>
        <p:txBody>
          <a:bodyPr wrap="square" lIns="0" tIns="127332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Owner: VP People + VP Eng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130321" y="1114151"/>
            <a:ext cx="3748324" cy="2363593"/>
          </a:xfrm>
          <a:custGeom>
            <a:avLst/>
            <a:gdLst/>
            <a:ahLst/>
            <a:cxnLst/>
            <a:rect l="l" t="t" r="r" b="b"/>
            <a:pathLst>
              <a:path w="3748324" h="2363593">
                <a:moveTo>
                  <a:pt x="63675" y="0"/>
                </a:moveTo>
                <a:lnTo>
                  <a:pt x="3684649" y="0"/>
                </a:lnTo>
                <a:cubicBezTo>
                  <a:pt x="3719815" y="0"/>
                  <a:pt x="3748324" y="28508"/>
                  <a:pt x="3748324" y="63675"/>
                </a:cubicBezTo>
                <a:lnTo>
                  <a:pt x="3748324" y="2299918"/>
                </a:lnTo>
                <a:cubicBezTo>
                  <a:pt x="3748324" y="2335084"/>
                  <a:pt x="3719815" y="2363593"/>
                  <a:pt x="3684649" y="2363593"/>
                </a:cubicBezTo>
                <a:lnTo>
                  <a:pt x="63675" y="2363593"/>
                </a:lnTo>
                <a:cubicBezTo>
                  <a:pt x="28508" y="2363593"/>
                  <a:pt x="0" y="2335084"/>
                  <a:pt x="0" y="2299918"/>
                </a:cubicBezTo>
                <a:lnTo>
                  <a:pt x="0" y="63675"/>
                </a:lnTo>
                <a:cubicBezTo>
                  <a:pt x="0" y="28532"/>
                  <a:pt x="28532" y="0"/>
                  <a:pt x="63675" y="0"/>
                </a:cubicBezTo>
                <a:close/>
              </a:path>
            </a:pathLst>
          </a:custGeom>
          <a:solidFill>
            <a:srgbClr val="4A7C94"/>
          </a:solidFill>
        </p:spPr>
      </p:sp>
      <p:sp>
        <p:nvSpPr>
          <p:cNvPr id="36" name="Shape 33"/>
          <p:cNvSpPr/>
          <p:nvPr/>
        </p:nvSpPr>
        <p:spPr>
          <a:xfrm>
            <a:off x="8289486" y="1273316"/>
            <a:ext cx="381995" cy="381995"/>
          </a:xfrm>
          <a:custGeom>
            <a:avLst/>
            <a:gdLst/>
            <a:ahLst/>
            <a:cxnLst/>
            <a:rect l="l" t="t" r="r" b="b"/>
            <a:pathLst>
              <a:path w="381995" h="381995">
                <a:moveTo>
                  <a:pt x="190997" y="0"/>
                </a:moveTo>
                <a:lnTo>
                  <a:pt x="190997" y="0"/>
                </a:lnTo>
                <a:cubicBezTo>
                  <a:pt x="296412" y="0"/>
                  <a:pt x="381995" y="85583"/>
                  <a:pt x="381995" y="190997"/>
                </a:cubicBezTo>
                <a:lnTo>
                  <a:pt x="381995" y="190997"/>
                </a:lnTo>
                <a:cubicBezTo>
                  <a:pt x="381995" y="296412"/>
                  <a:pt x="296412" y="381995"/>
                  <a:pt x="190997" y="381995"/>
                </a:cubicBezTo>
                <a:lnTo>
                  <a:pt x="190997" y="381995"/>
                </a:lnTo>
                <a:cubicBezTo>
                  <a:pt x="85583" y="381995"/>
                  <a:pt x="0" y="296412"/>
                  <a:pt x="0" y="190997"/>
                </a:cubicBezTo>
                <a:lnTo>
                  <a:pt x="0" y="190997"/>
                </a:lnTo>
                <a:cubicBezTo>
                  <a:pt x="0" y="85583"/>
                  <a:pt x="85583" y="0"/>
                  <a:pt x="19099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8241736" y="1273316"/>
            <a:ext cx="477493" cy="381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766979" y="1352898"/>
            <a:ext cx="2284010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Launch Development Programs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289486" y="1782642"/>
            <a:ext cx="3493661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Activate talent development initiatives: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333256" y="2100971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8"/>
          <p:cNvSpPr/>
          <p:nvPr/>
        </p:nvSpPr>
        <p:spPr>
          <a:xfrm>
            <a:off x="8492420" y="2069138"/>
            <a:ext cx="1734893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High-potential development tracks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33256" y="232380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0"/>
          <p:cNvSpPr/>
          <p:nvPr/>
        </p:nvSpPr>
        <p:spPr>
          <a:xfrm>
            <a:off x="8492420" y="2291969"/>
            <a:ext cx="1527979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Technical mentorship program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333256" y="254663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Text 42"/>
          <p:cNvSpPr/>
          <p:nvPr/>
        </p:nvSpPr>
        <p:spPr>
          <a:xfrm>
            <a:off x="8492420" y="2514799"/>
            <a:ext cx="1400648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Leadership training (Level 2)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33256" y="2769462"/>
            <a:ext cx="55708" cy="111415"/>
          </a:xfrm>
          <a:custGeom>
            <a:avLst/>
            <a:gdLst/>
            <a:ahLst/>
            <a:cxnLst/>
            <a:rect l="l" t="t" r="r" b="b"/>
            <a:pathLst>
              <a:path w="55708" h="111415">
                <a:moveTo>
                  <a:pt x="7072" y="20890"/>
                </a:moveTo>
                <a:cubicBezTo>
                  <a:pt x="7072" y="18083"/>
                  <a:pt x="8770" y="15537"/>
                  <a:pt x="11381" y="14449"/>
                </a:cubicBezTo>
                <a:cubicBezTo>
                  <a:pt x="13992" y="13361"/>
                  <a:pt x="16973" y="13970"/>
                  <a:pt x="18954" y="15972"/>
                </a:cubicBezTo>
                <a:lnTo>
                  <a:pt x="53771" y="50790"/>
                </a:lnTo>
                <a:cubicBezTo>
                  <a:pt x="56491" y="53510"/>
                  <a:pt x="56491" y="57927"/>
                  <a:pt x="53771" y="60647"/>
                </a:cubicBezTo>
                <a:lnTo>
                  <a:pt x="18954" y="95464"/>
                </a:lnTo>
                <a:cubicBezTo>
                  <a:pt x="16952" y="97466"/>
                  <a:pt x="13970" y="98054"/>
                  <a:pt x="11359" y="96966"/>
                </a:cubicBezTo>
                <a:cubicBezTo>
                  <a:pt x="8748" y="95878"/>
                  <a:pt x="7072" y="93332"/>
                  <a:pt x="7072" y="90525"/>
                </a:cubicBezTo>
                <a:lnTo>
                  <a:pt x="7072" y="208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4"/>
          <p:cNvSpPr/>
          <p:nvPr/>
        </p:nvSpPr>
        <p:spPr>
          <a:xfrm>
            <a:off x="8492420" y="2737629"/>
            <a:ext cx="1583687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pathway documentation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289486" y="3028104"/>
            <a:ext cx="3429995" cy="7958"/>
          </a:xfrm>
          <a:custGeom>
            <a:avLst/>
            <a:gdLst/>
            <a:ahLst/>
            <a:cxnLst/>
            <a:rect l="l" t="t" r="r" b="b"/>
            <a:pathLst>
              <a:path w="3429995" h="7958">
                <a:moveTo>
                  <a:pt x="0" y="0"/>
                </a:moveTo>
                <a:lnTo>
                  <a:pt x="3429995" y="0"/>
                </a:lnTo>
                <a:lnTo>
                  <a:pt x="3429995" y="7958"/>
                </a:lnTo>
                <a:lnTo>
                  <a:pt x="0" y="79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</p:spPr>
      </p:sp>
      <p:sp>
        <p:nvSpPr>
          <p:cNvPr id="49" name="Text 46"/>
          <p:cNvSpPr/>
          <p:nvPr/>
        </p:nvSpPr>
        <p:spPr>
          <a:xfrm>
            <a:off x="8289486" y="3024125"/>
            <a:ext cx="3485702" cy="286496"/>
          </a:xfrm>
          <a:prstGeom prst="rect">
            <a:avLst/>
          </a:prstGeom>
          <a:noFill/>
        </p:spPr>
        <p:txBody>
          <a:bodyPr wrap="square" lIns="0" tIns="127332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Owner: HRBP + functional VPs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34245" y="3668742"/>
            <a:ext cx="5682172" cy="1591645"/>
          </a:xfrm>
          <a:custGeom>
            <a:avLst/>
            <a:gdLst/>
            <a:ahLst/>
            <a:cxnLst/>
            <a:rect l="l" t="t" r="r" b="b"/>
            <a:pathLst>
              <a:path w="5682172" h="1591645">
                <a:moveTo>
                  <a:pt x="31833" y="0"/>
                </a:moveTo>
                <a:lnTo>
                  <a:pt x="5618507" y="0"/>
                </a:lnTo>
                <a:cubicBezTo>
                  <a:pt x="5653668" y="0"/>
                  <a:pt x="5682172" y="28504"/>
                  <a:pt x="5682172" y="63666"/>
                </a:cubicBezTo>
                <a:lnTo>
                  <a:pt x="5682172" y="1527979"/>
                </a:lnTo>
                <a:cubicBezTo>
                  <a:pt x="5682172" y="1563141"/>
                  <a:pt x="5653668" y="1591645"/>
                  <a:pt x="5618507" y="1591645"/>
                </a:cubicBezTo>
                <a:lnTo>
                  <a:pt x="31833" y="1591645"/>
                </a:lnTo>
                <a:cubicBezTo>
                  <a:pt x="14252" y="1591645"/>
                  <a:pt x="0" y="1577393"/>
                  <a:pt x="0" y="155981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51" name="Shape 48"/>
          <p:cNvSpPr/>
          <p:nvPr/>
        </p:nvSpPr>
        <p:spPr>
          <a:xfrm>
            <a:off x="334245" y="3668742"/>
            <a:ext cx="31833" cy="1591645"/>
          </a:xfrm>
          <a:custGeom>
            <a:avLst/>
            <a:gdLst/>
            <a:ahLst/>
            <a:cxnLst/>
            <a:rect l="l" t="t" r="r" b="b"/>
            <a:pathLst>
              <a:path w="31833" h="1591645">
                <a:moveTo>
                  <a:pt x="31833" y="0"/>
                </a:moveTo>
                <a:lnTo>
                  <a:pt x="31833" y="0"/>
                </a:lnTo>
                <a:lnTo>
                  <a:pt x="31833" y="1591645"/>
                </a:lnTo>
                <a:lnTo>
                  <a:pt x="31833" y="1591645"/>
                </a:lnTo>
                <a:cubicBezTo>
                  <a:pt x="14252" y="1591645"/>
                  <a:pt x="0" y="1577393"/>
                  <a:pt x="0" y="155981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2" name="Shape 49"/>
          <p:cNvSpPr/>
          <p:nvPr/>
        </p:nvSpPr>
        <p:spPr>
          <a:xfrm>
            <a:off x="529222" y="3867697"/>
            <a:ext cx="143248" cy="143248"/>
          </a:xfrm>
          <a:custGeom>
            <a:avLst/>
            <a:gdLst/>
            <a:ahLst/>
            <a:cxnLst/>
            <a:rect l="l" t="t" r="r" b="b"/>
            <a:pathLst>
              <a:path w="143248" h="143248">
                <a:moveTo>
                  <a:pt x="37435" y="10156"/>
                </a:moveTo>
                <a:cubicBezTo>
                  <a:pt x="40484" y="12282"/>
                  <a:pt x="41212" y="16479"/>
                  <a:pt x="39085" y="19501"/>
                </a:cubicBezTo>
                <a:lnTo>
                  <a:pt x="23418" y="41883"/>
                </a:lnTo>
                <a:cubicBezTo>
                  <a:pt x="22271" y="43506"/>
                  <a:pt x="20480" y="44541"/>
                  <a:pt x="18494" y="44709"/>
                </a:cubicBezTo>
                <a:cubicBezTo>
                  <a:pt x="16507" y="44877"/>
                  <a:pt x="14549" y="44205"/>
                  <a:pt x="13150" y="42807"/>
                </a:cubicBezTo>
                <a:lnTo>
                  <a:pt x="1958" y="31615"/>
                </a:lnTo>
                <a:cubicBezTo>
                  <a:pt x="-643" y="28985"/>
                  <a:pt x="-643" y="24733"/>
                  <a:pt x="1958" y="22103"/>
                </a:cubicBezTo>
                <a:cubicBezTo>
                  <a:pt x="4560" y="19473"/>
                  <a:pt x="8841" y="19501"/>
                  <a:pt x="11471" y="22103"/>
                </a:cubicBezTo>
                <a:lnTo>
                  <a:pt x="17011" y="27642"/>
                </a:lnTo>
                <a:lnTo>
                  <a:pt x="28090" y="11807"/>
                </a:lnTo>
                <a:cubicBezTo>
                  <a:pt x="30216" y="8757"/>
                  <a:pt x="34413" y="8030"/>
                  <a:pt x="37435" y="10156"/>
                </a:cubicBezTo>
                <a:close/>
                <a:moveTo>
                  <a:pt x="37435" y="54921"/>
                </a:moveTo>
                <a:cubicBezTo>
                  <a:pt x="40484" y="57047"/>
                  <a:pt x="41212" y="61244"/>
                  <a:pt x="39085" y="64266"/>
                </a:cubicBezTo>
                <a:lnTo>
                  <a:pt x="23418" y="86648"/>
                </a:lnTo>
                <a:cubicBezTo>
                  <a:pt x="22271" y="88271"/>
                  <a:pt x="20480" y="89306"/>
                  <a:pt x="18494" y="89474"/>
                </a:cubicBezTo>
                <a:cubicBezTo>
                  <a:pt x="16507" y="89642"/>
                  <a:pt x="14549" y="88970"/>
                  <a:pt x="13150" y="87572"/>
                </a:cubicBezTo>
                <a:lnTo>
                  <a:pt x="1958" y="76380"/>
                </a:lnTo>
                <a:cubicBezTo>
                  <a:pt x="-671" y="73750"/>
                  <a:pt x="-671" y="69498"/>
                  <a:pt x="1958" y="66896"/>
                </a:cubicBezTo>
                <a:cubicBezTo>
                  <a:pt x="4588" y="64294"/>
                  <a:pt x="8841" y="64266"/>
                  <a:pt x="11443" y="66896"/>
                </a:cubicBezTo>
                <a:lnTo>
                  <a:pt x="16983" y="72435"/>
                </a:lnTo>
                <a:lnTo>
                  <a:pt x="28062" y="56600"/>
                </a:lnTo>
                <a:cubicBezTo>
                  <a:pt x="30188" y="53550"/>
                  <a:pt x="34385" y="52823"/>
                  <a:pt x="37407" y="54949"/>
                </a:cubicBezTo>
                <a:close/>
                <a:moveTo>
                  <a:pt x="62671" y="26859"/>
                </a:moveTo>
                <a:cubicBezTo>
                  <a:pt x="62671" y="21907"/>
                  <a:pt x="66672" y="17906"/>
                  <a:pt x="71624" y="17906"/>
                </a:cubicBezTo>
                <a:lnTo>
                  <a:pt x="134295" y="17906"/>
                </a:lnTo>
                <a:cubicBezTo>
                  <a:pt x="139247" y="17906"/>
                  <a:pt x="143248" y="21907"/>
                  <a:pt x="143248" y="26859"/>
                </a:cubicBezTo>
                <a:cubicBezTo>
                  <a:pt x="143248" y="31811"/>
                  <a:pt x="139247" y="35812"/>
                  <a:pt x="134295" y="35812"/>
                </a:cubicBezTo>
                <a:lnTo>
                  <a:pt x="71624" y="35812"/>
                </a:lnTo>
                <a:cubicBezTo>
                  <a:pt x="66672" y="35812"/>
                  <a:pt x="62671" y="31811"/>
                  <a:pt x="62671" y="26859"/>
                </a:cubicBezTo>
                <a:close/>
                <a:moveTo>
                  <a:pt x="62671" y="71624"/>
                </a:moveTo>
                <a:cubicBezTo>
                  <a:pt x="62671" y="66672"/>
                  <a:pt x="66672" y="62671"/>
                  <a:pt x="71624" y="62671"/>
                </a:cubicBezTo>
                <a:lnTo>
                  <a:pt x="134295" y="62671"/>
                </a:lnTo>
                <a:cubicBezTo>
                  <a:pt x="139247" y="62671"/>
                  <a:pt x="143248" y="66672"/>
                  <a:pt x="143248" y="71624"/>
                </a:cubicBezTo>
                <a:cubicBezTo>
                  <a:pt x="143248" y="76576"/>
                  <a:pt x="139247" y="80577"/>
                  <a:pt x="134295" y="80577"/>
                </a:cubicBezTo>
                <a:lnTo>
                  <a:pt x="71624" y="80577"/>
                </a:lnTo>
                <a:cubicBezTo>
                  <a:pt x="66672" y="80577"/>
                  <a:pt x="62671" y="76576"/>
                  <a:pt x="62671" y="71624"/>
                </a:cubicBezTo>
                <a:close/>
                <a:moveTo>
                  <a:pt x="44765" y="116389"/>
                </a:moveTo>
                <a:cubicBezTo>
                  <a:pt x="44765" y="111437"/>
                  <a:pt x="48766" y="107436"/>
                  <a:pt x="53718" y="107436"/>
                </a:cubicBezTo>
                <a:lnTo>
                  <a:pt x="134295" y="107436"/>
                </a:lnTo>
                <a:cubicBezTo>
                  <a:pt x="139247" y="107436"/>
                  <a:pt x="143248" y="111437"/>
                  <a:pt x="143248" y="116389"/>
                </a:cubicBezTo>
                <a:cubicBezTo>
                  <a:pt x="143248" y="121341"/>
                  <a:pt x="139247" y="125342"/>
                  <a:pt x="134295" y="125342"/>
                </a:cubicBezTo>
                <a:lnTo>
                  <a:pt x="53718" y="125342"/>
                </a:lnTo>
                <a:cubicBezTo>
                  <a:pt x="48766" y="125342"/>
                  <a:pt x="44765" y="121341"/>
                  <a:pt x="44765" y="116389"/>
                </a:cubicBezTo>
                <a:close/>
                <a:moveTo>
                  <a:pt x="17906" y="105198"/>
                </a:moveTo>
                <a:cubicBezTo>
                  <a:pt x="24083" y="105198"/>
                  <a:pt x="29097" y="110212"/>
                  <a:pt x="29097" y="116389"/>
                </a:cubicBezTo>
                <a:cubicBezTo>
                  <a:pt x="29097" y="122566"/>
                  <a:pt x="24083" y="127580"/>
                  <a:pt x="17906" y="127580"/>
                </a:cubicBezTo>
                <a:cubicBezTo>
                  <a:pt x="11729" y="127580"/>
                  <a:pt x="6715" y="122566"/>
                  <a:pt x="6715" y="116389"/>
                </a:cubicBezTo>
                <a:cubicBezTo>
                  <a:pt x="6715" y="110212"/>
                  <a:pt x="11729" y="105198"/>
                  <a:pt x="17906" y="105198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53" name="Text 50"/>
          <p:cNvSpPr/>
          <p:nvPr/>
        </p:nvSpPr>
        <p:spPr>
          <a:xfrm>
            <a:off x="692366" y="3827906"/>
            <a:ext cx="5236512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Additional Q2 Initiatives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509326" y="4146235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40513" y="4146235"/>
            <a:ext cx="362099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Compensation Review:</a:t>
            </a: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Market analysis for Engineering and Sales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509326" y="4400898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40513" y="4400898"/>
            <a:ext cx="2888836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Benefits Enhancement:</a:t>
            </a: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Parental leave policy update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509326" y="4655561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0513" y="4655561"/>
            <a:ext cx="3254914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Engagement Survey:</a:t>
            </a: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Comprehensive annual survey (April)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509326" y="4910225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5CB8A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40513" y="4910225"/>
            <a:ext cx="2785379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HRIS Upgrade:</a:t>
            </a: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Evaluate new platform capabilities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193240" y="3668742"/>
            <a:ext cx="5682172" cy="1591645"/>
          </a:xfrm>
          <a:custGeom>
            <a:avLst/>
            <a:gdLst/>
            <a:ahLst/>
            <a:cxnLst/>
            <a:rect l="l" t="t" r="r" b="b"/>
            <a:pathLst>
              <a:path w="5682172" h="1591645">
                <a:moveTo>
                  <a:pt x="31833" y="0"/>
                </a:moveTo>
                <a:lnTo>
                  <a:pt x="5618507" y="0"/>
                </a:lnTo>
                <a:cubicBezTo>
                  <a:pt x="5653668" y="0"/>
                  <a:pt x="5682172" y="28504"/>
                  <a:pt x="5682172" y="63666"/>
                </a:cubicBezTo>
                <a:lnTo>
                  <a:pt x="5682172" y="1527979"/>
                </a:lnTo>
                <a:cubicBezTo>
                  <a:pt x="5682172" y="1563141"/>
                  <a:pt x="5653668" y="1591645"/>
                  <a:pt x="5618507" y="1591645"/>
                </a:cubicBezTo>
                <a:lnTo>
                  <a:pt x="31833" y="1591645"/>
                </a:lnTo>
                <a:cubicBezTo>
                  <a:pt x="14252" y="1591645"/>
                  <a:pt x="0" y="1577393"/>
                  <a:pt x="0" y="155981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F8F9FA"/>
          </a:solidFill>
        </p:spPr>
      </p:sp>
      <p:sp>
        <p:nvSpPr>
          <p:cNvPr id="63" name="Shape 60"/>
          <p:cNvSpPr/>
          <p:nvPr/>
        </p:nvSpPr>
        <p:spPr>
          <a:xfrm>
            <a:off x="6193240" y="3668742"/>
            <a:ext cx="31833" cy="1591645"/>
          </a:xfrm>
          <a:custGeom>
            <a:avLst/>
            <a:gdLst/>
            <a:ahLst/>
            <a:cxnLst/>
            <a:rect l="l" t="t" r="r" b="b"/>
            <a:pathLst>
              <a:path w="31833" h="1591645">
                <a:moveTo>
                  <a:pt x="31833" y="0"/>
                </a:moveTo>
                <a:lnTo>
                  <a:pt x="31833" y="0"/>
                </a:lnTo>
                <a:lnTo>
                  <a:pt x="31833" y="1591645"/>
                </a:lnTo>
                <a:lnTo>
                  <a:pt x="31833" y="1591645"/>
                </a:lnTo>
                <a:cubicBezTo>
                  <a:pt x="14252" y="1591645"/>
                  <a:pt x="0" y="1577393"/>
                  <a:pt x="0" y="1559812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5CB8A6"/>
          </a:solidFill>
        </p:spPr>
      </p:sp>
      <p:sp>
        <p:nvSpPr>
          <p:cNvPr id="64" name="Shape 61"/>
          <p:cNvSpPr/>
          <p:nvPr/>
        </p:nvSpPr>
        <p:spPr>
          <a:xfrm>
            <a:off x="6388216" y="3867697"/>
            <a:ext cx="143248" cy="143248"/>
          </a:xfrm>
          <a:custGeom>
            <a:avLst/>
            <a:gdLst/>
            <a:ahLst/>
            <a:cxnLst/>
            <a:rect l="l" t="t" r="r" b="b"/>
            <a:pathLst>
              <a:path w="143248" h="143248">
                <a:moveTo>
                  <a:pt x="17906" y="17906"/>
                </a:moveTo>
                <a:cubicBezTo>
                  <a:pt x="17906" y="12954"/>
                  <a:pt x="13905" y="8953"/>
                  <a:pt x="8953" y="8953"/>
                </a:cubicBezTo>
                <a:cubicBezTo>
                  <a:pt x="4001" y="8953"/>
                  <a:pt x="0" y="12954"/>
                  <a:pt x="0" y="17906"/>
                </a:cubicBezTo>
                <a:lnTo>
                  <a:pt x="0" y="111913"/>
                </a:lnTo>
                <a:cubicBezTo>
                  <a:pt x="0" y="124279"/>
                  <a:pt x="10016" y="134295"/>
                  <a:pt x="22383" y="134295"/>
                </a:cubicBezTo>
                <a:lnTo>
                  <a:pt x="134295" y="134295"/>
                </a:lnTo>
                <a:cubicBezTo>
                  <a:pt x="139247" y="134295"/>
                  <a:pt x="143248" y="130294"/>
                  <a:pt x="143248" y="125342"/>
                </a:cubicBezTo>
                <a:cubicBezTo>
                  <a:pt x="143248" y="120390"/>
                  <a:pt x="139247" y="116389"/>
                  <a:pt x="134295" y="116389"/>
                </a:cubicBezTo>
                <a:lnTo>
                  <a:pt x="22383" y="116389"/>
                </a:lnTo>
                <a:cubicBezTo>
                  <a:pt x="19920" y="116389"/>
                  <a:pt x="17906" y="114375"/>
                  <a:pt x="17906" y="111913"/>
                </a:cubicBezTo>
                <a:lnTo>
                  <a:pt x="17906" y="17906"/>
                </a:lnTo>
                <a:close/>
                <a:moveTo>
                  <a:pt x="131665" y="42135"/>
                </a:moveTo>
                <a:cubicBezTo>
                  <a:pt x="135162" y="38638"/>
                  <a:pt x="135162" y="32958"/>
                  <a:pt x="131665" y="29461"/>
                </a:cubicBezTo>
                <a:cubicBezTo>
                  <a:pt x="128168" y="25964"/>
                  <a:pt x="122488" y="25964"/>
                  <a:pt x="118991" y="29461"/>
                </a:cubicBezTo>
                <a:lnTo>
                  <a:pt x="89530" y="58950"/>
                </a:lnTo>
                <a:lnTo>
                  <a:pt x="73471" y="42918"/>
                </a:lnTo>
                <a:cubicBezTo>
                  <a:pt x="69973" y="39421"/>
                  <a:pt x="64294" y="39421"/>
                  <a:pt x="60796" y="42918"/>
                </a:cubicBezTo>
                <a:lnTo>
                  <a:pt x="33937" y="69777"/>
                </a:lnTo>
                <a:cubicBezTo>
                  <a:pt x="30440" y="73275"/>
                  <a:pt x="30440" y="78954"/>
                  <a:pt x="33937" y="82452"/>
                </a:cubicBezTo>
                <a:cubicBezTo>
                  <a:pt x="37435" y="85949"/>
                  <a:pt x="43114" y="85949"/>
                  <a:pt x="46612" y="82452"/>
                </a:cubicBezTo>
                <a:lnTo>
                  <a:pt x="67148" y="61916"/>
                </a:lnTo>
                <a:lnTo>
                  <a:pt x="83207" y="77975"/>
                </a:lnTo>
                <a:cubicBezTo>
                  <a:pt x="86704" y="81472"/>
                  <a:pt x="92384" y="81472"/>
                  <a:pt x="95881" y="77975"/>
                </a:cubicBezTo>
                <a:lnTo>
                  <a:pt x="131693" y="42163"/>
                </a:lnTo>
                <a:close/>
              </a:path>
            </a:pathLst>
          </a:custGeom>
          <a:solidFill>
            <a:srgbClr val="5CB8A6"/>
          </a:solidFill>
        </p:spPr>
      </p:sp>
      <p:sp>
        <p:nvSpPr>
          <p:cNvPr id="65" name="Text 62"/>
          <p:cNvSpPr/>
          <p:nvPr/>
        </p:nvSpPr>
        <p:spPr>
          <a:xfrm>
            <a:off x="6551360" y="3827906"/>
            <a:ext cx="5236512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1E3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368320" y="4146235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6499507" y="4146235"/>
            <a:ext cx="178264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Hiring: 9 of 9 roles filled (100%)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6368320" y="4400898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6499507" y="4400898"/>
            <a:ext cx="1384731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Attrition: Maintain &lt; 10%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6368320" y="4655561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6499507" y="4655561"/>
            <a:ext cx="2093013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Engagement: Survey response &gt; 80%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368320" y="4910225"/>
            <a:ext cx="127332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499507" y="4910225"/>
            <a:ext cx="2610298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Development: 8 high-potential plans activated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318329" y="5451384"/>
            <a:ext cx="11555342" cy="795822"/>
          </a:xfrm>
          <a:custGeom>
            <a:avLst/>
            <a:gdLst/>
            <a:ahLst/>
            <a:cxnLst/>
            <a:rect l="l" t="t" r="r" b="b"/>
            <a:pathLst>
              <a:path w="11555342" h="795822">
                <a:moveTo>
                  <a:pt x="63666" y="0"/>
                </a:moveTo>
                <a:lnTo>
                  <a:pt x="11491676" y="0"/>
                </a:lnTo>
                <a:cubicBezTo>
                  <a:pt x="11526838" y="0"/>
                  <a:pt x="11555342" y="28504"/>
                  <a:pt x="11555342" y="63666"/>
                </a:cubicBezTo>
                <a:lnTo>
                  <a:pt x="11555342" y="732157"/>
                </a:lnTo>
                <a:cubicBezTo>
                  <a:pt x="11555342" y="767318"/>
                  <a:pt x="11526838" y="795822"/>
                  <a:pt x="11491676" y="795822"/>
                </a:cubicBezTo>
                <a:lnTo>
                  <a:pt x="63666" y="795822"/>
                </a:lnTo>
                <a:cubicBezTo>
                  <a:pt x="28504" y="795822"/>
                  <a:pt x="0" y="767318"/>
                  <a:pt x="0" y="732157"/>
                </a:cubicBezTo>
                <a:lnTo>
                  <a:pt x="0" y="63666"/>
                </a:lnTo>
                <a:cubicBezTo>
                  <a:pt x="0" y="28504"/>
                  <a:pt x="28504" y="0"/>
                  <a:pt x="63666" y="0"/>
                </a:cubicBezTo>
                <a:close/>
              </a:path>
            </a:pathLst>
          </a:custGeom>
          <a:solidFill>
            <a:srgbClr val="1E3A5F"/>
          </a:solidFill>
        </p:spPr>
      </p:sp>
      <p:sp>
        <p:nvSpPr>
          <p:cNvPr id="75" name="Text 72"/>
          <p:cNvSpPr/>
          <p:nvPr/>
        </p:nvSpPr>
        <p:spPr>
          <a:xfrm>
            <a:off x="477493" y="5610548"/>
            <a:ext cx="3915446" cy="222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Q2 Planning Timeline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477493" y="5897044"/>
            <a:ext cx="3899530" cy="190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April: Kickoff | May: Mid-quarter review | June: Q2 close + Q3 planning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10737261" y="5626465"/>
            <a:ext cx="978862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Next Board Review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10697470" y="5817462"/>
            <a:ext cx="1018653" cy="254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Q2 2026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318329" y="6378517"/>
            <a:ext cx="11555342" cy="7958"/>
          </a:xfrm>
          <a:custGeom>
            <a:avLst/>
            <a:gdLst/>
            <a:ahLst/>
            <a:cxnLst/>
            <a:rect l="l" t="t" r="r" b="b"/>
            <a:pathLst>
              <a:path w="11555342" h="7958">
                <a:moveTo>
                  <a:pt x="0" y="0"/>
                </a:moveTo>
                <a:lnTo>
                  <a:pt x="11555342" y="0"/>
                </a:lnTo>
                <a:lnTo>
                  <a:pt x="11555342" y="7958"/>
                </a:lnTo>
                <a:lnTo>
                  <a:pt x="0" y="795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</p:spPr>
      </p:sp>
      <p:sp>
        <p:nvSpPr>
          <p:cNvPr id="80" name="Text 77"/>
          <p:cNvSpPr/>
          <p:nvPr/>
        </p:nvSpPr>
        <p:spPr>
          <a:xfrm>
            <a:off x="318329" y="6509828"/>
            <a:ext cx="11611050" cy="15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Document Status:</a:t>
            </a: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Departmental Draft — HR Team | </a:t>
            </a:r>
            <a:r>
              <a:rPr lang="en-US" sz="87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Next Update:</a:t>
            </a: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April 30, 2026 | </a:t>
            </a:r>
            <a:r>
              <a:rPr lang="en-US" sz="875" b="1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For:</a:t>
            </a:r>
            <a:r>
              <a:rPr lang="en-US" sz="875" dirty="0">
                <a:solidFill>
                  <a:srgbClr val="4A7C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CFO Review &amp; Board Consolidation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10357</Words>
  <Application>WPS 演示</Application>
  <PresentationFormat>On-screen Show (16:9)</PresentationFormat>
  <Paragraphs>665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Quattrocento Sans</vt:lpstr>
      <vt:lpstr>Quattrocento Sans</vt:lpstr>
      <vt:lpstr>Quattrocento Sans</vt:lpstr>
      <vt:lpstr>Liter</vt:lpstr>
      <vt:lpstr>Liter</vt:lpstr>
      <vt:lpstr>Liter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AxiomShift Q1 People Operations Review</dc:title>
  <dc:creator>Kimi</dc:creator>
  <dc:subject>AxiomShift Q1 People Operations Review</dc:subject>
  <cp:lastModifiedBy>王研</cp:lastModifiedBy>
  <cp:revision>2</cp:revision>
  <dcterms:created xsi:type="dcterms:W3CDTF">2026-03-22T14:29:59Z</dcterms:created>
  <dcterms:modified xsi:type="dcterms:W3CDTF">2026-03-22T14:29:59Z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{"Label":"AxiomShift Q1 People Operations Review","ContentProducer":"001191110108MACG2KBH8F10000","ProduceID":"19d15f25-9fc2-8bcc-8000-00009feac021","ReservedCode1":"","ContentPropagator":"001191110108MACG2KBH8F20000","PropagateID":"19d15f25-9fc2-8bcc-8000-00009feac021","ReservedCode2":""}</vt:lpwstr>
  </property>
  <property fmtid="{D5CDD505-2E9C-101B-9397-08002B2CF9AE}" pid="3" name="ICV">
    <vt:lpwstr>E447CEB1B5DC9B62E7FCBF697B4B8CE9_42</vt:lpwstr>
  </property>
  <property fmtid="{D5CDD505-2E9C-101B-9397-08002B2CF9AE}" pid="4" name="KSOProductBuildVer">
    <vt:lpwstr>2052-12.1.25205.25205</vt:lpwstr>
  </property>
</Properties>
</file>