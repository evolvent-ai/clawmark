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All slide copy supplied by the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Chart is an illustrative rendering of the user-provided trend; only the 2025 projection label is explicit per the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All priorities are derived directly from the user-supplied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sources. The partner logo strip is an abstract AI-generated visual created specifically for this deck and contains no real company names in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Metric values and mix are taken directly from the user-provided slide outline.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The roadmap actions are laid out directly from the user-provided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502920"/>
            <a:ext cx="1371600" cy="0"/>
          </a:xfrm>
          <a:prstGeom prst="line">
            <a:avLst/>
          </a:prstGeom>
          <a:noFill/>
          <a:ln w="31750">
            <a:solidFill>
              <a:srgbClr val="0A9C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63072" y="731520"/>
            <a:ext cx="502920" cy="5440680"/>
          </a:xfrm>
          <a:prstGeom prst="rect">
            <a:avLst/>
          </a:prstGeom>
          <a:solidFill>
            <a:srgbClr val="E9EEF4">
              <a:alpha val="82000"/>
            </a:srgbClr>
          </a:solidFill>
          <a:ln w="12700">
            <a:solidFill>
              <a:srgbClr val="E9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225296"/>
            <a:ext cx="8183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3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Ecosystem Synergy: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53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Scaling Enterprise AI in 2025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88920" y="2139696"/>
            <a:ext cx="452628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3408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3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Summit Guest Session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794760" y="2907792"/>
            <a:ext cx="1783080" cy="0"/>
          </a:xfrm>
          <a:prstGeom prst="line">
            <a:avLst/>
          </a:prstGeom>
          <a:noFill/>
          <a:ln w="12700">
            <a:solidFill>
              <a:srgbClr val="B8C7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3649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53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Alex Thompson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828800" y="366674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3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 of Strategic Partnerships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Shift to Partner-Led Growth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" y="841248"/>
            <a:ext cx="10625328" cy="0"/>
          </a:xfrm>
          <a:prstGeom prst="line">
            <a:avLst/>
          </a:prstGeom>
          <a:noFill/>
          <a:ln w="13970">
            <a:solidFill>
              <a:srgbClr val="8BA4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499616"/>
            <a:ext cx="73152" cy="73152"/>
          </a:xfrm>
          <a:prstGeom prst="rect">
            <a:avLst/>
          </a:prstGeom>
          <a:solidFill>
            <a:srgbClr val="2F6FB0"/>
          </a:solidFill>
          <a:ln w="12700">
            <a:solidFill>
              <a:srgbClr val="2F6FB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4173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adoption of co-delivery models across global regions.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231136"/>
            <a:ext cx="73152" cy="73152"/>
          </a:xfrm>
          <a:prstGeom prst="rect">
            <a:avLst/>
          </a:prstGeom>
          <a:solidFill>
            <a:srgbClr val="2F6FB0"/>
          </a:solidFill>
          <a:ln w="12700">
            <a:solidFill>
              <a:srgbClr val="2F6FB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1488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demand shifting towards integrated,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full-stack solutions.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3145536"/>
            <a:ext cx="73152" cy="73152"/>
          </a:xfrm>
          <a:prstGeom prst="rect">
            <a:avLst/>
          </a:prstGeom>
          <a:solidFill>
            <a:srgbClr val="2F6FB0"/>
          </a:solidFill>
          <a:ln w="12700">
            <a:solidFill>
              <a:srgbClr val="2F6FB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0632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Ecosystem-driven pipeline velocity increased by 42% YoY.</a:t>
            </a:r>
            <a:endParaRPr lang="en-US" sz="1800" dirty="0"/>
          </a:p>
        </p:txBody>
      </p:sp>
      <p:pic>
        <p:nvPicPr>
          <p:cNvPr id="10" name="Image 0" descr="/mnt/data/enterprise_cosell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878030"/>
            <a:ext cx="5577840" cy="31476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Pillars of Collaboration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" y="841248"/>
            <a:ext cx="10625328" cy="0"/>
          </a:xfrm>
          <a:prstGeom prst="line">
            <a:avLst/>
          </a:prstGeom>
          <a:noFill/>
          <a:ln w="13970">
            <a:solidFill>
              <a:srgbClr val="8BA4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1280160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1F4F8"/>
          </a:solidFill>
          <a:ln w="10160">
            <a:solidFill>
              <a:srgbClr val="D7DFE8">
                <a:alpha val="50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380744"/>
            <a:ext cx="841248" cy="64008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99032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1417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53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Pipeline Acceleration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965960" y="170078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strategic partnerships into repeatable deployment opportunities.</a:t>
            </a:r>
            <a:endParaRPr lang="en-US" sz="1460" dirty="0"/>
          </a:p>
        </p:txBody>
      </p:sp>
      <p:sp>
        <p:nvSpPr>
          <p:cNvPr id="9" name="Shape 7"/>
          <p:cNvSpPr/>
          <p:nvPr/>
        </p:nvSpPr>
        <p:spPr>
          <a:xfrm>
            <a:off x="841248" y="2359152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1F4F8"/>
          </a:solidFill>
          <a:ln w="10160">
            <a:solidFill>
              <a:srgbClr val="D7DFE8">
                <a:alpha val="50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2459736"/>
            <a:ext cx="841248" cy="640080"/>
          </a:xfrm>
          <a:prstGeom prst="rect">
            <a:avLst/>
          </a:prstGeom>
          <a:solidFill>
            <a:srgbClr val="0A9CAA"/>
          </a:solidFill>
          <a:ln w="12700">
            <a:solidFill>
              <a:srgbClr val="0A9CAA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2478024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24963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53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Cross-Industry Enablement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965960" y="277977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joint go-to-market motions in Finance and Healthcare.</a:t>
            </a:r>
            <a:endParaRPr lang="en-US" sz="1460" dirty="0"/>
          </a:p>
        </p:txBody>
      </p:sp>
      <p:sp>
        <p:nvSpPr>
          <p:cNvPr id="14" name="Shape 12"/>
          <p:cNvSpPr/>
          <p:nvPr/>
        </p:nvSpPr>
        <p:spPr>
          <a:xfrm>
            <a:off x="841248" y="3438144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1F4F8"/>
          </a:solidFill>
          <a:ln w="10160">
            <a:solidFill>
              <a:srgbClr val="D7DFE8">
                <a:alpha val="50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3538728"/>
            <a:ext cx="841248" cy="64008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3557016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65960" y="357530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53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Alignment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965960" y="385876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 regional teams have top-down visibility and sponsorship.</a:t>
            </a:r>
            <a:endParaRPr lang="en-US" sz="14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Enabling Next-Generation Architectures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" y="841248"/>
            <a:ext cx="10625328" cy="0"/>
          </a:xfrm>
          <a:prstGeom prst="line">
            <a:avLst/>
          </a:prstGeom>
          <a:noFill/>
          <a:ln w="13970">
            <a:solidFill>
              <a:srgbClr val="8BA4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8961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4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with our strategic technology partners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1298448"/>
            <a:ext cx="10469880" cy="0"/>
          </a:xfrm>
          <a:prstGeom prst="line">
            <a:avLst/>
          </a:prstGeom>
          <a:noFill/>
          <a:ln w="10160">
            <a:solidFill>
              <a:srgbClr val="E2E7EE"/>
            </a:solidFill>
            <a:prstDash val="solid"/>
          </a:ln>
        </p:spPr>
      </p:sp>
      <p:pic>
        <p:nvPicPr>
          <p:cNvPr id="6" name="Image 0" descr="/mnt/data/logo_row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5228" y="1463040"/>
            <a:ext cx="7467600" cy="1600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3218688"/>
            <a:ext cx="10469880" cy="0"/>
          </a:xfrm>
          <a:prstGeom prst="line">
            <a:avLst/>
          </a:prstGeom>
          <a:noFill/>
          <a:ln w="10160">
            <a:solidFill>
              <a:srgbClr val="B9C3C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1560" y="3739896"/>
            <a:ext cx="73152" cy="73152"/>
          </a:xfrm>
          <a:prstGeom prst="rect">
            <a:avLst/>
          </a:prstGeom>
          <a:solidFill>
            <a:srgbClr val="2F6FB0"/>
          </a:solidFill>
          <a:ln w="12700">
            <a:solidFill>
              <a:srgbClr val="2F6FB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36576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Integrating cutting-edge quantum readiness into our core stack.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051560" y="4178808"/>
            <a:ext cx="73152" cy="73152"/>
          </a:xfrm>
          <a:prstGeom prst="rect">
            <a:avLst/>
          </a:prstGeom>
          <a:solidFill>
            <a:srgbClr val="2F6FB0"/>
          </a:solidFill>
          <a:ln w="12700">
            <a:solidFill>
              <a:srgbClr val="2F6FB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409651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Seamless API interoperability for hybrid environments.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051560" y="4617720"/>
            <a:ext cx="73152" cy="73152"/>
          </a:xfrm>
          <a:prstGeom prst="rect">
            <a:avLst/>
          </a:prstGeom>
          <a:solidFill>
            <a:srgbClr val="2F6FB0"/>
          </a:solidFill>
          <a:ln w="12700">
            <a:solidFill>
              <a:srgbClr val="2F6FB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45354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architectures driving operational excellence.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 2025 Execution Metrics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" y="841248"/>
            <a:ext cx="10625328" cy="0"/>
          </a:xfrm>
          <a:prstGeom prst="line">
            <a:avLst/>
          </a:prstGeom>
          <a:noFill/>
          <a:ln w="13970">
            <a:solidFill>
              <a:srgbClr val="8BA4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188720"/>
            <a:ext cx="41605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0160">
            <a:solidFill>
              <a:srgbClr val="D7DFE8">
                <a:alpha val="50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mnt/data/lead_sources_donut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417320"/>
            <a:ext cx="370332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66360" y="14173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Generation Sources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193792" y="1847088"/>
            <a:ext cx="128016" cy="128016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13248" y="18105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45% Partner Co-marketing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193792" y="2240280"/>
            <a:ext cx="128016" cy="128016"/>
          </a:xfrm>
          <a:prstGeom prst="rect">
            <a:avLst/>
          </a:prstGeom>
          <a:solidFill>
            <a:srgbClr val="0A9CAA"/>
          </a:solidFill>
          <a:ln w="12700">
            <a:solidFill>
              <a:srgbClr val="0A9CA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13248" y="22037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 Direct Sales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193792" y="2633472"/>
            <a:ext cx="128016" cy="128016"/>
          </a:xfrm>
          <a:prstGeom prst="rect">
            <a:avLst/>
          </a:prstGeom>
          <a:solidFill>
            <a:srgbClr val="2F6FB0"/>
          </a:solidFill>
          <a:ln w="12700">
            <a:solidFill>
              <a:srgbClr val="2F6FB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3248" y="259689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 Channel Resellers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5166360" y="3090672"/>
            <a:ext cx="5212080" cy="0"/>
          </a:xfrm>
          <a:prstGeom prst="line">
            <a:avLst/>
          </a:prstGeom>
          <a:noFill/>
          <a:ln w="10160">
            <a:solidFill>
              <a:srgbClr val="D7DF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12080" y="3447288"/>
            <a:ext cx="73152" cy="73152"/>
          </a:xfrm>
          <a:prstGeom prst="rect">
            <a:avLst/>
          </a:prstGeom>
          <a:solidFill>
            <a:srgbClr val="2F6FB0"/>
          </a:solidFill>
          <a:ln w="12700">
            <a:solidFill>
              <a:srgbClr val="2F6FB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94960" y="336499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conversion rates in APAC and EMEA regional hubs.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5212080" y="4014216"/>
            <a:ext cx="73152" cy="73152"/>
          </a:xfrm>
          <a:prstGeom prst="rect">
            <a:avLst/>
          </a:prstGeom>
          <a:solidFill>
            <a:srgbClr val="2F6FB0"/>
          </a:solidFill>
          <a:ln w="12700">
            <a:solidFill>
              <a:srgbClr val="2F6FB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94960" y="393192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average deployment cycle by 18 days.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Q2 Execution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" y="841248"/>
            <a:ext cx="10625328" cy="0"/>
          </a:xfrm>
          <a:prstGeom prst="line">
            <a:avLst/>
          </a:prstGeom>
          <a:noFill/>
          <a:ln w="13970">
            <a:solidFill>
              <a:srgbClr val="8BA4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53512" y="1993392"/>
            <a:ext cx="1207008" cy="0"/>
          </a:xfrm>
          <a:prstGeom prst="line">
            <a:avLst/>
          </a:prstGeom>
          <a:noFill/>
          <a:ln w="15240">
            <a:solidFill>
              <a:srgbClr val="A6B7C9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400800" y="1993392"/>
            <a:ext cx="1207008" cy="0"/>
          </a:xfrm>
          <a:prstGeom prst="line">
            <a:avLst/>
          </a:prstGeom>
          <a:noFill/>
          <a:ln w="15240">
            <a:solidFill>
              <a:srgbClr val="A6B7C9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68680" y="2084832"/>
            <a:ext cx="2880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7DFE8">
                <a:alpha val="50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84248" y="1353312"/>
            <a:ext cx="658368" cy="658368"/>
          </a:xfrm>
          <a:prstGeom prst="ellipse">
            <a:avLst/>
          </a:prstGeom>
          <a:solidFill>
            <a:srgbClr val="153E75"/>
          </a:solidFill>
          <a:ln w="25400">
            <a:solidFill>
              <a:srgbClr val="F6F8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84248" y="1417320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" y="2395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Actions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9848" y="2770632"/>
            <a:ext cx="2468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 partner-specific follow-up actions by end of April.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4315968" y="2084832"/>
            <a:ext cx="2880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7DFE8">
                <a:alpha val="50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31536" y="1353312"/>
            <a:ext cx="658368" cy="658368"/>
          </a:xfrm>
          <a:prstGeom prst="ellipse">
            <a:avLst/>
          </a:prstGeom>
          <a:solidFill>
            <a:srgbClr val="0A9CAA"/>
          </a:solidFill>
          <a:ln w="25400">
            <a:solidFill>
              <a:srgbClr val="F6F8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1536" y="1417320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17136" y="2395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Messaging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17136" y="2770632"/>
            <a:ext cx="2468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joint field messaging for enterprise opportunities.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7763256" y="2084832"/>
            <a:ext cx="2880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7DFE8">
                <a:alpha val="50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78824" y="1353312"/>
            <a:ext cx="658368" cy="658368"/>
          </a:xfrm>
          <a:prstGeom prst="ellipse">
            <a:avLst/>
          </a:prstGeom>
          <a:solidFill>
            <a:srgbClr val="153E75"/>
          </a:solidFill>
          <a:ln w="25400">
            <a:solidFill>
              <a:srgbClr val="F6F8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78824" y="1417320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64424" y="2395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Visibility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64424" y="2770632"/>
            <a:ext cx="2468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future event visibility with the core marketing team.</a:t>
            </a:r>
            <a:endParaRPr lang="en-US" sz="15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Ecosystem Synergy: Scaling Enterprise AI in 2025</dc:title>
  <dc:subject>Enterprise AI ecosystem synergy</dc:subject>
  <dc:creator>OpenAI</dc:creator>
  <cp:lastModifiedBy>OpenAI</cp:lastModifiedBy>
  <cp:revision>1</cp:revision>
  <dcterms:created xsi:type="dcterms:W3CDTF">2026-03-27T13:41:06Z</dcterms:created>
  <dcterms:modified xsi:type="dcterms:W3CDTF">2026-03-27T13:41:06Z</dcterms:modified>
</cp:coreProperties>
</file>